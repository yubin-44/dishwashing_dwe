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Pretendard Bold" panose="020B0600000101010101" charset="-127"/>
      <p:bold r:id="rId19"/>
    </p:embeddedFont>
    <p:embeddedFont>
      <p:font typeface="Pretendard Medium" panose="020B0600000101010101" charset="-127"/>
      <p:bold r:id="rId20"/>
    </p:embeddedFont>
    <p:embeddedFont>
      <p:font typeface="Pretendard Regular" panose="020B0600000101010101" charset="-127"/>
      <p:regular r:id="rId21"/>
    </p:embeddedFont>
    <p:embeddedFont>
      <p:font typeface="Pretendard SemiBold" panose="020B0600000101010101" charset="-127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image" Target="../media/image1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svg"/><Relationship Id="rId4" Type="http://schemas.openxmlformats.org/officeDocument/2006/relationships/image" Target="../media/image2.sv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28.svg"/><Relationship Id="rId10" Type="http://schemas.openxmlformats.org/officeDocument/2006/relationships/image" Target="../media/image35.png"/><Relationship Id="rId4" Type="http://schemas.openxmlformats.org/officeDocument/2006/relationships/image" Target="../media/image15.sv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28.svg"/><Relationship Id="rId4" Type="http://schemas.openxmlformats.org/officeDocument/2006/relationships/image" Target="../media/image15.sv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28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49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0.png"/><Relationship Id="rId7" Type="http://schemas.openxmlformats.org/officeDocument/2006/relationships/image" Target="../media/image53.svg"/><Relationship Id="rId2" Type="http://schemas.openxmlformats.org/officeDocument/2006/relationships/hyperlink" Target="https://arxiv.org/pdf/2603.11253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svg"/><Relationship Id="rId18" Type="http://schemas.openxmlformats.org/officeDocument/2006/relationships/image" Target="../media/image8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svg"/><Relationship Id="rId2" Type="http://schemas.openxmlformats.org/officeDocument/2006/relationships/image" Target="../media/image67.svg"/><Relationship Id="rId16" Type="http://schemas.openxmlformats.org/officeDocument/2006/relationships/image" Target="../media/image7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74.png"/><Relationship Id="rId5" Type="http://schemas.openxmlformats.org/officeDocument/2006/relationships/image" Target="../media/image69.png"/><Relationship Id="rId15" Type="http://schemas.openxmlformats.org/officeDocument/2006/relationships/image" Target="../media/image78.svg"/><Relationship Id="rId10" Type="http://schemas.openxmlformats.org/officeDocument/2006/relationships/image" Target="../media/image73.svg"/><Relationship Id="rId19" Type="http://schemas.openxmlformats.org/officeDocument/2006/relationships/image" Target="../media/image82.png"/><Relationship Id="rId4" Type="http://schemas.openxmlformats.org/officeDocument/2006/relationships/image" Target="../media/image15.svg"/><Relationship Id="rId9" Type="http://schemas.openxmlformats.org/officeDocument/2006/relationships/image" Target="../media/image72.svg"/><Relationship Id="rId14" Type="http://schemas.openxmlformats.org/officeDocument/2006/relationships/image" Target="../media/image7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8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8.png"/><Relationship Id="rId7" Type="http://schemas.openxmlformats.org/officeDocument/2006/relationships/image" Target="../media/image9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svg"/><Relationship Id="rId5" Type="http://schemas.openxmlformats.org/officeDocument/2006/relationships/image" Target="../media/image89.png"/><Relationship Id="rId10" Type="http://schemas.openxmlformats.org/officeDocument/2006/relationships/image" Target="../media/image94.svg"/><Relationship Id="rId4" Type="http://schemas.openxmlformats.org/officeDocument/2006/relationships/image" Target="../media/image28.svg"/><Relationship Id="rId9" Type="http://schemas.openxmlformats.org/officeDocument/2006/relationships/image" Target="../media/image9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7.png"/><Relationship Id="rId7" Type="http://schemas.openxmlformats.org/officeDocument/2006/relationships/image" Target="../media/image100.sv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28.svg"/><Relationship Id="rId4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28.sv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115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00" y="7289800"/>
            <a:ext cx="6705600" cy="3009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480000">
            <a:off x="-1155700" y="-2273300"/>
            <a:ext cx="6197600" cy="349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8216900"/>
            <a:ext cx="2921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5800" y="8204200"/>
            <a:ext cx="2921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749300"/>
            <a:ext cx="52070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Student &amp; Research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7900" y="7594600"/>
            <a:ext cx="61849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Toward Computational Social Science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3300" y="8572500"/>
            <a:ext cx="6146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Big data &amp; Computational Research
Behavior in digital environments</a:t>
            </a:r>
          </a:p>
          <a:p>
            <a:pPr lvl="0" algn="l">
              <a:lnSpc>
                <a:spcPct val="116199"/>
              </a:lnSpc>
            </a:pPr>
            <a:r>
              <a:rPr lang="en-US" sz="1899" b="0" i="0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Social/Digital Psychology &amp; Human-AI Interaction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1498600"/>
            <a:ext cx="4457700" cy="1003300"/>
          </a:xfrm>
          <a:prstGeom prst="rect">
            <a:avLst/>
          </a:prstGeom>
        </p:spPr>
        <p:txBody>
          <a:bodyPr lIns="0" tIns="698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Yubin Kim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80400" y="7594600"/>
            <a:ext cx="64262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Computational · Ecological Approach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5800" y="8509000"/>
            <a:ext cx="5918200" cy="368300"/>
          </a:xfrm>
          <a:prstGeom prst="rect">
            <a:avLst/>
          </a:prstGeom>
        </p:spPr>
        <p:txBody>
          <a:bodyPr lIns="0" tIns="2413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899" b="0" i="0" u="none" strike="noStrike">
                <a:solidFill>
                  <a:srgbClr val="2D2D2D"/>
                </a:solidFill>
                <a:latin typeface="Pretendard Regular"/>
                <a:ea typeface="Pretendard Regular"/>
                <a:cs typeface="Pretendard Regular"/>
              </a:rPr>
              <a:t>Utilization of ...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" y="6388100"/>
            <a:ext cx="14147800" cy="38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14400" y="6591300"/>
            <a:ext cx="11899900" cy="647700"/>
          </a:xfrm>
          <a:prstGeom prst="rect">
            <a:avLst/>
          </a:prstGeom>
        </p:spPr>
        <p:txBody>
          <a:bodyPr lIns="0" tIns="44450" rIns="0" bIns="44450" rtlCol="0" anchor="ctr"/>
          <a:lstStyle/>
          <a:p>
            <a:pPr lvl="0" algn="l">
              <a:lnSpc>
                <a:spcPct val="99600"/>
              </a:lnSpc>
            </a:pPr>
            <a:r>
              <a:rPr lang="en-US" sz="3499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Researching Social Behavior in Digital Environments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2781300"/>
            <a:ext cx="6629400" cy="2438400"/>
          </a:xfrm>
          <a:prstGeom prst="rect">
            <a:avLst/>
          </a:prstGeom>
          <a:effectLst>
            <a:outerShdw blurRad="48768" dist="168812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11379200" y="3009900"/>
            <a:ext cx="6438900" cy="889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2352" b="0" i="0" u="none" strike="noStrike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2022 ~ 2026</a:t>
            </a:r>
          </a:p>
          <a:p>
            <a:pPr lvl="0" algn="l">
              <a:lnSpc>
                <a:spcPct val="116199"/>
              </a:lnSpc>
            </a:pPr>
            <a:r>
              <a:rPr lang="en-US" sz="2520" b="0" i="0" u="none" strike="noStrike" spc="-10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B.A. in Psychology &amp; B.S. in Data Technology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79200" y="4038600"/>
            <a:ext cx="64135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13360" lvl="1" indent="-21336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68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Research Assistant</a:t>
            </a:r>
          </a:p>
          <a:p>
            <a:pPr marL="426720" lvl="2" indent="-213360" algn="l">
              <a:lnSpc>
                <a:spcPct val="141100"/>
              </a:lnSpc>
              <a:buClr>
                <a:srgbClr val="000000"/>
              </a:buClr>
              <a:buFont typeface="Arial"/>
              <a:buChar char="○"/>
            </a:pPr>
            <a:r>
              <a:rPr lang="en-US" sz="168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(Still) Cognitive &amp; Learning Science Lab </a:t>
            </a:r>
            <a:r>
              <a:rPr lang="en-US" sz="142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(PI: Heisawn Jeong)</a:t>
            </a:r>
          </a:p>
          <a:p>
            <a:pPr marL="426720" lvl="2" indent="-213360" algn="l">
              <a:lnSpc>
                <a:spcPct val="141100"/>
              </a:lnSpc>
              <a:buClr>
                <a:srgbClr val="000000"/>
              </a:buClr>
              <a:buFont typeface="Arial"/>
              <a:buChar char="○"/>
            </a:pPr>
            <a:r>
              <a:rPr lang="en-US" sz="168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Organizational &amp; Personality Lab </a:t>
            </a:r>
            <a:r>
              <a:rPr lang="en-US" sz="142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(PI: Juil Rie)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92600" y="2311400"/>
            <a:ext cx="1130300" cy="1130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2900" y="2743200"/>
            <a:ext cx="6515100" cy="2476500"/>
          </a:xfrm>
          <a:prstGeom prst="rect">
            <a:avLst/>
          </a:prstGeom>
          <a:effectLst>
            <a:outerShdw blurRad="99060" dist="114300" dir="2700000">
              <a:srgbClr val="000000">
                <a:alpha val="89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4394200" y="2933700"/>
            <a:ext cx="6057900" cy="889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2352" b="0" i="0" u="none" strike="noStrike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2026 ~ </a:t>
            </a:r>
          </a:p>
          <a:p>
            <a:pPr lvl="0" algn="l">
              <a:lnSpc>
                <a:spcPct val="116199"/>
              </a:lnSpc>
            </a:pPr>
            <a:r>
              <a:rPr lang="en-US" sz="2520" b="0" i="0" u="none" strike="noStrike" spc="-10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M.S. Student in AI Psychology Program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94200" y="4000500"/>
            <a:ext cx="62357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24028" lvl="1" indent="-224028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64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Specialization in </a:t>
            </a:r>
            <a:r>
              <a:rPr lang="en-US" sz="1764" b="0" i="0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Social Psychology</a:t>
            </a:r>
          </a:p>
          <a:p>
            <a:pPr marL="224028" lvl="1" indent="-224028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64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Advisor: Dr. Hyun Joon Park</a:t>
            </a:r>
            <a:r>
              <a:rPr lang="en-US" sz="168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44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(Department of Psychology)</a:t>
            </a:r>
          </a:p>
          <a:p>
            <a:pPr marL="224028" lvl="1" indent="-224028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64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Lab Manager, SHEI Lab</a:t>
            </a:r>
            <a:r>
              <a:rPr lang="en-US" sz="126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6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(Social Identity, Health, and Education Inequality)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4400" y="2247900"/>
            <a:ext cx="1168400" cy="1168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00" y="2717800"/>
            <a:ext cx="2501900" cy="2501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280400" y="8826500"/>
            <a:ext cx="5918200" cy="647700"/>
          </a:xfrm>
          <a:prstGeom prst="rect">
            <a:avLst/>
          </a:prstGeom>
        </p:spPr>
        <p:txBody>
          <a:bodyPr lIns="0" tIns="24130" rIns="0" bIns="0" rtlCol="0" anchor="t"/>
          <a:lstStyle/>
          <a:p>
            <a:pPr marL="482346" lvl="2" indent="-241173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en-US" sz="1899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Computational methods (ML, NLP)</a:t>
            </a:r>
          </a:p>
          <a:p>
            <a:pPr marL="482346" lvl="2" indent="-241173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en-US" sz="1899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Digital traces and secondary data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203200" y="8991600"/>
            <a:ext cx="1104900" cy="203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2600" y="3429000"/>
            <a:ext cx="9398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7099300"/>
            <a:ext cx="2806700" cy="162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705100"/>
            <a:ext cx="13017500" cy="1587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79500" y="1778000"/>
            <a:ext cx="3797300" cy="698500"/>
          </a:xfrm>
          <a:prstGeom prst="rect">
            <a:avLst/>
          </a:prstGeom>
        </p:spPr>
        <p:txBody>
          <a:bodyPr lIns="0" tIns="48260" rIns="0" bIns="48260" rtlCol="0" anchor="ctr"/>
          <a:lstStyle/>
          <a:p>
            <a:pPr lvl="0" algn="l">
              <a:lnSpc>
                <a:spcPct val="99600"/>
              </a:lnSpc>
            </a:pPr>
            <a:r>
              <a:rPr lang="en-US" sz="37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Core Question: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5200" y="749300"/>
            <a:ext cx="52070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My Research Focus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480000">
            <a:off x="-1155700" y="-2273300"/>
            <a:ext cx="6197600" cy="349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908300"/>
            <a:ext cx="127254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3200" y="67564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8900" y="6743700"/>
            <a:ext cx="2921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60500" y="6121400"/>
            <a:ext cx="61849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marL="292100" lvl="1" indent="-292100" algn="l">
              <a:lnSpc>
                <a:spcPct val="99600"/>
              </a:lnSpc>
              <a:buAutoNum type="arabicPeriod"/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Psychological Threat &amp; Digital Traces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36200" y="6121400"/>
            <a:ext cx="64262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2. Human-AI interaction in education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" y="4864100"/>
            <a:ext cx="16852900" cy="38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84300" y="5130800"/>
            <a:ext cx="11899900" cy="647700"/>
          </a:xfrm>
          <a:prstGeom prst="rect">
            <a:avLst/>
          </a:prstGeom>
        </p:spPr>
        <p:txBody>
          <a:bodyPr lIns="0" tIns="44450" rIns="0" bIns="44450" rtlCol="0" anchor="ctr"/>
          <a:lstStyle/>
          <a:p>
            <a:pPr lvl="0" algn="l">
              <a:lnSpc>
                <a:spcPct val="99600"/>
              </a:lnSpc>
            </a:pPr>
            <a:r>
              <a:rPr lang="en-US" sz="3499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Research Contexts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800" y="7454900"/>
            <a:ext cx="2095500" cy="59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8750300"/>
            <a:ext cx="8255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0" y="8216900"/>
            <a:ext cx="609600" cy="609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0600" y="8204200"/>
            <a:ext cx="1041400" cy="368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900" y="7734300"/>
            <a:ext cx="1219200" cy="355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6100" y="8191500"/>
            <a:ext cx="14224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2200" y="7899400"/>
            <a:ext cx="3098800" cy="1866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57000" y="7569200"/>
            <a:ext cx="1143000" cy="838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" y="7454900"/>
            <a:ext cx="596900" cy="990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22400" y="7124700"/>
            <a:ext cx="2032000" cy="2921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Psychological Threat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39900" y="8445500"/>
            <a:ext cx="1282700" cy="1206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60000">
            <a:off x="3098800" y="8255000"/>
            <a:ext cx="889000" cy="330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4439900" y="7645400"/>
            <a:ext cx="1866900" cy="2921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What is Schema?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63500" y="8597900"/>
            <a:ext cx="1866900" cy="2921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Schema is ...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760700" y="8026400"/>
            <a:ext cx="11938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5200" y="673100"/>
            <a:ext cx="52070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Overview of Current Research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33400" y="1270000"/>
          <a:ext cx="17406691" cy="8839210"/>
        </p:xfrm>
        <a:graphic>
          <a:graphicData uri="http://schemas.openxmlformats.org/drawingml/2006/table">
            <a:tbl>
              <a:tblPr/>
              <a:tblGrid>
                <a:gridCol w="4081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6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8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499" b="0" i="0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Research area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499" b="0" i="0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Central question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499" b="0" i="0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Data and methods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97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Threat in popular culture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How do fandom and political identity shape reactions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to cultural change?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Data:</a:t>
                      </a:r>
                      <a:endParaRPr lang="en-US" sz="1100"/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Online community (Reddit; r/nfl)</a:t>
                      </a:r>
                    </a:p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Methods: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Topic modeling (STM)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Sentiment analysis (LIWC)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97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Changing Representations of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097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Young men's Intimacy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How has the meaning of relationships changed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in online discourse?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Data:</a:t>
                      </a:r>
                      <a:endParaRPr lang="en-US" sz="1100"/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Online community (DC Inside &amp; Reddit)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Public data (MDIS, ...)</a:t>
                      </a:r>
                    </a:p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Method: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Dynamic word embeddings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9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97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Student-AI interaction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99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Why do students use the same AI tutor in different ways?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Data:</a:t>
                      </a:r>
                      <a:endParaRPr lang="en-US" sz="1100"/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Chatbot logs (Ajou &amp; Hallym Univ.)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Survey</a:t>
                      </a:r>
                    </a:p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Methods: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LLM classification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multilevel analysis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9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97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Values and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097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Self promotion - prosociality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99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How are self-improvement and prosocial values connected across societies?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Data:</a:t>
                      </a:r>
                      <a:endParaRPr lang="en-US" sz="1100"/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Google Trends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World Values Survey</a:t>
                      </a:r>
                    </a:p>
                    <a:p>
                      <a:pPr marL="254000" lvl="1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Methods: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Machine Learning</a:t>
                      </a:r>
                    </a:p>
                    <a:p>
                      <a:pPr marL="508000" lvl="2" indent="-2540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○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Geospatial analysis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222500"/>
            <a:ext cx="13538200" cy="749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15367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Research Question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0" y="2324100"/>
            <a:ext cx="13360400" cy="55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416300"/>
            <a:ext cx="168529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36957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Background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1: Threat in popular culture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0000">
            <a:off x="11811000" y="6794500"/>
            <a:ext cx="1066800" cy="38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5700" y="5549900"/>
            <a:ext cx="876300" cy="1485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995400" y="5054600"/>
            <a:ext cx="3060700" cy="431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Psychological Threat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03400" y="7048500"/>
            <a:ext cx="1930400" cy="1816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601700" y="8864600"/>
            <a:ext cx="3683000" cy="431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Chief's Fan and Repulican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7300" y="4178300"/>
            <a:ext cx="5016500" cy="5283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00" y="5054600"/>
            <a:ext cx="4902200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247900"/>
            <a:ext cx="7772400" cy="749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15367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Study 1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0" y="2336800"/>
            <a:ext cx="7594600" cy="55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530600"/>
            <a:ext cx="168529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1: Threat in popular culture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65200" y="5613400"/>
            <a:ext cx="9080500" cy="8255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marL="304673" lvl="1" indent="-3046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Threat condition: Taylor Swift’s positive impact on the NFL</a:t>
            </a:r>
          </a:p>
          <a:p>
            <a:pPr marL="304673" lvl="1" indent="-3046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Control condition: The general 2023–2024 NFL season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5200" y="40513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Experimental Settings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85500" y="5626100"/>
            <a:ext cx="6667500" cy="15494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marL="304673" lvl="1" indent="-3046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Public discomfort and emotional responses</a:t>
            </a:r>
          </a:p>
          <a:p>
            <a:pPr marL="304673" lvl="1" indent="-3046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Social dominance and sexism</a:t>
            </a:r>
          </a:p>
          <a:p>
            <a:pPr marL="304673" lvl="1" indent="-3046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Homonegativity</a:t>
            </a:r>
          </a:p>
          <a:p>
            <a:pPr marL="304673" lvl="1" indent="-3046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Support for women’s and LGBTQ+ rights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5200" y="8369300"/>
            <a:ext cx="7531100" cy="5588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Main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5200" y="8991600"/>
            <a:ext cx="16954500" cy="508000"/>
          </a:xfrm>
          <a:prstGeom prst="rect">
            <a:avLst/>
          </a:prstGeom>
        </p:spPr>
        <p:txBody>
          <a:bodyPr lIns="0" tIns="34290" rIns="0" bIns="0" rtlCol="0" anchor="t"/>
          <a:lstStyle/>
          <a:p>
            <a:pPr marL="342773" lvl="1" indent="-3427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sng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The threat response</a:t>
            </a: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was expected to be </a:t>
            </a:r>
            <a:r>
              <a:rPr lang="en-US" sz="2699" b="0" i="0" u="sng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stronger</a:t>
            </a: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among </a:t>
            </a:r>
            <a:r>
              <a:rPr lang="en-US" sz="2699" b="0" i="0" u="sng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"men"</a:t>
            </a: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and </a:t>
            </a:r>
            <a:r>
              <a:rPr lang="en-US" sz="2699" b="0" i="0" u="sng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"politically conservative participants"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7721600"/>
            <a:ext cx="168529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" y="4864100"/>
            <a:ext cx="7912100" cy="635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4927600"/>
            <a:ext cx="7734300" cy="495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5500" y="4864100"/>
            <a:ext cx="27813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5200" y="4914900"/>
            <a:ext cx="26543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781300"/>
            <a:ext cx="4635500" cy="749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19304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Study 1: Main Findings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70200"/>
            <a:ext cx="4610100" cy="55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6705600"/>
            <a:ext cx="168529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1: Threat in popular culture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65200" y="3746500"/>
            <a:ext cx="4546600" cy="508000"/>
          </a:xfrm>
          <a:prstGeom prst="rect">
            <a:avLst/>
          </a:prstGeom>
        </p:spPr>
        <p:txBody>
          <a:bodyPr lIns="0" tIns="3429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The threat article: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5200" y="4419600"/>
            <a:ext cx="5575300" cy="16891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marL="304800" lvl="1" indent="-3048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Increased negative public discomfort</a:t>
            </a:r>
          </a:p>
          <a:p>
            <a:pPr marL="609600" lvl="2" indent="-3048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 = 0.158, p = .001</a:t>
            </a:r>
          </a:p>
          <a:p>
            <a:pPr lvl="0" algn="l">
              <a:lnSpc>
                <a:spcPct val="99600"/>
              </a:lnSpc>
            </a:pPr>
            <a:endParaRPr lang="en-US" sz="2400" b="0" i="0" u="none" strike="noStrike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304800" lvl="1" indent="-3048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Reduced neutrality</a:t>
            </a:r>
          </a:p>
          <a:p>
            <a:pPr marL="609600" lvl="2" indent="-3048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 = −0.239, p = .007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0" y="3810000"/>
            <a:ext cx="9880600" cy="508000"/>
          </a:xfrm>
          <a:prstGeom prst="rect">
            <a:avLst/>
          </a:prstGeom>
        </p:spPr>
        <p:txBody>
          <a:bodyPr lIns="0" tIns="3429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Male and more conservative participants generally reported: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0" y="4457700"/>
            <a:ext cx="86106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04673" lvl="1" indent="-3046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Higher social dominance, sexism, and homonegativity</a:t>
            </a:r>
          </a:p>
          <a:p>
            <a:pPr marL="304673" lvl="1" indent="-3046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Lower support for women’s and LGBTQ+ rights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5200" y="7327900"/>
            <a:ext cx="7518400" cy="5207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799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Interpretation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200" y="7899400"/>
            <a:ext cx="15900400" cy="9525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marL="355473" lvl="1" indent="-355473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The article changed immediate reactions,</a:t>
            </a:r>
          </a:p>
          <a:p>
            <a:pPr marL="355473" lvl="1" algn="l">
              <a:lnSpc>
                <a:spcPct val="99600"/>
              </a:lnSpc>
            </a:pPr>
            <a:r>
              <a:rPr lang="en-US" sz="27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while gender and political orientation showed broader associations with intergroup attitudes.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3700" y="2781300"/>
            <a:ext cx="61976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200" y="2870200"/>
            <a:ext cx="58547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3683000"/>
            <a:ext cx="16852900" cy="38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41400" y="16129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Study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1: Threat in popular culture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41400" y="4152900"/>
            <a:ext cx="23241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Data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311400"/>
            <a:ext cx="8953500" cy="74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413000"/>
            <a:ext cx="8775700" cy="558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41400" y="4787900"/>
            <a:ext cx="11099800" cy="194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r/NFL posts and comments</a:t>
            </a:r>
          </a:p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September 2023 to March 2024</a:t>
            </a:r>
          </a:p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Posts and comments related to Taylor Swift</a:t>
            </a:r>
          </a:p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Political orientation inferred from users’ activity in other subreddits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1400" y="7239000"/>
            <a:ext cx="4279900" cy="5715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99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Current Analyses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1400" y="7874000"/>
            <a:ext cx="97028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Structural topic modeling; STM</a:t>
            </a:r>
          </a:p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Bing and NRC emotion lexicons; LIWC</a:t>
            </a:r>
          </a:p>
          <a:p>
            <a:pPr marL="342773" lvl="1" indent="-3427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Comparison by inferred political orientation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8100" y="4203700"/>
            <a:ext cx="2565400" cy="736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1900" y="5092700"/>
            <a:ext cx="52705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hlinkClick r:id="rId2" tooltip="https://arxiv.org/pdf/2603.11253"/>
          </p:cNvPr>
          <p:cNvSpPr txBox="1"/>
          <p:nvPr/>
        </p:nvSpPr>
        <p:spPr>
          <a:xfrm>
            <a:off x="8026400" y="3835400"/>
            <a:ext cx="97028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64287" lvl="1" indent="-264287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81" b="0" i="0" u="sng" strike="noStrike">
                <a:solidFill>
                  <a:srgbClr val="3A4CA8"/>
                </a:solidFill>
                <a:latin typeface="Pretendard Regular"/>
                <a:ea typeface="Pretendard Regular"/>
                <a:cs typeface="Pretendard Regular"/>
              </a:rPr>
              <a:t>B. Lee, S. Kim, F. Menczer, Y. Ahn, H. Kwak, and J. An (2026)</a:t>
            </a:r>
            <a:r>
              <a:rPr lang="en-US" sz="2081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</a:p>
          <a:p>
            <a:pPr marL="264287" lvl="1" algn="l">
              <a:lnSpc>
                <a:spcPct val="116199"/>
              </a:lnSpc>
            </a:pPr>
            <a:r>
              <a:rPr lang="en-US" sz="2081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"LLMs can infer political alignment from online conversations," arXiv preprint. https://doi.org/10.48550/arXiv.2603.11253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5867400"/>
            <a:ext cx="16687800" cy="3975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Study 2: Classification of Political Orientation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" y="1765300"/>
            <a:ext cx="2984500" cy="850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2717800"/>
            <a:ext cx="6134100" cy="300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9400" y="8534400"/>
            <a:ext cx="2870200" cy="787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6200" y="3403600"/>
            <a:ext cx="10922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Study 2: Topic Modeling (STM)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676400"/>
            <a:ext cx="11696700" cy="7416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3251200"/>
            <a:ext cx="2501900" cy="109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000" y="6604000"/>
            <a:ext cx="1930400" cy="116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5300" y="7378700"/>
            <a:ext cx="28956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7600" y="2349500"/>
            <a:ext cx="2387600" cy="1397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525500" y="5130800"/>
            <a:ext cx="2844800" cy="787400"/>
          </a:xfrm>
          <a:prstGeom prst="rect">
            <a:avLst/>
          </a:prstGeom>
        </p:spPr>
        <p:txBody>
          <a:bodyPr lIns="0" tIns="3937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302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=&gt; K=6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Study 2: Topic Modeling (STM)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0" y="2654300"/>
            <a:ext cx="8826500" cy="577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6400" y="1016000"/>
            <a:ext cx="8153400" cy="166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08000" y="3975100"/>
            <a:ext cx="4864100" cy="2019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2700" y="8470900"/>
            <a:ext cx="7137400" cy="144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300" y="1790700"/>
            <a:ext cx="6159500" cy="2197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300" y="5410200"/>
            <a:ext cx="5346700" cy="190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800" y="8128000"/>
            <a:ext cx="6235700" cy="1727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461500" y="1231900"/>
            <a:ext cx="36703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브랜드 가치·상업성과 조작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1500" y="1790700"/>
            <a:ext cx="8255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Taylor의 티켓 판매, 사업적 가치, NFL의 광고 활용, 관계의 진정성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경기 각본 의심 "위 내용들 때문에 Chiefs에게 판정상 이점을 주는 거 아니냐"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7200" y="1905000"/>
            <a:ext cx="46990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과잉 노출과 팬덤 조롱 관련 논쟁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7200" y="2425700"/>
            <a:ext cx="54356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Taylor를 지나치게 비춘다는 불만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"새로운 여성 시청자를 끌어들이려 하는 의도다!"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“basic white girls”와 Swifties에 대한 조롱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sng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이러한 반응 자체가 비합리적 혐오라는 반박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9100" y="5562600"/>
            <a:ext cx="46990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마케팅·수익화와 진정성 의심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1800" y="6083300"/>
            <a:ext cx="58039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Taylor = “marketing ploy”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“우리가 불편한 것은 여성을 싫어해서가 아니라,</a:t>
            </a:r>
          </a:p>
          <a:p>
            <a:pPr marL="253873" lvl="1" algn="l">
              <a:lnSpc>
                <a:spcPct val="116199"/>
              </a:lnSpc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NFL이 상업화되고 있기 때문”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500" y="8382000"/>
            <a:ext cx="46990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젠더·팬덤 갈등에 따른 피로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500" y="8902700"/>
            <a:ext cx="58039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보수 진영의 Taylor 혐오와 slut-shaming 비판/한탄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 노출과 Swifties에 대한 피로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60400" y="4152900"/>
            <a:ext cx="34036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중계 장면·대중문화 혼합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85800" y="4686300"/>
            <a:ext cx="46863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선수보다 Taylor의 반응 노출이 잦아 불만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NFL의 부패·이해충돌·시청률 논쟁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다른 대중문화 (팟캐스트, 음모론 등) 혼입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3200" y="8572500"/>
            <a:ext cx="46990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Swiftie 유입과 팬 정체성·집단 구분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9093200"/>
            <a:ext cx="66675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Swifties가 진짜 Chiefs 또는 NFL 팬인지</a:t>
            </a:r>
          </a:p>
          <a:p>
            <a:pPr marL="253873" lvl="1" indent="-253873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9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Bandwagon fan, 신규 여성 팬, Taylor 팬 vs 기존 팬의 구분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209800"/>
            <a:ext cx="15989300" cy="749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15367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Research Question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11400"/>
            <a:ext cx="15887700" cy="55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416300"/>
            <a:ext cx="168529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3695700"/>
            <a:ext cx="52578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Background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4495800"/>
            <a:ext cx="6159500" cy="5435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2: Changing Representations of Intimacy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9900" y="7124700"/>
            <a:ext cx="10414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3300" y="7188200"/>
            <a:ext cx="635000" cy="1054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363200" y="6832600"/>
            <a:ext cx="2159000" cy="304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9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Psychological Threat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18800" y="8242300"/>
            <a:ext cx="1371600" cy="128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60000">
            <a:off x="12547600" y="8039100"/>
            <a:ext cx="939800" cy="342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17600" y="8585200"/>
            <a:ext cx="2286000" cy="939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083800" y="9525000"/>
            <a:ext cx="2603500" cy="304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9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Men in Their 20s and 30s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9800" y="4254500"/>
            <a:ext cx="749300" cy="749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29700" y="4470400"/>
            <a:ext cx="901700" cy="1054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24900" y="5651500"/>
            <a:ext cx="1600200" cy="39370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 algn="l">
              <a:lnSpc>
                <a:spcPct val="83000"/>
              </a:lnSpc>
            </a:pPr>
            <a:r>
              <a:rPr lang="en-US" sz="2088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사회 불안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04600" y="4470400"/>
            <a:ext cx="990600" cy="838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37800" y="5029200"/>
            <a:ext cx="609600" cy="406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579100" y="5486400"/>
            <a:ext cx="2349500" cy="673100"/>
          </a:xfrm>
          <a:prstGeom prst="rect">
            <a:avLst/>
          </a:prstGeom>
        </p:spPr>
        <p:txBody>
          <a:bodyPr lIns="0" tIns="9906" rIns="0" bIns="9906" rtlCol="0" anchor="ctr"/>
          <a:lstStyle/>
          <a:p>
            <a:pPr lvl="0" algn="ctr">
              <a:lnSpc>
                <a:spcPct val="105410"/>
              </a:lnSpc>
            </a:pPr>
            <a:r>
              <a:rPr lang="en-US" sz="2088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상징화</a:t>
            </a:r>
          </a:p>
          <a:p>
            <a:pPr lvl="0" algn="ctr">
              <a:lnSpc>
                <a:spcPct val="105410"/>
              </a:lnSpc>
            </a:pPr>
            <a:r>
              <a:rPr lang="en-US" sz="1771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(Objectification)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27100" y="4622800"/>
            <a:ext cx="736600" cy="774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496800" y="5016500"/>
            <a:ext cx="609600" cy="406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195300" y="5461000"/>
            <a:ext cx="1600200" cy="711200"/>
          </a:xfrm>
          <a:prstGeom prst="rect">
            <a:avLst/>
          </a:prstGeom>
        </p:spPr>
        <p:txBody>
          <a:bodyPr lIns="0" tIns="16764" rIns="0" bIns="16764" rtlCol="0" anchor="ctr"/>
          <a:lstStyle/>
          <a:p>
            <a:pPr lvl="0" algn="ctr">
              <a:lnSpc>
                <a:spcPct val="97940"/>
              </a:lnSpc>
            </a:pPr>
            <a:r>
              <a:rPr lang="en-US" sz="2088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집합적</a:t>
            </a:r>
          </a:p>
          <a:p>
            <a:pPr lvl="0" algn="ctr">
              <a:lnSpc>
                <a:spcPct val="97940"/>
              </a:lnSpc>
            </a:pPr>
            <a:r>
              <a:rPr lang="en-US" sz="2088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프레이밍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820900" y="5029200"/>
            <a:ext cx="609600" cy="406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570200" y="5499100"/>
            <a:ext cx="1600200" cy="711200"/>
          </a:xfrm>
          <a:prstGeom prst="rect">
            <a:avLst/>
          </a:prstGeom>
        </p:spPr>
        <p:txBody>
          <a:bodyPr lIns="0" tIns="16764" rIns="0" bIns="16764" rtlCol="0" anchor="ctr"/>
          <a:lstStyle/>
          <a:p>
            <a:pPr lvl="0" algn="ctr">
              <a:lnSpc>
                <a:spcPct val="97940"/>
              </a:lnSpc>
            </a:pPr>
            <a:r>
              <a:rPr lang="en-US" sz="2088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단어 의미</a:t>
            </a:r>
          </a:p>
          <a:p>
            <a:pPr lvl="0" algn="ctr">
              <a:lnSpc>
                <a:spcPct val="97940"/>
              </a:lnSpc>
            </a:pPr>
            <a:r>
              <a:rPr lang="en-US" sz="2088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변화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96700" y="4749800"/>
            <a:ext cx="596900" cy="21590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 algn="l">
              <a:lnSpc>
                <a:spcPct val="83000"/>
              </a:lnSpc>
            </a:pPr>
            <a:r>
              <a:rPr lang="en-US" sz="961" b="0" i="0" u="none" strike="noStrike">
                <a:solidFill>
                  <a:srgbClr val="000000"/>
                </a:solidFill>
                <a:latin typeface="S-Core Dream 3 Light"/>
                <a:ea typeface="S-Core Dream 3 Light"/>
                <a:cs typeface="S-Core Dream 3 Light"/>
              </a:rPr>
              <a:t>설거지론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40000" y="3898900"/>
            <a:ext cx="2273300" cy="227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900" y="2146300"/>
            <a:ext cx="292100" cy="38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1536700"/>
            <a:ext cx="6438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Data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5118100"/>
            <a:ext cx="16852900" cy="38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2413000"/>
            <a:ext cx="8661400" cy="240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79400" lvl="1" indent="-2794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Five DC Inside communities and Related Keyword searching</a:t>
            </a:r>
          </a:p>
          <a:p>
            <a:pPr marL="508000" lvl="2" indent="-254000" algn="l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Communities: 주식, 연애상담, 취업, 부동산, 자격증 갤러리</a:t>
            </a:r>
          </a:p>
          <a:p>
            <a:pPr marL="508000" lvl="2" indent="-254000" algn="l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Keyword: 결혼, 사랑, 연애</a:t>
            </a:r>
          </a:p>
          <a:p>
            <a:pPr marL="279400" lvl="1" indent="-2794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Data collected from </a:t>
            </a:r>
            <a:r>
              <a:rPr lang="en-US" sz="2200" b="0" i="0" u="sng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2016 to 2025</a:t>
            </a:r>
          </a:p>
          <a:p>
            <a:pPr marL="508000" lvl="2" indent="-254000" algn="l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Selenium WebDriver (python)</a:t>
            </a:r>
          </a:p>
          <a:p>
            <a:pPr marL="279273" lvl="1" indent="-279273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99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Approximately 890,000 posts and comments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Data &amp; Methods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6172200"/>
            <a:ext cx="7658100" cy="387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0" y="6667500"/>
            <a:ext cx="76200" cy="2527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6200" y="2146300"/>
            <a:ext cx="292100" cy="38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210800" y="1536700"/>
            <a:ext cx="6438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Methods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10800" y="2413000"/>
            <a:ext cx="7721600" cy="240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79400" lvl="1" indent="-2794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Preprocessing:</a:t>
            </a:r>
          </a:p>
          <a:p>
            <a:pPr marL="508000" lvl="2" indent="-254000" algn="l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Kiwi (python)</a:t>
            </a:r>
          </a:p>
          <a:p>
            <a:pPr marL="279400" lvl="1" indent="-2794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Dynamic word embeddings (Word2Vec)</a:t>
            </a:r>
          </a:p>
          <a:p>
            <a:pPr marL="508000" lvl="2" indent="-254000" algn="l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Procrustes alignment &amp; Temporal comparisons</a:t>
            </a:r>
          </a:p>
          <a:p>
            <a:pPr marL="279400" lvl="1" indent="-2794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Comparison with national survey data</a:t>
            </a:r>
          </a:p>
          <a:p>
            <a:pPr marL="508000" lvl="2" indent="-254000" algn="l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Procrustes alignment &amp; Temporal comparisons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89500" y="6146800"/>
            <a:ext cx="1422400" cy="5207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21년 10월</a:t>
            </a:r>
          </a:p>
          <a:p>
            <a:pPr lvl="0" algn="ct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설거지론 첫 언급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900" y="5918200"/>
            <a:ext cx="292100" cy="3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65200" y="5308600"/>
            <a:ext cx="6426200" cy="431800"/>
          </a:xfrm>
          <a:prstGeom prst="rect">
            <a:avLst/>
          </a:prstGeom>
        </p:spPr>
        <p:txBody>
          <a:bodyPr lIns="0" tIns="2921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EDA Result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6324600"/>
            <a:ext cx="84328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300" y="1714500"/>
            <a:ext cx="5410200" cy="8369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3300" y="2667000"/>
            <a:ext cx="2006600" cy="698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673100"/>
            <a:ext cx="4826000" cy="6350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81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DWE: 의미축 구성 근거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14400" y="2692400"/>
          <a:ext cx="10271273" cy="5993534"/>
        </p:xfrm>
        <a:graphic>
          <a:graphicData uri="http://schemas.openxmlformats.org/drawingml/2006/table">
            <a:tbl>
              <a:tblPr/>
              <a:tblGrid>
                <a:gridCol w="153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7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6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00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1212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X축</a:t>
                      </a:r>
                      <a:endParaRPr lang="en-US" sz="1100"/>
                    </a:p>
                    <a:p>
                      <a:pPr lvl="0" algn="ctr">
                        <a:lnSpc>
                          <a:spcPct val="99600"/>
                        </a:lnSpc>
                      </a:pPr>
                      <a:r>
                        <a:rPr lang="en-US" sz="1799" b="0" i="0" u="none" strike="noStrike">
                          <a:solidFill>
                            <a:srgbClr val="FF1212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친밀성 ↔︎ 거래성</a:t>
                      </a:r>
                    </a:p>
                  </a:txBody>
                  <a:tcPr marL="4535" marR="4535" marT="27395" marB="2739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5DC61B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Y축</a:t>
                      </a:r>
                      <a:endParaRPr lang="en-US" sz="1100"/>
                    </a:p>
                    <a:p>
                      <a:pPr lvl="0" algn="ctr">
                        <a:lnSpc>
                          <a:spcPct val="99600"/>
                        </a:lnSpc>
                      </a:pPr>
                      <a:r>
                        <a:rPr lang="en-US" sz="1799" b="0" i="0" u="none" strike="noStrike">
                          <a:solidFill>
                            <a:srgbClr val="5DC61B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상호성 ↔︎ 대상화</a:t>
                      </a:r>
                    </a:p>
                  </a:txBody>
                  <a:tcPr marL="4535" marR="4535" marT="27395" marB="2739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0536E9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Z축</a:t>
                      </a:r>
                      <a:endParaRPr lang="en-US" sz="1100"/>
                    </a:p>
                    <a:p>
                      <a:pPr lvl="0" algn="ctr">
                        <a:lnSpc>
                          <a:spcPct val="99600"/>
                        </a:lnSpc>
                      </a:pPr>
                      <a:r>
                        <a:rPr lang="en-US" sz="1799" b="0" i="0" u="none" strike="noStrike">
                          <a:solidFill>
                            <a:srgbClr val="0536E9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가족화 ↔︎ 비정착</a:t>
                      </a:r>
                    </a:p>
                  </a:txBody>
                  <a:tcPr marL="4535" marR="4535" marT="27395" marB="2739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89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이론적 근거</a:t>
                      </a:r>
                      <a:endParaRPr lang="en-US" sz="1100"/>
                    </a:p>
                  </a:txBody>
                  <a:tcPr marL="4535" marR="4535" marT="30761" marB="30761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관계를 돌봄 관계와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조건의 교환 관계로 구분 (Fiske, 1992)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연애 관계를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보상·투자의 관점에서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설명하는 사회 교환 모델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(Rusbult, 1980; Sprecher, 1998)</a:t>
                      </a:r>
                    </a:p>
                  </a:txBody>
                  <a:tcPr marL="4535" marR="4535" marT="12155" marB="1215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친밀한 관계는 상호의존,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조율, 책임의 구조로 작동함</a:t>
                      </a:r>
                    </a:p>
                    <a:p>
                      <a:pPr lvl="0" algn="ctr">
                        <a:lnSpc>
                          <a:spcPct val="996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(Kelley &amp; Thibaut, 1978;</a:t>
                      </a:r>
                    </a:p>
                    <a:p>
                      <a:pPr lvl="0" algn="ctr">
                        <a:lnSpc>
                          <a:spcPct val="996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Finkel et al., 2017)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대상화는 타인을 목적을 위한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수단의 대상으로 보는 과정임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(Nussbaum, 1995; Gruenfeld et al., 2008; Haslam, 2006)</a:t>
                      </a:r>
                    </a:p>
                  </a:txBody>
                  <a:tcPr marL="4535" marR="4535" marT="12155" marB="1215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현대 결혼은 제도적 규범이 약화되는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탈제도화 과정을 겪음 (Cherlin, 2004).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
청년층의 결혼·출산·동거에 대한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가치관이 전통형, 대안형,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회피형으로 분화됨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(오영은 &amp; 추주희, 2020;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기나휘 &amp; 한창근, 2024)</a:t>
                      </a:r>
                    </a:p>
                  </a:txBody>
                  <a:tcPr marL="4535" marR="4535" marT="12155" marB="1215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567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축 구성 단어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예시</a:t>
                      </a:r>
                    </a:p>
                  </a:txBody>
                  <a:tcPr marL="4535" marR="4535" marT="30761" marB="30761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41100"/>
                        </a:lnSpc>
                        <a:defRPr/>
                      </a:pPr>
                      <a:r>
                        <a:rPr lang="en-US" sz="1400" b="0" i="0" u="sng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친밀성 방향</a:t>
                      </a:r>
                      <a:endParaRPr lang="en-US" sz="1100"/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진심, 애정, 공감</a:t>
                      </a: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sng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거래성 방향</a:t>
                      </a: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외모, 스펙, 조건</a:t>
                      </a:r>
                    </a:p>
                  </a:txBody>
                  <a:tcPr marL="4535" marR="4535" marT="0" marB="0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41100"/>
                        </a:lnSpc>
                        <a:defRPr/>
                      </a:pPr>
                      <a:r>
                        <a:rPr lang="en-US" sz="1400" b="0" i="0" u="sng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상호성 방향</a:t>
                      </a:r>
                      <a:endParaRPr lang="en-US" sz="1100"/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서로, 이해, 배려</a:t>
                      </a: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sng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대상화 방향</a:t>
                      </a: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이용, 취급, 호구</a:t>
                      </a:r>
                    </a:p>
                  </a:txBody>
                  <a:tcPr marL="4535" marR="4535" marT="0" marB="0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41100"/>
                        </a:lnSpc>
                        <a:defRPr/>
                      </a:pPr>
                      <a:r>
                        <a:rPr lang="en-US" sz="1400" b="0" i="0" u="sng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가족화 방향</a:t>
                      </a:r>
                      <a:endParaRPr lang="en-US" sz="1100"/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가정, 평생, 부모</a:t>
                      </a: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sng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비정착성 방향</a:t>
                      </a:r>
                    </a:p>
                    <a:p>
                      <a:pPr lvl="0" algn="ctr">
                        <a:lnSpc>
                          <a:spcPct val="1411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바람, 환승, 차단</a:t>
                      </a:r>
                    </a:p>
                  </a:txBody>
                  <a:tcPr marL="4535" marR="4535" marT="0" marB="0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92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축 구성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타당성 지표</a:t>
                      </a:r>
                    </a:p>
                  </a:txBody>
                  <a:tcPr marL="4535" marR="4535" marT="30761" marB="30761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071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극 내 응집도: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(-): 0.297 (+): 0.251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극 간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0.527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Y축과의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0.713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Z축과의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0.656</a:t>
                      </a:r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극 내 응집도: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(-): 0.327 (+): 0.246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극 간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0.523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X축과의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0.713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Z축과의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0.881</a:t>
                      </a:r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극 내 응집도: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(-): 0.351 (+): 0.263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극 간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0.566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latin typeface="S-Core Dream 4 Regular"/>
                        <a:ea typeface="S-Core Dream 4 Regular"/>
                        <a:cs typeface="S-Core Dream 4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X축과의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0.656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Y축과의 분리도: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4 Regular"/>
                          <a:ea typeface="S-Core Dream 4 Regular"/>
                          <a:cs typeface="S-Core Dream 4 Regular"/>
                        </a:rPr>
                        <a:t>0.881</a:t>
                      </a:r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2501900"/>
            <a:ext cx="10896600" cy="406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5400000">
            <a:off x="3759200" y="5918200"/>
            <a:ext cx="482600" cy="34290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 algn="l">
              <a:lnSpc>
                <a:spcPct val="83000"/>
              </a:lnSpc>
            </a:pPr>
            <a:r>
              <a:rPr lang="en-US" sz="1780" b="0" i="0" u="none" strike="noStrike">
                <a:solidFill>
                  <a:srgbClr val="000000"/>
                </a:solidFill>
                <a:latin typeface="S-Core Dream 4 Regular"/>
                <a:ea typeface="S-Core Dream 4 Regular"/>
                <a:cs typeface="S-Core Dream 4 Regular"/>
              </a:rPr>
              <a:t>↔︎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9563100" y="5918200"/>
            <a:ext cx="482600" cy="34290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 algn="l">
              <a:lnSpc>
                <a:spcPct val="83000"/>
              </a:lnSpc>
            </a:pPr>
            <a:r>
              <a:rPr lang="en-US" sz="1780" b="0" i="0" u="none" strike="noStrike">
                <a:solidFill>
                  <a:srgbClr val="000000"/>
                </a:solidFill>
                <a:latin typeface="S-Core Dream 4 Regular"/>
                <a:ea typeface="S-Core Dream 4 Regular"/>
                <a:cs typeface="S-Core Dream 4 Regular"/>
              </a:rPr>
              <a:t>↔︎</a:t>
            </a:r>
          </a:p>
        </p:txBody>
      </p:sp>
      <p:sp>
        <p:nvSpPr>
          <p:cNvPr id="10" name="TextBox 10"/>
          <p:cNvSpPr txBox="1"/>
          <p:nvPr/>
        </p:nvSpPr>
        <p:spPr>
          <a:xfrm rot="5400000">
            <a:off x="6667500" y="5918200"/>
            <a:ext cx="482600" cy="34290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 algn="l">
              <a:lnSpc>
                <a:spcPct val="83000"/>
              </a:lnSpc>
            </a:pPr>
            <a:r>
              <a:rPr lang="en-US" sz="1780" b="0" i="0" u="none" strike="noStrike">
                <a:solidFill>
                  <a:srgbClr val="000000"/>
                </a:solidFill>
                <a:latin typeface="S-Core Dream 4 Regular"/>
                <a:ea typeface="S-Core Dream 4 Regular"/>
                <a:cs typeface="S-Core Dream 4 Regular"/>
              </a:rPr>
              <a:t>↔︎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5651500" y="6121400"/>
            <a:ext cx="4572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8458200" y="5410200"/>
            <a:ext cx="558800" cy="482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8597900" y="6096000"/>
            <a:ext cx="330200" cy="59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55900" y="5461000"/>
            <a:ext cx="533400" cy="38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38800" y="5422900"/>
            <a:ext cx="482600" cy="444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57500" y="6223000"/>
            <a:ext cx="33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828800"/>
            <a:ext cx="5410200" cy="8369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641600"/>
            <a:ext cx="2006600" cy="698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673100"/>
            <a:ext cx="6832600" cy="5080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86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DWE Results: Post 설거지론 (2021년 10월)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864600" y="5918200"/>
          <a:ext cx="3458139" cy="3667746"/>
        </p:xfrm>
        <a:graphic>
          <a:graphicData uri="http://schemas.openxmlformats.org/drawingml/2006/table">
            <a:tbl>
              <a:tblPr/>
              <a:tblGrid>
                <a:gridCol w="110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34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타겟 단어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설거지론 확산 이전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상위 유사어</a:t>
                      </a:r>
                    </a:p>
                  </a:txBody>
                  <a:tcPr marL="4535" marR="4535" marT="4535" marB="453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남편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수발, 서방, 개무시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결혼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딩크, 이혼, 결혼관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연애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모솔, 커플, 집순, 랜선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인생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허망, 황금기, 허탈감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커플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덕목, 연애, 친구사이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이혼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재산분할, 위자료, 재혼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남자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커트라인, 존잘남, 독차지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사랑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반쪽, 험난, 따스, 서로</a:t>
                      </a:r>
                      <a:endParaRPr lang="en-US" sz="1100"/>
                    </a:p>
                  </a:txBody>
                  <a:tcPr marL="4535" marR="4535" marT="32634" marB="3263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7600" y="7416800"/>
            <a:ext cx="508000" cy="444500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3246100" y="5918200"/>
          <a:ext cx="3459756" cy="3667746"/>
        </p:xfrm>
        <a:graphic>
          <a:graphicData uri="http://schemas.openxmlformats.org/drawingml/2006/table">
            <a:tbl>
              <a:tblPr/>
              <a:tblGrid>
                <a:gridCol w="3459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834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설거지론 확산 이후
상위 유사어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바람, 엄마, 이혼, 시리얼, 살림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한녀, 이혼, 국결, 나이, 한녀혼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섹스, 결혼, 모솔, 원나잇, 한녀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평생, 혼자, 결혼, 선택, 도축남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한일부부, 한베부부, 한러, 연애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재산분할, 위자료, 반띵, 도축론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결혼, 연애, 스펙, 한남, 조건, 손해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67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진심, 마음, 진정, 순수, 감정, 평생</a:t>
                      </a:r>
                      <a:endParaRPr lang="en-US" sz="1100"/>
                    </a:p>
                  </a:txBody>
                  <a:tcPr marL="4535" marR="4535" marT="32634" marB="3263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39800" y="7289800"/>
            <a:ext cx="26924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39800" y="7683500"/>
            <a:ext cx="2692400" cy="44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39800" y="8064500"/>
            <a:ext cx="2692400" cy="40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39800" y="6896100"/>
            <a:ext cx="2692400" cy="444500"/>
          </a:xfrm>
          <a:prstGeom prst="rect">
            <a:avLst/>
          </a:prstGeom>
        </p:spPr>
      </p:pic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8597900" y="1536700"/>
          <a:ext cx="8368822" cy="3853601"/>
        </p:xfrm>
        <a:graphic>
          <a:graphicData uri="http://schemas.openxmlformats.org/drawingml/2006/table">
            <a:tbl>
              <a:tblPr/>
              <a:tblGrid>
                <a:gridCol w="414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1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691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순위</a:t>
                      </a:r>
                      <a:endParaRPr lang="en-US" sz="1100"/>
                    </a:p>
                  </a:txBody>
                  <a:tcPr marL="4535" marR="4535" marT="4535" marB="4535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단어</a:t>
                      </a:r>
                      <a:endParaRPr lang="en-US" sz="1100"/>
                    </a:p>
                  </a:txBody>
                  <a:tcPr marL="4535" marR="4535" marT="4535" marB="453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총 이동 거리</a:t>
                      </a:r>
                      <a:endParaRPr lang="en-US" sz="1100"/>
                    </a:p>
                  </a:txBody>
                  <a:tcPr marL="4535" marR="4535" marT="4535" marB="453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(-) 친밀성 - 조건성/거래성 (+)</a:t>
                      </a:r>
                      <a:endParaRPr lang="en-US" sz="1100"/>
                    </a:p>
                  </a:txBody>
                  <a:tcPr marL="4535" marR="4535" marT="4535" marB="453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(-) 상호성 - 대상화 (+)</a:t>
                      </a:r>
                      <a:endParaRPr lang="en-US" sz="1100"/>
                    </a:p>
                  </a:txBody>
                  <a:tcPr marL="4535" marR="4535" marT="4535" marB="453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536E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(-) 가족화/정착성 - 비정착성 (+)</a:t>
                      </a:r>
                      <a:endParaRPr lang="en-US" sz="1100"/>
                    </a:p>
                  </a:txBody>
                  <a:tcPr marL="4535" marR="4535" marT="4535" marB="4535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1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남편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.152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.014  → -.039 (-.053)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-.052  → -.066 (-.014)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-.098 → -.240 (-.142)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2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결혼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.119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.098  → -.105 (</a:t>
                      </a: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+.008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.009  →  .068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+.059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-.090 → .013 (</a:t>
                      </a:r>
                      <a:r>
                        <a:rPr lang="en-US" sz="1200" b="0" i="0" u="none" strike="noStrike">
                          <a:solidFill>
                            <a:srgbClr val="0536E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+.103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3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연애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.116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-.083  → -.022 (</a:t>
                      </a: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+.061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-.051 → .029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+.081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.266 → .323 (</a:t>
                      </a:r>
                      <a:r>
                        <a:rPr lang="en-US" sz="1200" b="0" i="0" u="none" strike="noStrike">
                          <a:solidFill>
                            <a:srgbClr val="0536E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+.057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4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인생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.103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-.045  → -.075 (-.030)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-.059 → .038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+.097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.050 → .030 (-.020)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5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커플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.098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-.088  → -.044 (</a:t>
                      </a: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+.044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-.116 → -.057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+.059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.210 → .145 (-.065)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6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이혼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.097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.046  →  .062 (</a:t>
                      </a: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+.017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.001 → .009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+.008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-.118 → -.023 (</a:t>
                      </a:r>
                      <a:r>
                        <a:rPr lang="en-US" sz="1200" b="0" i="0" u="none" strike="noStrike">
                          <a:solidFill>
                            <a:srgbClr val="0536E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+.095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7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남자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.094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.058  →  .109 (</a:t>
                      </a: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+.051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.042 → .050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+.007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.041 → .119 (</a:t>
                      </a:r>
                      <a:r>
                        <a:rPr lang="en-US" sz="1200" b="0" i="0" u="none" strike="noStrike">
                          <a:solidFill>
                            <a:srgbClr val="0536E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+.078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8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사랑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.071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-.248  → -.243 (</a:t>
                      </a:r>
                      <a:r>
                        <a:rPr lang="en-US" sz="1200" b="0" i="0" u="none" strike="noStrike">
                          <a:solidFill>
                            <a:srgbClr val="FF1212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+.005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-.086 → -.069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+.017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.087 → .018 (-.069)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9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가족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.054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-.098  → -.117 (-.019)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-.144 → -.127 (</a:t>
                      </a:r>
                      <a:r>
                        <a:rPr lang="en-US" sz="1200" b="0" i="0" u="none" strike="noStrike">
                          <a:solidFill>
                            <a:srgbClr val="5DC61B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+.017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-.160 → -.207 (-.047)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66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10</a:t>
                      </a:r>
                      <a:endParaRPr lang="en-US" sz="1100"/>
                    </a:p>
                  </a:txBody>
                  <a:tcPr marL="4535" marR="4535" marT="27014" marB="2701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아내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.053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-.007  → -.049 (-.042)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-.081 → -.110 (-.030)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-.159 → -.173 (-.014)</a:t>
                      </a:r>
                      <a:endParaRPr lang="en-US" sz="1100"/>
                    </a:p>
                  </a:txBody>
                  <a:tcPr marL="4535" marR="4535" marT="27014" marB="27014" anchor="ctr">
                    <a:lnL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8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2" cap="flat" cmpd="sng" algn="ctr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4300" y="2336800"/>
            <a:ext cx="79883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892300"/>
            <a:ext cx="6946900" cy="257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6972300"/>
            <a:ext cx="6946900" cy="259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4445000"/>
            <a:ext cx="6946900" cy="255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673100"/>
            <a:ext cx="12484100" cy="5461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902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DWE Result: Temporal (2 Years) comparisons with National Survey data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3695700"/>
            <a:ext cx="7620000" cy="3479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600" y="3860800"/>
            <a:ext cx="4102100" cy="43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352648">
            <a:off x="8445500" y="7315200"/>
            <a:ext cx="8890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3100" y="2451100"/>
            <a:ext cx="10985500" cy="669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17754" lvl="1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Collaboration with Cognitive &amp; Learning Science Lab,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Hallym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Univ.</a:t>
            </a:r>
          </a:p>
          <a:p>
            <a:pPr marL="635508" lvl="2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한림대의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인지심리학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수강생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189명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대상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</a:t>
            </a: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953262" lvl="3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■"/>
            </a:pP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약 15,000개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가량의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17754" lvl="1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LLM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분류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타당화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신뢰도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계산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휴먼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코딩과의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비교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(~'s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카파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  <a:p>
            <a:pPr marL="635508" lvl="2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인간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코더들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훈련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코드북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수정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임박</a:t>
            </a: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17754" lvl="1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타당화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작업이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완료된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이후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계획</a:t>
            </a:r>
            <a:endParaRPr lang="en-US" sz="2502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635508" lvl="2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성적과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관계</a:t>
            </a: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635508" lvl="2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스타일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프로파일링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등등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..</a:t>
            </a:r>
          </a:p>
          <a:p>
            <a:pPr lvl="0" algn="l">
              <a:lnSpc>
                <a:spcPct val="116199"/>
              </a:lnSpc>
            </a:pP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17754" lvl="1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후속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연구</a:t>
            </a:r>
            <a:endParaRPr lang="en-US" sz="2502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635508" lvl="2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사전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사회심리학적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)을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통해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스타일이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"왜"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다른지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탐색</a:t>
            </a: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635508" lvl="2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교육용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AI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챗봇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도입의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목적은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평등한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교육</a:t>
            </a:r>
            <a:endParaRPr lang="en-US" sz="2502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953262" lvl="3" indent="-317754" algn="l">
              <a:lnSpc>
                <a:spcPct val="116199"/>
              </a:lnSpc>
              <a:buClr>
                <a:srgbClr val="000000"/>
              </a:buClr>
              <a:buFont typeface="Arial"/>
              <a:buChar char="■"/>
            </a:pP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하지만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학습자로서의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정체성이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내면화되어서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오히려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교육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불평등이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2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증폭</a:t>
            </a:r>
            <a:r>
              <a:rPr lang="en-US" sz="2502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 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100" y="901700"/>
            <a:ext cx="7124700" cy="314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600" y="6997700"/>
            <a:ext cx="6172200" cy="309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100" y="4191000"/>
            <a:ext cx="6743700" cy="2489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100" y="6756400"/>
            <a:ext cx="7124700" cy="368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9100" y="4025900"/>
            <a:ext cx="7124700" cy="36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3: Student-AI Interaction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0" y="1612900"/>
            <a:ext cx="889000" cy="889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6946900"/>
            <a:ext cx="838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3700" y="6946900"/>
            <a:ext cx="7747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3800" y="1765300"/>
            <a:ext cx="12179300" cy="467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32486" lvl="1" indent="-332486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자기계발</a:t>
            </a:r>
            <a:r>
              <a:rPr lang="ko-KR" alt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동기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와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친사회적</a:t>
            </a:r>
            <a:r>
              <a:rPr lang="ko-KR" alt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동기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의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관계</a:t>
            </a:r>
            <a:endParaRPr lang="en-US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664972" lvl="2" indent="-332486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구글 트렌드의 검색어 통계량 분석</a:t>
            </a:r>
            <a:endParaRPr lang="en-US" altLang="ko-KR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1122172" lvl="3" indent="-33248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어느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정도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것으로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보임</a:t>
            </a:r>
            <a:endParaRPr lang="en-US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1122172" lvl="3" indent="-33248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하지만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아닌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국가도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있을텐데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이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관계를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매개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조절하는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변인은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</a:t>
            </a:r>
          </a:p>
          <a:p>
            <a:pPr lvl="0" algn="l">
              <a:lnSpc>
                <a:spcPct val="116199"/>
              </a:lnSpc>
            </a:pPr>
            <a:endParaRPr lang="en-US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32486" lvl="1" indent="-332486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아주대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사회심리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대학원생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4 +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심리학과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학부생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2 +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중앙대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사회심리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대학원생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연구팀</a:t>
            </a:r>
            <a:endParaRPr lang="en-US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664972" lvl="2" indent="-332486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다양한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배경과</a:t>
            </a:r>
            <a:r>
              <a:rPr lang="en-US" sz="2618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젊</a:t>
            </a:r>
            <a:r>
              <a:rPr lang="ko-KR" alt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열정으로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좋은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기대</a:t>
            </a:r>
            <a:endParaRPr lang="en-US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2618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32486" lvl="1" indent="-332486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구글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트렌드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이외에도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가능한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연구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아이디어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18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모으는</a:t>
            </a:r>
            <a:r>
              <a:rPr lang="en-US" sz="2618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중..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600" y="5461000"/>
            <a:ext cx="7721600" cy="443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0" y="901700"/>
            <a:ext cx="3759200" cy="21209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673100"/>
            <a:ext cx="93218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99" b="0" i="0" u="none" strike="noStrike">
                <a:solidFill>
                  <a:srgbClr val="2D2D2D"/>
                </a:solidFill>
                <a:latin typeface="Pretendard SemiBold"/>
                <a:ea typeface="Pretendard SemiBold"/>
                <a:cs typeface="Pretendard SemiBold"/>
              </a:rPr>
              <a:t>Project 4: Values and Self promotion-Prosociality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480000">
            <a:off x="-863600" y="-2349500"/>
            <a:ext cx="5842000" cy="3302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906500" y="1498600"/>
            <a:ext cx="2971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844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1795</Words>
  <Application>Microsoft Office PowerPoint</Application>
  <PresentationFormat>사용자 지정</PresentationFormat>
  <Paragraphs>371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S-Core Dream 3 Light</vt:lpstr>
      <vt:lpstr>Arial</vt:lpstr>
      <vt:lpstr>S-Core Dream 4 Regular</vt:lpstr>
      <vt:lpstr>Pretendard Regular</vt:lpstr>
      <vt:lpstr>Pretendard Medium</vt:lpstr>
      <vt:lpstr>Pretendard Bold</vt:lpstr>
      <vt:lpstr>Calibri</vt:lpstr>
      <vt:lpstr>Pretendard SemiBold</vt:lpstr>
      <vt:lpstr>S-Core Dream 5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김유빈</cp:lastModifiedBy>
  <cp:revision>2</cp:revision>
  <dcterms:created xsi:type="dcterms:W3CDTF">2006-08-16T00:00:00Z</dcterms:created>
  <dcterms:modified xsi:type="dcterms:W3CDTF">2026-10-16T07:06:21Z</dcterms:modified>
</cp:coreProperties>
</file>