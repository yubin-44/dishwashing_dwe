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Pretendard Bold" panose="020B0600000101010101" charset="-127"/>
      <p:bold r:id="rId30"/>
    </p:embeddedFont>
    <p:embeddedFont>
      <p:font typeface="Pretendard Medium" panose="020B0600000101010101" charset="-127"/>
      <p:bold r:id="rId31"/>
    </p:embeddedFont>
    <p:embeddedFont>
      <p:font typeface="Pretendard Regular" panose="020B0600000101010101" charset="-127"/>
      <p:regular r:id="rId32"/>
    </p:embeddedFont>
    <p:embeddedFont>
      <p:font typeface="Pretendard SemiBold" panose="020B0600000101010101" charset="-127"/>
      <p:bold r:id="rId33"/>
    </p:embeddedFont>
    <p:embeddedFont>
      <p:font typeface="맑은 고딕" panose="020B0503020000020004" pitchFamily="50" charset="-127"/>
      <p:regular r:id="rId34"/>
      <p:bold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26" d="100"/>
          <a:sy n="26" d="100"/>
        </p:scale>
        <p:origin x="108" y="4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174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7CB94D-DD0D-4E84-846C-B986E1884178}" type="datetimeFigureOut">
              <a:rPr lang="ko-KR" altLang="en-US" smtClean="0"/>
              <a:t>2026-09-08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6DCA4-E063-40EE-9CE4-27D38E3FEED6}" type="slidenum">
              <a:rPr lang="ko-KR" altLang="en-US" smtClean="0"/>
              <a:t>‹#›</a:t>
            </a:fld>
            <a:endParaRPr lang="ko-KR" altLang="en-US"/>
          </a:p>
        </p:txBody>
      </p:sp>
    </p:spTree>
    <p:extLst>
      <p:ext uri="{BB962C8B-B14F-4D97-AF65-F5344CB8AC3E}">
        <p14:creationId xmlns:p14="http://schemas.microsoft.com/office/powerpoint/2010/main" val="383484594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앞선 발표에서 사회심리학이 하나의 학문으로 형성되는 초기 과정까지 살펴봤다면, 저는 이어서 제2차 세계대전 이후 사회심리학이 어떻게 확장되고 재구성되었는지를 발표하겠습니다.</a:t>
            </a:r>
          </a:p>
          <a:p>
            <a:r>
              <a:rPr lang="ko-KR" altLang="ko-KR" dirty="0"/>
              <a:t>시기는 1946년부터 </a:t>
            </a:r>
            <a:r>
              <a:rPr lang="ko-KR" altLang="ko-KR" dirty="0" err="1"/>
              <a:t>현재까지입니다</a:t>
            </a:r>
            <a:r>
              <a:rPr lang="ko-KR" altLang="ko-KR" dirty="0"/>
              <a:t>. 전후의 집단역학과 사회적 영향 연구에서 시작해서, 1970년대 사회인지의 부상, 1990년대 이후 학제 간 확장, 그리고 최근의 빅데이터와 재현성 위기까지 살펴보겠습니다.</a:t>
            </a:r>
          </a:p>
          <a:p>
            <a:r>
              <a:rPr lang="ko-KR" altLang="ko-KR" dirty="0"/>
              <a:t>여기서 중요한 것은 단순히 유명한 이론들을 시대순으로 나열하는 것이 아닙니다. 사회심리학이 </a:t>
            </a:r>
            <a:r>
              <a:rPr lang="ko-KR" altLang="ko-KR" dirty="0" err="1"/>
              <a:t>사회적·정치적</a:t>
            </a:r>
            <a:r>
              <a:rPr lang="ko-KR" altLang="ko-KR" dirty="0"/>
              <a:t> 변화와 새로운 연구도구에 반응하면서, 동일한 핵심 질문을 어떻게 다른 방식으로 연구해왔는지가 발표의 중심입니다.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a:t>
            </a:fld>
            <a:endParaRPr lang="ko-KR" altLang="en-US"/>
          </a:p>
        </p:txBody>
      </p:sp>
    </p:spTree>
    <p:extLst>
      <p:ext uri="{BB962C8B-B14F-4D97-AF65-F5344CB8AC3E}">
        <p14:creationId xmlns:p14="http://schemas.microsoft.com/office/powerpoint/2010/main" val="713832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1946년부터 1969년까지는 집단역학과 사회적 영향 연구가 크게 성장한 시기입니다. 이후 1970년부터 1990년까지는 개인이 사회적 상황을 어떻게 지각하고 해석하는지를 다루는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cognition</a:t>
            </a:r>
            <a:r>
              <a:rPr lang="ko-KR" altLang="ko-KR" sz="1200" kern="1200" dirty="0">
                <a:solidFill>
                  <a:schemeClr val="tx1"/>
                </a:solidFill>
                <a:latin typeface="+mn-lt"/>
                <a:ea typeface="+mn-ea"/>
                <a:cs typeface="+mn-cs"/>
              </a:rPr>
              <a:t> (사회인지)</a:t>
            </a:r>
            <a:r>
              <a:rPr lang="ko-KR" altLang="ko-KR" dirty="0"/>
              <a:t>이 중심으로 이동합니다.</a:t>
            </a:r>
          </a:p>
          <a:p>
            <a:r>
              <a:rPr lang="ko-KR" altLang="ko-KR" dirty="0"/>
              <a:t>1990년 이후에는 사회심리학이 법학, 경제학, 의학, 생물학, 문화 연구와 결합하면서 연구 범위가 확장됩니다. 2010년 이후에는 인터넷 자료와 빅데이터가 등장하는 동시에, 기존 연구 결과가 얼마나 재현되는지를 둘러싼 위기가 나타납니다.</a:t>
            </a:r>
          </a:p>
          <a:p>
            <a:r>
              <a:rPr lang="ko-KR" altLang="ko-KR" dirty="0"/>
              <a:t>그런데 </a:t>
            </a:r>
            <a:r>
              <a:rPr lang="ko-KR" altLang="ko-KR" dirty="0" err="1"/>
              <a:t>Reis가</a:t>
            </a:r>
            <a:r>
              <a:rPr lang="ko-KR" altLang="ko-KR" dirty="0"/>
              <a:t> 강조하는 것은 시대가 바뀌어도 </a:t>
            </a:r>
            <a:r>
              <a:rPr lang="ko-KR" altLang="ko-KR" sz="1200" kern="1200" dirty="0" err="1">
                <a:solidFill>
                  <a:schemeClr val="tx1"/>
                </a:solidFill>
                <a:latin typeface="+mn-lt"/>
                <a:ea typeface="+mn-ea"/>
                <a:cs typeface="+mn-cs"/>
              </a:rPr>
              <a:t>core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phenomena</a:t>
            </a:r>
            <a:r>
              <a:rPr lang="ko-KR" altLang="ko-KR" sz="1200" kern="1200" dirty="0">
                <a:solidFill>
                  <a:schemeClr val="tx1"/>
                </a:solidFill>
                <a:latin typeface="+mn-lt"/>
                <a:ea typeface="+mn-ea"/>
                <a:cs typeface="+mn-cs"/>
              </a:rPr>
              <a:t> (핵심 현상)</a:t>
            </a:r>
            <a:r>
              <a:rPr lang="ko-KR" altLang="ko-KR" dirty="0"/>
              <a:t> 자체는 지속되었다는 점입니다. 결국 사회심리학의 중심 질문은 “사회적 세계가 개인의 판단과 행동에 어떤 영향을 </a:t>
            </a:r>
            <a:r>
              <a:rPr lang="ko-KR" altLang="ko-KR" dirty="0" err="1"/>
              <a:t>미치는가?”였습니다</a:t>
            </a:r>
            <a:r>
              <a:rPr lang="ko-KR" altLang="ko-KR" dirty="0"/>
              <a:t>.</a:t>
            </a:r>
          </a:p>
          <a:p>
            <a:r>
              <a:rPr lang="ko-KR" altLang="ko-KR" dirty="0"/>
              <a:t>다만 그 질문을 집단 구조에서 설명할 것인지, 개인의 인지에서 설명할 것인지, 또는 디지털 자료와 생물학적 측정으로 접근할 것인지가 시대에 따라 달라졌다고 볼 수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a:t>
            </a:fld>
            <a:endParaRPr lang="ko-KR" altLang="en-US"/>
          </a:p>
        </p:txBody>
      </p:sp>
    </p:spTree>
    <p:extLst>
      <p:ext uri="{BB962C8B-B14F-4D97-AF65-F5344CB8AC3E}">
        <p14:creationId xmlns:p14="http://schemas.microsoft.com/office/powerpoint/2010/main" val="1568367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제2차 세계대전 이후 사회심리학은 </a:t>
            </a:r>
            <a:r>
              <a:rPr lang="ko-KR" altLang="ko-KR" dirty="0" err="1"/>
              <a:t>Reis가</a:t>
            </a:r>
            <a:r>
              <a:rPr lang="ko-KR" altLang="ko-KR" dirty="0"/>
              <a:t> </a:t>
            </a:r>
            <a:r>
              <a:rPr lang="ko-KR" altLang="ko-KR" sz="1200" kern="1200" dirty="0" err="1">
                <a:solidFill>
                  <a:schemeClr val="tx1"/>
                </a:solidFill>
                <a:latin typeface="+mn-lt"/>
                <a:ea typeface="+mn-ea"/>
                <a:cs typeface="+mn-cs"/>
              </a:rPr>
              <a:t>Full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Steam</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Ahead</a:t>
            </a:r>
            <a:r>
              <a:rPr lang="ko-KR" altLang="ko-KR" sz="1200" kern="1200" dirty="0">
                <a:solidFill>
                  <a:schemeClr val="tx1"/>
                </a:solidFill>
                <a:latin typeface="+mn-lt"/>
                <a:ea typeface="+mn-ea"/>
                <a:cs typeface="+mn-cs"/>
              </a:rPr>
              <a:t> (전속력으로 전진)</a:t>
            </a:r>
            <a:r>
              <a:rPr lang="ko-KR" altLang="ko-KR" dirty="0" err="1"/>
              <a:t>라고</a:t>
            </a:r>
            <a:r>
              <a:rPr lang="ko-KR" altLang="ko-KR" dirty="0"/>
              <a:t> 표현할 정도로 빠르게 성장합니다.</a:t>
            </a:r>
          </a:p>
          <a:p>
            <a:r>
              <a:rPr lang="ko-KR" altLang="ko-KR" dirty="0"/>
              <a:t>첫 번째 배경은 정부의 과학 투자가 증가했다는 점입니다. 전쟁을 경험한 군인의 정신건강, 선전, 리더십, 집단 갈등과 같은 문제가 중요한 연구 주제가 되면서 정부가 관련 연구를 지원했습니다.</a:t>
            </a:r>
          </a:p>
          <a:p>
            <a:r>
              <a:rPr lang="ko-KR" altLang="ko-KR" dirty="0"/>
              <a:t>두 번째는 </a:t>
            </a:r>
            <a:r>
              <a:rPr lang="ko-KR" altLang="ko-KR" sz="1200" kern="1200" dirty="0">
                <a:solidFill>
                  <a:schemeClr val="tx1"/>
                </a:solidFill>
                <a:latin typeface="+mn-lt"/>
                <a:ea typeface="+mn-ea"/>
                <a:cs typeface="+mn-cs"/>
              </a:rPr>
              <a:t>GI </a:t>
            </a:r>
            <a:r>
              <a:rPr lang="ko-KR" altLang="ko-KR" sz="1200" kern="1200" dirty="0" err="1">
                <a:solidFill>
                  <a:schemeClr val="tx1"/>
                </a:solidFill>
                <a:latin typeface="+mn-lt"/>
                <a:ea typeface="+mn-ea"/>
                <a:cs typeface="+mn-cs"/>
              </a:rPr>
              <a:t>Bill</a:t>
            </a:r>
            <a:r>
              <a:rPr lang="ko-KR" altLang="ko-KR" sz="1200" kern="1200" dirty="0">
                <a:solidFill>
                  <a:schemeClr val="tx1"/>
                </a:solidFill>
                <a:latin typeface="+mn-lt"/>
                <a:ea typeface="+mn-ea"/>
                <a:cs typeface="+mn-cs"/>
              </a:rPr>
              <a:t> (제대군인 원호법)</a:t>
            </a:r>
            <a:r>
              <a:rPr lang="ko-KR" altLang="ko-KR" dirty="0"/>
              <a:t>입니다. 참전 군인에게 대학과 대학원 교육 기회가 제공되면서 학생과 연구자의 수가 크게 증가했습니다. 이에 따라 대학의 사회심리학 프로그램, 교수직, 연구비도 함께 확대됩니다.</a:t>
            </a:r>
          </a:p>
          <a:p>
            <a:r>
              <a:rPr lang="ko-KR" altLang="ko-KR" dirty="0"/>
              <a:t>또한 유럽에서 미국으로 이주한 연구자와 그 제자들이 미국 사회심리학의 성장에 중요한 역할을 했습니다. </a:t>
            </a:r>
            <a:r>
              <a:rPr lang="ko-KR" altLang="ko-KR" dirty="0" err="1"/>
              <a:t>Kurt</a:t>
            </a:r>
            <a:r>
              <a:rPr lang="ko-KR" altLang="ko-KR" dirty="0"/>
              <a:t> </a:t>
            </a:r>
            <a:r>
              <a:rPr lang="ko-KR" altLang="ko-KR" dirty="0" err="1"/>
              <a:t>Lewin과</a:t>
            </a:r>
            <a:r>
              <a:rPr lang="ko-KR" altLang="ko-KR" dirty="0"/>
              <a:t> 같은 연구자의 영향이 대표적입니다.</a:t>
            </a:r>
          </a:p>
          <a:p>
            <a:r>
              <a:rPr lang="ko-KR" altLang="ko-KR" dirty="0"/>
              <a:t>이처럼 연구비, 교육제도, 연구자 유입, 학문적 인프라가 동시에 확장되면서 복잡한 사회적 상황을 실험실에 구현하는 </a:t>
            </a:r>
            <a:r>
              <a:rPr lang="ko-KR" altLang="ko-KR" sz="1200" kern="1200" dirty="0" err="1">
                <a:solidFill>
                  <a:schemeClr val="tx1"/>
                </a:solidFill>
                <a:latin typeface="+mn-lt"/>
                <a:ea typeface="+mn-ea"/>
                <a:cs typeface="+mn-cs"/>
              </a:rPr>
              <a:t>golden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age</a:t>
            </a:r>
            <a:r>
              <a:rPr lang="ko-KR" altLang="ko-KR" sz="1200" kern="1200" dirty="0">
                <a:solidFill>
                  <a:schemeClr val="tx1"/>
                </a:solidFill>
                <a:latin typeface="+mn-lt"/>
                <a:ea typeface="+mn-ea"/>
                <a:cs typeface="+mn-cs"/>
              </a:rPr>
              <a:t> of </a:t>
            </a:r>
            <a:r>
              <a:rPr lang="ko-KR" altLang="ko-KR" sz="1200" kern="1200" dirty="0" err="1">
                <a:solidFill>
                  <a:schemeClr val="tx1"/>
                </a:solidFill>
                <a:latin typeface="+mn-lt"/>
                <a:ea typeface="+mn-ea"/>
                <a:cs typeface="+mn-cs"/>
              </a:rPr>
              <a:t>the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laboratory</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experiment</a:t>
            </a:r>
            <a:r>
              <a:rPr lang="ko-KR" altLang="ko-KR" sz="1200" kern="1200" dirty="0">
                <a:solidFill>
                  <a:schemeClr val="tx1"/>
                </a:solidFill>
                <a:latin typeface="+mn-lt"/>
                <a:ea typeface="+mn-ea"/>
                <a:cs typeface="+mn-cs"/>
              </a:rPr>
              <a:t> (실험실 실험의 황금기)</a:t>
            </a:r>
            <a:r>
              <a:rPr lang="ko-KR" altLang="ko-KR" dirty="0"/>
              <a:t>가 형성됩니다.</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dirty="0"/>
              <a:t>즉, 이 시기의 성장은 몇몇 연구자의 독창성만이 아니라 전후의 </a:t>
            </a:r>
            <a:r>
              <a:rPr lang="ko-KR" altLang="ko-KR" dirty="0" err="1"/>
              <a:t>제도적·사회적</a:t>
            </a:r>
            <a:r>
              <a:rPr lang="ko-KR" altLang="ko-KR" dirty="0"/>
              <a:t> 조건이 함께 만든 결과입니다.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3</a:t>
            </a:fld>
            <a:endParaRPr lang="ko-KR" altLang="en-US"/>
          </a:p>
        </p:txBody>
      </p:sp>
    </p:spTree>
    <p:extLst>
      <p:ext uri="{BB962C8B-B14F-4D97-AF65-F5344CB8AC3E}">
        <p14:creationId xmlns:p14="http://schemas.microsoft.com/office/powerpoint/2010/main" val="3833536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초기 전후 연구는 </a:t>
            </a:r>
            <a:r>
              <a:rPr lang="ko-KR" altLang="ko-KR" dirty="0" err="1"/>
              <a:t>Lewin과</a:t>
            </a:r>
            <a:r>
              <a:rPr lang="ko-KR" altLang="ko-KR" dirty="0"/>
              <a:t> 그의 제자들의 영향을 받아 </a:t>
            </a:r>
            <a:r>
              <a:rPr lang="ko-KR" altLang="ko-KR" sz="1200" kern="1200" dirty="0" err="1">
                <a:solidFill>
                  <a:schemeClr val="tx1"/>
                </a:solidFill>
                <a:latin typeface="+mn-lt"/>
                <a:ea typeface="+mn-ea"/>
                <a:cs typeface="+mn-cs"/>
              </a:rPr>
              <a:t>group</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dynamics</a:t>
            </a:r>
            <a:r>
              <a:rPr lang="ko-KR" altLang="ko-KR" sz="1200" kern="1200" dirty="0">
                <a:solidFill>
                  <a:schemeClr val="tx1"/>
                </a:solidFill>
                <a:latin typeface="+mn-lt"/>
                <a:ea typeface="+mn-ea"/>
                <a:cs typeface="+mn-cs"/>
              </a:rPr>
              <a:t> (집단역학)</a:t>
            </a:r>
            <a:r>
              <a:rPr lang="ko-KR" altLang="ko-KR" dirty="0"/>
              <a:t>, 즉 집단 내부의 과정을 설명하는 데 초점을 두었습니다.</a:t>
            </a:r>
          </a:p>
          <a:p>
            <a:r>
              <a:rPr lang="ko-KR" altLang="ko-KR" dirty="0"/>
              <a:t>예를 들어 </a:t>
            </a:r>
            <a:r>
              <a:rPr lang="ko-KR" altLang="ko-KR" dirty="0" err="1"/>
              <a:t>Festinger의</a:t>
            </a:r>
            <a:r>
              <a:rPr lang="ko-KR" altLang="ko-KR" dirty="0"/>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of </a:t>
            </a:r>
            <a:r>
              <a:rPr lang="ko-KR" altLang="ko-KR" sz="1200" kern="1200" dirty="0" err="1">
                <a:solidFill>
                  <a:schemeClr val="tx1"/>
                </a:solidFill>
                <a:latin typeface="+mn-lt"/>
                <a:ea typeface="+mn-ea"/>
                <a:cs typeface="+mn-cs"/>
              </a:rPr>
              <a:t>informal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communication</a:t>
            </a:r>
            <a:r>
              <a:rPr lang="ko-KR" altLang="ko-KR" sz="1200" kern="1200" dirty="0">
                <a:solidFill>
                  <a:schemeClr val="tx1"/>
                </a:solidFill>
                <a:latin typeface="+mn-lt"/>
                <a:ea typeface="+mn-ea"/>
                <a:cs typeface="+mn-cs"/>
              </a:rPr>
              <a:t> (비공식적 사회적 의사소통 이론)</a:t>
            </a:r>
            <a:r>
              <a:rPr lang="ko-KR" altLang="ko-KR" dirty="0"/>
              <a:t>은 집단 구성원들이 왜 서로 </a:t>
            </a:r>
            <a:r>
              <a:rPr lang="ko-KR" altLang="ko-KR" dirty="0" err="1"/>
              <a:t>의사소통하는지를</a:t>
            </a:r>
            <a:r>
              <a:rPr lang="ko-KR" altLang="ko-KR" dirty="0"/>
              <a:t> 설명합니다.</a:t>
            </a:r>
          </a:p>
          <a:p>
            <a:r>
              <a:rPr lang="ko-KR" altLang="ko-KR" dirty="0"/>
              <a:t>집단 구성원들은 자신의 의견이 맞는지 확인하기 위해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reality</a:t>
            </a:r>
            <a:r>
              <a:rPr lang="ko-KR" altLang="ko-KR" sz="1200" kern="1200" dirty="0">
                <a:solidFill>
                  <a:schemeClr val="tx1"/>
                </a:solidFill>
                <a:latin typeface="+mn-lt"/>
                <a:ea typeface="+mn-ea"/>
                <a:cs typeface="+mn-cs"/>
              </a:rPr>
              <a:t> (사회적 현실)</a:t>
            </a:r>
            <a:r>
              <a:rPr lang="ko-KR" altLang="ko-KR" dirty="0" err="1"/>
              <a:t>를</a:t>
            </a:r>
            <a:r>
              <a:rPr lang="ko-KR" altLang="ko-KR" dirty="0"/>
              <a:t> 형성하고, 집단의 목표를 향해 구성원을 이동시키며, 자신의 감정 상태를 다른 구성원에게 표현합니다. 따라서 의사소통은 단순한 정보전달이 아니라 집단의 합의와 결속을 만드는 과정이 됩니다.</a:t>
            </a:r>
          </a:p>
          <a:p>
            <a:r>
              <a:rPr lang="ko-KR" altLang="ko-KR" dirty="0" err="1"/>
              <a:t>Deutsch는</a:t>
            </a:r>
            <a:r>
              <a:rPr lang="ko-KR" altLang="ko-KR" dirty="0"/>
              <a:t> </a:t>
            </a:r>
            <a:r>
              <a:rPr lang="ko-KR" altLang="ko-KR" sz="1200" kern="1200" dirty="0" err="1">
                <a:solidFill>
                  <a:schemeClr val="tx1"/>
                </a:solidFill>
                <a:latin typeface="+mn-lt"/>
                <a:ea typeface="+mn-ea"/>
                <a:cs typeface="+mn-cs"/>
              </a:rPr>
              <a:t>cooperation</a:t>
            </a:r>
            <a:r>
              <a:rPr lang="ko-KR" altLang="ko-KR" sz="1200" kern="1200" dirty="0">
                <a:solidFill>
                  <a:schemeClr val="tx1"/>
                </a:solidFill>
                <a:latin typeface="+mn-lt"/>
                <a:ea typeface="+mn-ea"/>
                <a:cs typeface="+mn-cs"/>
              </a:rPr>
              <a:t> and </a:t>
            </a:r>
            <a:r>
              <a:rPr lang="ko-KR" altLang="ko-KR" sz="1200" kern="1200" dirty="0" err="1">
                <a:solidFill>
                  <a:schemeClr val="tx1"/>
                </a:solidFill>
                <a:latin typeface="+mn-lt"/>
                <a:ea typeface="+mn-ea"/>
                <a:cs typeface="+mn-cs"/>
              </a:rPr>
              <a:t>competition</a:t>
            </a:r>
            <a:r>
              <a:rPr lang="ko-KR" altLang="ko-KR" sz="1200" kern="1200" dirty="0">
                <a:solidFill>
                  <a:schemeClr val="tx1"/>
                </a:solidFill>
                <a:latin typeface="+mn-lt"/>
                <a:ea typeface="+mn-ea"/>
                <a:cs typeface="+mn-cs"/>
              </a:rPr>
              <a:t> (협동과 경쟁)</a:t>
            </a:r>
            <a:r>
              <a:rPr lang="ko-KR" altLang="ko-KR" dirty="0"/>
              <a:t>을 연구했고, </a:t>
            </a:r>
            <a:r>
              <a:rPr lang="ko-KR" altLang="ko-KR" dirty="0" err="1"/>
              <a:t>Thibaut와</a:t>
            </a:r>
            <a:r>
              <a:rPr lang="ko-KR" altLang="ko-KR" dirty="0"/>
              <a:t> </a:t>
            </a:r>
            <a:r>
              <a:rPr lang="ko-KR" altLang="ko-KR" dirty="0" err="1"/>
              <a:t>Kelley의</a:t>
            </a:r>
            <a:r>
              <a:rPr lang="ko-KR" altLang="ko-KR" dirty="0"/>
              <a:t> </a:t>
            </a:r>
            <a:r>
              <a:rPr lang="ko-KR" altLang="ko-KR" sz="1200" kern="1200" dirty="0" err="1">
                <a:solidFill>
                  <a:schemeClr val="tx1"/>
                </a:solidFill>
                <a:latin typeface="+mn-lt"/>
                <a:ea typeface="+mn-ea"/>
                <a:cs typeface="+mn-cs"/>
              </a:rPr>
              <a:t>interdependence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(상호의존이론)</a:t>
            </a:r>
            <a:r>
              <a:rPr lang="ko-KR" altLang="ko-KR" dirty="0"/>
              <a:t>는 한 사람의 결과가 다른 사람의 선택에 어떻게 의존하는지를 설명했습니다.</a:t>
            </a:r>
          </a:p>
          <a:p>
            <a:r>
              <a:rPr lang="ko-KR" altLang="ko-KR" dirty="0"/>
              <a:t>이 시기의 분석단위는 개인 한 </a:t>
            </a:r>
            <a:r>
              <a:rPr lang="ko-KR" altLang="ko-KR" dirty="0" err="1"/>
              <a:t>명이라기보다</a:t>
            </a:r>
            <a:r>
              <a:rPr lang="ko-KR" altLang="ko-KR" dirty="0"/>
              <a:t>, 개인들이 서로 영향을 주고받는 관계와 집단 구조였다고 정리할 수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4</a:t>
            </a:fld>
            <a:endParaRPr lang="ko-KR" altLang="en-US"/>
          </a:p>
        </p:txBody>
      </p:sp>
    </p:spTree>
    <p:extLst>
      <p:ext uri="{BB962C8B-B14F-4D97-AF65-F5344CB8AC3E}">
        <p14:creationId xmlns:p14="http://schemas.microsoft.com/office/powerpoint/2010/main" val="213557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하지만 1960년대 중반 이후 미국 사회심리학의 초점은 집단 그 자체보다 “집단이 개인에게 어떤 영향을 </a:t>
            </a:r>
            <a:r>
              <a:rPr lang="ko-KR" altLang="ko-KR" dirty="0" err="1"/>
              <a:t>미치는가?”로</a:t>
            </a:r>
            <a:r>
              <a:rPr lang="ko-KR" altLang="ko-KR" dirty="0"/>
              <a:t> 이동합니다.</a:t>
            </a:r>
          </a:p>
          <a:p>
            <a:r>
              <a:rPr lang="ko-KR" altLang="ko-KR" dirty="0"/>
              <a:t>이 과정에서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influence</a:t>
            </a:r>
            <a:r>
              <a:rPr lang="ko-KR" altLang="ko-KR" sz="1200" kern="1200" dirty="0">
                <a:solidFill>
                  <a:schemeClr val="tx1"/>
                </a:solidFill>
                <a:latin typeface="+mn-lt"/>
                <a:ea typeface="+mn-ea"/>
                <a:cs typeface="+mn-cs"/>
              </a:rPr>
              <a:t> (사회적 영향)</a:t>
            </a:r>
            <a:r>
              <a:rPr lang="ko-KR" altLang="ko-KR" dirty="0"/>
              <a:t> 연구가 중심 영역으로 부상합니다.</a:t>
            </a:r>
          </a:p>
          <a:p>
            <a:r>
              <a:rPr lang="ko-KR" altLang="ko-KR" sz="1200" kern="1200" dirty="0" err="1">
                <a:solidFill>
                  <a:schemeClr val="tx1"/>
                </a:solidFill>
                <a:latin typeface="+mn-lt"/>
                <a:ea typeface="+mn-ea"/>
                <a:cs typeface="+mn-cs"/>
              </a:rPr>
              <a:t>Risky</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shift</a:t>
            </a:r>
            <a:r>
              <a:rPr lang="ko-KR" altLang="ko-KR" sz="1200" kern="1200" dirty="0">
                <a:solidFill>
                  <a:schemeClr val="tx1"/>
                </a:solidFill>
                <a:latin typeface="+mn-lt"/>
                <a:ea typeface="+mn-ea"/>
                <a:cs typeface="+mn-cs"/>
              </a:rPr>
              <a:t> (위험이행 현상)</a:t>
            </a:r>
            <a:r>
              <a:rPr lang="ko-KR" altLang="ko-KR" dirty="0"/>
              <a:t>는 개인이 혼자 결정할 때보다 집단에서 더 위험한 결정을 내리는 현상입니다. </a:t>
            </a:r>
            <a:r>
              <a:rPr lang="ko-KR" altLang="ko-KR" dirty="0" err="1"/>
              <a:t>Asch의</a:t>
            </a:r>
            <a:r>
              <a:rPr lang="ko-KR" altLang="ko-KR" dirty="0"/>
              <a:t> 동조 실험은 집단의 판단이 명백히 틀린 상황에서도 개인이 다수 의견에 동조할 수 있음을 보여주었습니다.</a:t>
            </a:r>
          </a:p>
          <a:p>
            <a:r>
              <a:rPr lang="ko-KR" altLang="ko-KR" dirty="0"/>
              <a:t>여기서 동조는 두 가지로 구분할 수 있습니다. 집단의 판단을 실제로 옳다고 받아들이는 것은 </a:t>
            </a:r>
            <a:r>
              <a:rPr lang="ko-KR" altLang="ko-KR" sz="1200" kern="1200" dirty="0" err="1">
                <a:solidFill>
                  <a:schemeClr val="tx1"/>
                </a:solidFill>
                <a:latin typeface="+mn-lt"/>
                <a:ea typeface="+mn-ea"/>
                <a:cs typeface="+mn-cs"/>
              </a:rPr>
              <a:t>private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acceptance</a:t>
            </a:r>
            <a:r>
              <a:rPr lang="ko-KR" altLang="ko-KR" sz="1200" kern="1200" dirty="0">
                <a:solidFill>
                  <a:schemeClr val="tx1"/>
                </a:solidFill>
                <a:latin typeface="+mn-lt"/>
                <a:ea typeface="+mn-ea"/>
                <a:cs typeface="+mn-cs"/>
              </a:rPr>
              <a:t> 또는 </a:t>
            </a:r>
            <a:r>
              <a:rPr lang="ko-KR" altLang="ko-KR" sz="1200" kern="1200" dirty="0" err="1">
                <a:solidFill>
                  <a:schemeClr val="tx1"/>
                </a:solidFill>
                <a:latin typeface="+mn-lt"/>
                <a:ea typeface="+mn-ea"/>
                <a:cs typeface="+mn-cs"/>
              </a:rPr>
              <a:t>informational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conformity</a:t>
            </a:r>
            <a:r>
              <a:rPr lang="ko-KR" altLang="ko-KR" sz="1200" kern="1200" dirty="0">
                <a:solidFill>
                  <a:schemeClr val="tx1"/>
                </a:solidFill>
                <a:latin typeface="+mn-lt"/>
                <a:ea typeface="+mn-ea"/>
                <a:cs typeface="+mn-cs"/>
              </a:rPr>
              <a:t> (사적 수용 또는 정보적 동조)</a:t>
            </a:r>
            <a:r>
              <a:rPr lang="ko-KR" altLang="ko-KR" dirty="0"/>
              <a:t>이고, 속으로는 동의하지 않으면서 겉으로만 따르는 것은 </a:t>
            </a:r>
            <a:r>
              <a:rPr lang="ko-KR" altLang="ko-KR" sz="1200" kern="1200" dirty="0" err="1">
                <a:solidFill>
                  <a:schemeClr val="tx1"/>
                </a:solidFill>
                <a:latin typeface="+mn-lt"/>
                <a:ea typeface="+mn-ea"/>
                <a:cs typeface="+mn-cs"/>
              </a:rPr>
              <a:t>public</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compliance</a:t>
            </a:r>
            <a:r>
              <a:rPr lang="ko-KR" altLang="ko-KR" sz="1200" kern="1200" dirty="0">
                <a:solidFill>
                  <a:schemeClr val="tx1"/>
                </a:solidFill>
                <a:latin typeface="+mn-lt"/>
                <a:ea typeface="+mn-ea"/>
                <a:cs typeface="+mn-cs"/>
              </a:rPr>
              <a:t> 또는 </a:t>
            </a:r>
            <a:r>
              <a:rPr lang="ko-KR" altLang="ko-KR" sz="1200" kern="1200" dirty="0" err="1">
                <a:solidFill>
                  <a:schemeClr val="tx1"/>
                </a:solidFill>
                <a:latin typeface="+mn-lt"/>
                <a:ea typeface="+mn-ea"/>
                <a:cs typeface="+mn-cs"/>
              </a:rPr>
              <a:t>normative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conformity</a:t>
            </a:r>
            <a:r>
              <a:rPr lang="ko-KR" altLang="ko-KR" sz="1200" kern="1200" dirty="0">
                <a:solidFill>
                  <a:schemeClr val="tx1"/>
                </a:solidFill>
                <a:latin typeface="+mn-lt"/>
                <a:ea typeface="+mn-ea"/>
                <a:cs typeface="+mn-cs"/>
              </a:rPr>
              <a:t> (공적 순응 또는 규범적 동조)</a:t>
            </a:r>
            <a:r>
              <a:rPr lang="ko-KR" altLang="ko-KR" dirty="0"/>
              <a:t>입니다.</a:t>
            </a:r>
          </a:p>
          <a:p>
            <a:r>
              <a:rPr lang="ko-KR" altLang="ko-KR" dirty="0"/>
              <a:t>그리고 이 사회적 영향 연구가 가장 극단적으로 나타난 사례가 </a:t>
            </a:r>
            <a:r>
              <a:rPr lang="ko-KR" altLang="ko-KR" dirty="0" err="1"/>
              <a:t>Milgram의</a:t>
            </a:r>
            <a:r>
              <a:rPr lang="ko-KR" altLang="ko-KR" dirty="0"/>
              <a:t> </a:t>
            </a:r>
            <a:r>
              <a:rPr lang="ko-KR" altLang="ko-KR" sz="1200" kern="1200" dirty="0" err="1">
                <a:solidFill>
                  <a:schemeClr val="tx1"/>
                </a:solidFill>
                <a:latin typeface="+mn-lt"/>
                <a:ea typeface="+mn-ea"/>
                <a:cs typeface="+mn-cs"/>
              </a:rPr>
              <a:t>obedience</a:t>
            </a:r>
            <a:r>
              <a:rPr lang="ko-KR" altLang="ko-KR" sz="1200" kern="1200" dirty="0">
                <a:solidFill>
                  <a:schemeClr val="tx1"/>
                </a:solidFill>
                <a:latin typeface="+mn-lt"/>
                <a:ea typeface="+mn-ea"/>
                <a:cs typeface="+mn-cs"/>
              </a:rPr>
              <a:t> (복종)</a:t>
            </a:r>
            <a:r>
              <a:rPr lang="ko-KR" altLang="ko-KR" dirty="0"/>
              <a:t> 연구입니다.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5</a:t>
            </a:fld>
            <a:endParaRPr lang="ko-KR" altLang="en-US"/>
          </a:p>
        </p:txBody>
      </p:sp>
    </p:spTree>
    <p:extLst>
      <p:ext uri="{BB962C8B-B14F-4D97-AF65-F5344CB8AC3E}">
        <p14:creationId xmlns:p14="http://schemas.microsoft.com/office/powerpoint/2010/main" val="859752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이 지점에서 첫 번째 토론으로 넘어가겠습니다.</a:t>
            </a:r>
          </a:p>
          <a:p>
            <a:r>
              <a:rPr lang="ko-KR" altLang="ko-KR" dirty="0" err="1"/>
              <a:t>Milgram의</a:t>
            </a:r>
            <a:r>
              <a:rPr lang="ko-KR" altLang="ko-KR" dirty="0"/>
              <a:t> 원 실험에서 참가자 40명은 </a:t>
            </a:r>
            <a:r>
              <a:rPr lang="ko-KR" altLang="ko-KR" sz="1200" kern="1200" dirty="0" err="1">
                <a:solidFill>
                  <a:schemeClr val="tx1"/>
                </a:solidFill>
                <a:latin typeface="+mn-lt"/>
                <a:ea typeface="+mn-ea"/>
                <a:cs typeface="+mn-cs"/>
              </a:rPr>
              <a:t>teacher</a:t>
            </a:r>
            <a:r>
              <a:rPr lang="ko-KR" altLang="ko-KR" sz="1200" kern="1200" dirty="0">
                <a:solidFill>
                  <a:schemeClr val="tx1"/>
                </a:solidFill>
                <a:latin typeface="+mn-lt"/>
                <a:ea typeface="+mn-ea"/>
                <a:cs typeface="+mn-cs"/>
              </a:rPr>
              <a:t> (교사)</a:t>
            </a:r>
            <a:r>
              <a:rPr lang="ko-KR" altLang="ko-KR" dirty="0"/>
              <a:t> 역할을 맡았습니다. 참가자는 학습자가 오답을 말할 때마다 15볼트부터 450볼트까지 충격을 한 단계씩 높이라는 지시를 받았습니다.</a:t>
            </a:r>
          </a:p>
          <a:p>
            <a:r>
              <a:rPr lang="ko-KR" altLang="ko-KR" dirty="0"/>
              <a:t>실제 충격은 없었지만 참가자는 학습자가 고통을 받고 있다고 믿었습니다. 학습자가 항의하고 이후 응답을 중단했음에도 실험자는 네 단계의 표준화된 지시를 사용해 계속 진행하도록 요구했습니다.</a:t>
            </a:r>
          </a:p>
          <a:p>
            <a:r>
              <a:rPr lang="ko-KR" altLang="ko-KR" dirty="0"/>
              <a:t>결과적으로 40명 중 26명, 즉 65%가 마지막 450볼트까지 진행했습니다. 상당수 참가자는 강한 긴장과 스트레스를 보이면서도 실험자의 지시에 따랐습니다.</a:t>
            </a:r>
          </a:p>
          <a:p>
            <a:r>
              <a:rPr lang="ko-KR" altLang="ko-KR" dirty="0"/>
              <a:t>이 연구의 가치는 단순히 “65%가 </a:t>
            </a:r>
            <a:r>
              <a:rPr lang="ko-KR" altLang="ko-KR" dirty="0" err="1"/>
              <a:t>복종했다”는</a:t>
            </a:r>
            <a:r>
              <a:rPr lang="ko-KR" altLang="ko-KR" dirty="0"/>
              <a:t> 충격적인 수치에만 있지 않습니다. 피해자와의 거리, 권위자의 거리, 동료의 불복종처럼 어떤 조건에서 복종이 증가하거나 감소하는지를 실험적으로 확인했다는 데 더 큰 가치가 있습니다.</a:t>
            </a:r>
          </a:p>
          <a:p>
            <a:r>
              <a:rPr lang="ko-KR" altLang="ko-KR" dirty="0"/>
              <a:t>즉, 사람은 원래 악하기 때문에 복종하는 것이 아니라, 특정한 상황적 조건이 평범한 사람의 행동을 크게 변화시킬 수 있다는 것을 보여준 것입니다.</a:t>
            </a:r>
          </a:p>
          <a:p>
            <a:r>
              <a:rPr lang="ko-KR" altLang="ko-KR" dirty="0"/>
              <a:t>하지만 오늘날 IRB 관점에서 보면 문제가 </a:t>
            </a:r>
            <a:r>
              <a:rPr lang="ko-KR" altLang="ko-KR" dirty="0" err="1"/>
              <a:t>복잡해집니다</a:t>
            </a:r>
            <a:r>
              <a:rPr lang="ko-KR" altLang="ko-KR" dirty="0"/>
              <a:t>. 연구의 진짜 목적을 알려주면 요구 특성이 발생해 동일한 현상을 측정하기 어렵지만, 목적을 숨기면 참가자의 자율성과 철회권이 약해집니다. 실제 충격이 없더라도 다른 사람에게 심각한 </a:t>
            </a:r>
            <a:r>
              <a:rPr lang="ko-KR" altLang="ko-KR" dirty="0" err="1"/>
              <a:t>위해를</a:t>
            </a:r>
            <a:r>
              <a:rPr lang="ko-KR" altLang="ko-KR" dirty="0"/>
              <a:t> 가했다고 믿게 만드는 경험 자체가 심리적 위해가 될 수 있습니다.</a:t>
            </a:r>
          </a:p>
          <a:p>
            <a:r>
              <a:rPr lang="ko-KR" altLang="ko-KR" dirty="0"/>
              <a:t>따라서 이 사례의 핵심은 연구의 과학적 가치와 참가자 보호 가운데 하나를 단순히 선택하는 것이 아니라, 어떤 위험이 실제로 연구에 필요한지를 판단하는 것입니다.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6</a:t>
            </a:fld>
            <a:endParaRPr lang="ko-KR" altLang="en-US"/>
          </a:p>
        </p:txBody>
      </p:sp>
    </p:spTree>
    <p:extLst>
      <p:ext uri="{BB962C8B-B14F-4D97-AF65-F5344CB8AC3E}">
        <p14:creationId xmlns:p14="http://schemas.microsoft.com/office/powerpoint/2010/main" val="3233919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이 문제에 대한 현실적인 절충 사례가 </a:t>
            </a:r>
            <a:r>
              <a:rPr lang="ko-KR" altLang="ko-KR" dirty="0" err="1"/>
              <a:t>Burger의</a:t>
            </a:r>
            <a:r>
              <a:rPr lang="ko-KR" altLang="ko-KR" dirty="0"/>
              <a:t> 2009년 연구입니다.</a:t>
            </a:r>
          </a:p>
          <a:p>
            <a:r>
              <a:rPr lang="ko-KR" altLang="ko-KR" dirty="0" err="1"/>
              <a:t>Burger는</a:t>
            </a:r>
            <a:r>
              <a:rPr lang="ko-KR" altLang="ko-KR" dirty="0"/>
              <a:t> 밀그램의 실험을 450볼트까지 진행하지 않고, 학습자가 처음 강하게 항의하는 150볼트에서 중단했습니다. 또한 불안과 우울 척도를 실시하고 임상심리학자가 참가자를 면담하여, 부정적인 반응을 보일 가능성이 있는 사람을 사전에 제외했습니다.</a:t>
            </a:r>
          </a:p>
          <a:p>
            <a:r>
              <a:rPr lang="ko-KR" altLang="ko-KR" dirty="0"/>
              <a:t>참가자에게 언제든 연구를 중단할 수 있고, 중단하더라도 보상을 받을 수 있다는 점도 반복적으로 안내했습니다. 실험이 끝난 직후에는 실제 충격이 없었다는 사실을 설명했습니다.</a:t>
            </a:r>
          </a:p>
          <a:p>
            <a:r>
              <a:rPr lang="ko-KR" altLang="ko-KR" dirty="0"/>
              <a:t>이렇게 참가자 보호를 강화했지만, 기본 조건 참가자의 약 70%는 150볼트 이후에도 계속하려고 했습니다.</a:t>
            </a:r>
          </a:p>
          <a:p>
            <a:r>
              <a:rPr lang="ko-KR" altLang="ko-KR" dirty="0"/>
              <a:t>다만 이 연구에서는 참가자가 실제로 어디까지 진행하는지는 알 수 없습니다. 측정된 종속변수는 </a:t>
            </a:r>
            <a:r>
              <a:rPr lang="ko-KR" altLang="ko-KR" sz="1200" kern="1200" dirty="0" err="1">
                <a:solidFill>
                  <a:schemeClr val="tx1"/>
                </a:solidFill>
                <a:latin typeface="+mn-lt"/>
                <a:ea typeface="+mn-ea"/>
                <a:cs typeface="+mn-cs"/>
              </a:rPr>
              <a:t>maximum</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obedience</a:t>
            </a:r>
            <a:r>
              <a:rPr lang="ko-KR" altLang="ko-KR" sz="1200" kern="1200" dirty="0">
                <a:solidFill>
                  <a:schemeClr val="tx1"/>
                </a:solidFill>
                <a:latin typeface="+mn-lt"/>
                <a:ea typeface="+mn-ea"/>
                <a:cs typeface="+mn-cs"/>
              </a:rPr>
              <a:t> (최대 복종 수준)</a:t>
            </a:r>
            <a:r>
              <a:rPr lang="ko-KR" altLang="ko-KR" dirty="0"/>
              <a:t>가 아니라 </a:t>
            </a:r>
            <a:r>
              <a:rPr lang="ko-KR" altLang="ko-KR" sz="1200" kern="1200" dirty="0" err="1">
                <a:solidFill>
                  <a:schemeClr val="tx1"/>
                </a:solidFill>
                <a:latin typeface="+mn-lt"/>
                <a:ea typeface="+mn-ea"/>
                <a:cs typeface="+mn-cs"/>
              </a:rPr>
              <a:t>attempt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to</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continue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beyond</a:t>
            </a:r>
            <a:r>
              <a:rPr lang="ko-KR" altLang="ko-KR" sz="1200" kern="1200" dirty="0">
                <a:solidFill>
                  <a:schemeClr val="tx1"/>
                </a:solidFill>
                <a:latin typeface="+mn-lt"/>
                <a:ea typeface="+mn-ea"/>
                <a:cs typeface="+mn-cs"/>
              </a:rPr>
              <a:t> 150 </a:t>
            </a:r>
            <a:r>
              <a:rPr lang="ko-KR" altLang="ko-KR" sz="1200" kern="1200" dirty="0" err="1">
                <a:solidFill>
                  <a:schemeClr val="tx1"/>
                </a:solidFill>
                <a:latin typeface="+mn-lt"/>
                <a:ea typeface="+mn-ea"/>
                <a:cs typeface="+mn-cs"/>
              </a:rPr>
              <a:t>volts</a:t>
            </a:r>
            <a:r>
              <a:rPr lang="ko-KR" altLang="ko-KR" sz="1200" kern="1200" dirty="0">
                <a:solidFill>
                  <a:schemeClr val="tx1"/>
                </a:solidFill>
                <a:latin typeface="+mn-lt"/>
                <a:ea typeface="+mn-ea"/>
                <a:cs typeface="+mn-cs"/>
              </a:rPr>
              <a:t> (150볼트 이후 계속하려는 행동)</a:t>
            </a:r>
            <a:r>
              <a:rPr lang="ko-KR" altLang="ko-KR" dirty="0"/>
              <a:t>으로 달라졌습니다.</a:t>
            </a:r>
          </a:p>
          <a:p>
            <a:r>
              <a:rPr lang="ko-KR" altLang="ko-KR" dirty="0"/>
              <a:t>[청중을 보며]</a:t>
            </a:r>
          </a:p>
          <a:p>
            <a:r>
              <a:rPr lang="ko-KR" altLang="ko-KR" dirty="0"/>
              <a:t>여기서 먼저 </a:t>
            </a:r>
            <a:r>
              <a:rPr lang="ko-KR" altLang="ko-KR" dirty="0" err="1"/>
              <a:t>질문드리겠습니다</a:t>
            </a:r>
            <a:r>
              <a:rPr lang="ko-KR" altLang="ko-KR" dirty="0"/>
              <a:t>. 여러분이 IRB 위원이라면 밀그램의 원형 실험, </a:t>
            </a:r>
            <a:r>
              <a:rPr lang="ko-KR" altLang="ko-KR" dirty="0" err="1"/>
              <a:t>Burger의</a:t>
            </a:r>
            <a:r>
              <a:rPr lang="ko-KR" altLang="ko-KR" dirty="0"/>
              <a:t> 150볼트 실험, 그리고 가상현실을 이용한 실험 가운데 어디까지 승인할 수 있을까요?</a:t>
            </a:r>
          </a:p>
          <a:p>
            <a:r>
              <a:rPr lang="ko-KR" altLang="ko-KR" dirty="0"/>
              <a:t>그리고 원래의 권위자 압력, </a:t>
            </a:r>
            <a:r>
              <a:rPr lang="ko-KR" altLang="ko-KR" dirty="0" err="1"/>
              <a:t>위해에</a:t>
            </a:r>
            <a:r>
              <a:rPr lang="ko-KR" altLang="ko-KR" dirty="0"/>
              <a:t> 대한 믿음, 450볼트까지의 진행 중에서 어떤 요소가 제거되면 더 이상 동일한 복종 연구가 아니라고 생각하십니까?</a:t>
            </a:r>
          </a:p>
          <a:p>
            <a:r>
              <a:rPr lang="ko-KR" altLang="ko-KR" dirty="0"/>
              <a:t>[의견을 2~3개 받은 뒤]</a:t>
            </a:r>
          </a:p>
          <a:p>
            <a:r>
              <a:rPr lang="ko-KR" altLang="ko-KR" dirty="0"/>
              <a:t>이 질문에 하나의 정답이 있는 것은 아닙니다. 중요한 것은 “</a:t>
            </a:r>
            <a:r>
              <a:rPr lang="ko-KR" altLang="ko-KR" dirty="0" err="1"/>
              <a:t>밀그램</a:t>
            </a:r>
            <a:r>
              <a:rPr lang="ko-KR" altLang="ko-KR" dirty="0"/>
              <a:t> 연구가 </a:t>
            </a:r>
            <a:r>
              <a:rPr lang="ko-KR" altLang="ko-KR" dirty="0" err="1"/>
              <a:t>윤리적인가”만</a:t>
            </a:r>
            <a:r>
              <a:rPr lang="ko-KR" altLang="ko-KR" dirty="0"/>
              <a:t> 묻는 것이 아니라, </a:t>
            </a:r>
            <a:r>
              <a:rPr lang="ko-KR" altLang="ko-KR" sz="1200" kern="1200" dirty="0" err="1">
                <a:solidFill>
                  <a:schemeClr val="tx1"/>
                </a:solidFill>
                <a:latin typeface="+mn-lt"/>
                <a:ea typeface="+mn-ea"/>
                <a:cs typeface="+mn-cs"/>
              </a:rPr>
              <a:t>Which</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risk</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is</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necessary</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for</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which</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inference</a:t>
            </a:r>
            <a:r>
              <a:rPr lang="ko-KR" altLang="ko-KR" sz="1200" kern="1200" dirty="0">
                <a:solidFill>
                  <a:schemeClr val="tx1"/>
                </a:solidFill>
                <a:latin typeface="+mn-lt"/>
                <a:ea typeface="+mn-ea"/>
                <a:cs typeface="+mn-cs"/>
              </a:rPr>
              <a:t>?</a:t>
            </a:r>
            <a:r>
              <a:rPr lang="ko-KR" altLang="ko-KR" dirty="0"/>
              <a:t>, 즉 어떤 결론을 내리기 위해 어떤 위험이 반드시 필요한지를 구분하는 것입니다.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7</a:t>
            </a:fld>
            <a:endParaRPr lang="ko-KR" altLang="en-US"/>
          </a:p>
        </p:txBody>
      </p:sp>
    </p:spTree>
    <p:extLst>
      <p:ext uri="{BB962C8B-B14F-4D97-AF65-F5344CB8AC3E}">
        <p14:creationId xmlns:p14="http://schemas.microsoft.com/office/powerpoint/2010/main" val="1320857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이제 전후 사회심리학의 연구 범위가 어떻게 확장되었는지 살펴보겠습니다.</a:t>
            </a:r>
          </a:p>
          <a:p>
            <a:r>
              <a:rPr lang="ko-KR" altLang="ko-KR" dirty="0"/>
              <a:t>집단과 복종에서 출발한 연구는 태도와 사회비교, 사람 지각, 인지부조화, 정서, 관계과학, 그리고 개인과 상황의 상호작용으로 확장됩니다.</a:t>
            </a:r>
          </a:p>
          <a:p>
            <a:r>
              <a:rPr lang="ko-KR" altLang="ko-KR" dirty="0"/>
              <a:t>공통점은 분석의 중심이 점차 집단 구조에서 개인의 판단과 해석 과정으로 이동했다는 것입니다.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8</a:t>
            </a:fld>
            <a:endParaRPr lang="ko-KR" altLang="en-US"/>
          </a:p>
        </p:txBody>
      </p:sp>
    </p:spTree>
    <p:extLst>
      <p:ext uri="{BB962C8B-B14F-4D97-AF65-F5344CB8AC3E}">
        <p14:creationId xmlns:p14="http://schemas.microsoft.com/office/powerpoint/2010/main" val="1453987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먼저 태도 연구에서는 </a:t>
            </a:r>
            <a:r>
              <a:rPr lang="ko-KR" altLang="ko-KR" dirty="0" err="1"/>
              <a:t>Hovland를</a:t>
            </a:r>
            <a:r>
              <a:rPr lang="ko-KR" altLang="ko-KR" dirty="0"/>
              <a:t> 중심으로 </a:t>
            </a:r>
            <a:r>
              <a:rPr lang="ko-KR" altLang="ko-KR" dirty="0" err="1"/>
              <a:t>Yale</a:t>
            </a:r>
            <a:r>
              <a:rPr lang="ko-KR" altLang="ko-KR" dirty="0"/>
              <a:t> </a:t>
            </a:r>
            <a:r>
              <a:rPr lang="ko-KR" altLang="ko-KR" dirty="0" err="1"/>
              <a:t>Communication</a:t>
            </a:r>
            <a:r>
              <a:rPr lang="ko-KR" altLang="ko-KR" dirty="0"/>
              <a:t> and </a:t>
            </a:r>
            <a:r>
              <a:rPr lang="ko-KR" altLang="ko-KR" dirty="0" err="1"/>
              <a:t>Attitude</a:t>
            </a:r>
            <a:r>
              <a:rPr lang="ko-KR" altLang="ko-KR" dirty="0"/>
              <a:t> </a:t>
            </a:r>
            <a:r>
              <a:rPr lang="ko-KR" altLang="ko-KR" dirty="0" err="1"/>
              <a:t>Change</a:t>
            </a:r>
            <a:r>
              <a:rPr lang="ko-KR" altLang="ko-KR" dirty="0"/>
              <a:t> </a:t>
            </a:r>
            <a:r>
              <a:rPr lang="ko-KR" altLang="ko-KR" dirty="0" err="1"/>
              <a:t>Program이</a:t>
            </a:r>
            <a:r>
              <a:rPr lang="ko-KR" altLang="ko-KR" dirty="0"/>
              <a:t> 진행되었습니다.</a:t>
            </a:r>
          </a:p>
          <a:p>
            <a:r>
              <a:rPr lang="ko-KR" altLang="ko-KR" dirty="0"/>
              <a:t>이 연구 프로그램의 대표적인 질문은 </a:t>
            </a:r>
            <a:r>
              <a:rPr lang="ko-KR" altLang="ko-KR" sz="1200" kern="1200" dirty="0" err="1">
                <a:solidFill>
                  <a:schemeClr val="tx1"/>
                </a:solidFill>
                <a:latin typeface="+mn-lt"/>
                <a:ea typeface="+mn-ea"/>
                <a:cs typeface="+mn-cs"/>
              </a:rPr>
              <a:t>Who</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says</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what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to</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whom</a:t>
            </a:r>
            <a:r>
              <a:rPr lang="ko-KR" altLang="ko-KR" sz="1200" kern="1200" dirty="0">
                <a:solidFill>
                  <a:schemeClr val="tx1"/>
                </a:solidFill>
                <a:latin typeface="+mn-lt"/>
                <a:ea typeface="+mn-ea"/>
                <a:cs typeface="+mn-cs"/>
              </a:rPr>
              <a:t>, and </a:t>
            </a:r>
            <a:r>
              <a:rPr lang="ko-KR" altLang="ko-KR" sz="1200" kern="1200" dirty="0" err="1">
                <a:solidFill>
                  <a:schemeClr val="tx1"/>
                </a:solidFill>
                <a:latin typeface="+mn-lt"/>
                <a:ea typeface="+mn-ea"/>
                <a:cs typeface="+mn-cs"/>
              </a:rPr>
              <a:t>with</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what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effect</a:t>
            </a:r>
            <a:r>
              <a:rPr lang="ko-KR" altLang="ko-KR" sz="1200" kern="1200" dirty="0">
                <a:solidFill>
                  <a:schemeClr val="tx1"/>
                </a:solidFill>
                <a:latin typeface="+mn-lt"/>
                <a:ea typeface="+mn-ea"/>
                <a:cs typeface="+mn-cs"/>
              </a:rPr>
              <a:t>?</a:t>
            </a:r>
            <a:r>
              <a:rPr lang="ko-KR" altLang="ko-KR" dirty="0"/>
              <a:t>, 즉 누가 무엇을 누구에게 말할 때 어떤 효과가 </a:t>
            </a:r>
            <a:r>
              <a:rPr lang="ko-KR" altLang="ko-KR" dirty="0" err="1"/>
              <a:t>나타나는가입니다</a:t>
            </a:r>
            <a:r>
              <a:rPr lang="ko-KR" altLang="ko-KR" dirty="0"/>
              <a:t>.</a:t>
            </a:r>
          </a:p>
          <a:p>
            <a:r>
              <a:rPr lang="ko-KR" altLang="ko-KR" sz="1200" kern="1200" dirty="0" err="1">
                <a:solidFill>
                  <a:schemeClr val="tx1"/>
                </a:solidFill>
                <a:latin typeface="+mn-lt"/>
                <a:ea typeface="+mn-ea"/>
                <a:cs typeface="+mn-cs"/>
              </a:rPr>
              <a:t>Who</a:t>
            </a:r>
            <a:r>
              <a:rPr lang="ko-KR" altLang="ko-KR" sz="1200" kern="1200" dirty="0">
                <a:solidFill>
                  <a:schemeClr val="tx1"/>
                </a:solidFill>
                <a:latin typeface="+mn-lt"/>
                <a:ea typeface="+mn-ea"/>
                <a:cs typeface="+mn-cs"/>
              </a:rPr>
              <a:t> 또는 </a:t>
            </a:r>
            <a:r>
              <a:rPr lang="ko-KR" altLang="ko-KR" sz="1200" kern="1200" dirty="0" err="1">
                <a:solidFill>
                  <a:schemeClr val="tx1"/>
                </a:solidFill>
                <a:latin typeface="+mn-lt"/>
                <a:ea typeface="+mn-ea"/>
                <a:cs typeface="+mn-cs"/>
              </a:rPr>
              <a:t>source</a:t>
            </a:r>
            <a:r>
              <a:rPr lang="ko-KR" altLang="ko-KR" sz="1200" kern="1200" dirty="0">
                <a:solidFill>
                  <a:schemeClr val="tx1"/>
                </a:solidFill>
                <a:latin typeface="+mn-lt"/>
                <a:ea typeface="+mn-ea"/>
                <a:cs typeface="+mn-cs"/>
              </a:rPr>
              <a:t> (정보원)</a:t>
            </a:r>
            <a:r>
              <a:rPr lang="ko-KR" altLang="ko-KR" dirty="0"/>
              <a:t>의 측면에서는 발신자의 전문성과 신뢰성이 높을수록 설득력이 커지고, 매력적이거나 호감이 가는 발신자일수록 태도 변화가 잘 나타납니다.</a:t>
            </a:r>
          </a:p>
          <a:p>
            <a:r>
              <a:rPr lang="ko-KR" altLang="ko-KR" sz="1200" kern="1200" dirty="0" err="1">
                <a:solidFill>
                  <a:schemeClr val="tx1"/>
                </a:solidFill>
                <a:latin typeface="+mn-lt"/>
                <a:ea typeface="+mn-ea"/>
                <a:cs typeface="+mn-cs"/>
              </a:rPr>
              <a:t>What</a:t>
            </a:r>
            <a:r>
              <a:rPr lang="ko-KR" altLang="ko-KR" sz="1200" kern="1200" dirty="0">
                <a:solidFill>
                  <a:schemeClr val="tx1"/>
                </a:solidFill>
                <a:latin typeface="+mn-lt"/>
                <a:ea typeface="+mn-ea"/>
                <a:cs typeface="+mn-cs"/>
              </a:rPr>
              <a:t> 또는 </a:t>
            </a:r>
            <a:r>
              <a:rPr lang="ko-KR" altLang="ko-KR" sz="1200" kern="1200" dirty="0" err="1">
                <a:solidFill>
                  <a:schemeClr val="tx1"/>
                </a:solidFill>
                <a:latin typeface="+mn-lt"/>
                <a:ea typeface="+mn-ea"/>
                <a:cs typeface="+mn-cs"/>
              </a:rPr>
              <a:t>message</a:t>
            </a:r>
            <a:r>
              <a:rPr lang="ko-KR" altLang="ko-KR" sz="1200" kern="1200" dirty="0">
                <a:solidFill>
                  <a:schemeClr val="tx1"/>
                </a:solidFill>
                <a:latin typeface="+mn-lt"/>
                <a:ea typeface="+mn-ea"/>
                <a:cs typeface="+mn-cs"/>
              </a:rPr>
              <a:t> (메시지)</a:t>
            </a:r>
            <a:r>
              <a:rPr lang="ko-KR" altLang="ko-KR" dirty="0"/>
              <a:t>에서는 공포를 지나치게 강하게 제시하는 것보다 적정 수준의 공포를 제시하는 것이 효과적일 수 있고, 청중에 따라 일방 주장과 양측 주장의 효과가 달라집니다.</a:t>
            </a:r>
          </a:p>
          <a:p>
            <a:r>
              <a:rPr lang="ko-KR" altLang="ko-KR" sz="1200" kern="1200" dirty="0" err="1">
                <a:solidFill>
                  <a:schemeClr val="tx1"/>
                </a:solidFill>
                <a:latin typeface="+mn-lt"/>
                <a:ea typeface="+mn-ea"/>
                <a:cs typeface="+mn-cs"/>
              </a:rPr>
              <a:t>Whom</a:t>
            </a:r>
            <a:r>
              <a:rPr lang="ko-KR" altLang="ko-KR" sz="1200" kern="1200" dirty="0">
                <a:solidFill>
                  <a:schemeClr val="tx1"/>
                </a:solidFill>
                <a:latin typeface="+mn-lt"/>
                <a:ea typeface="+mn-ea"/>
                <a:cs typeface="+mn-cs"/>
              </a:rPr>
              <a:t> 또는 </a:t>
            </a:r>
            <a:r>
              <a:rPr lang="ko-KR" altLang="ko-KR" sz="1200" kern="1200" dirty="0" err="1">
                <a:solidFill>
                  <a:schemeClr val="tx1"/>
                </a:solidFill>
                <a:latin typeface="+mn-lt"/>
                <a:ea typeface="+mn-ea"/>
                <a:cs typeface="+mn-cs"/>
              </a:rPr>
              <a:t>audience</a:t>
            </a:r>
            <a:r>
              <a:rPr lang="ko-KR" altLang="ko-KR" sz="1200" kern="1200" dirty="0">
                <a:solidFill>
                  <a:schemeClr val="tx1"/>
                </a:solidFill>
                <a:latin typeface="+mn-lt"/>
                <a:ea typeface="+mn-ea"/>
                <a:cs typeface="+mn-cs"/>
              </a:rPr>
              <a:t> (청중)</a:t>
            </a:r>
            <a:r>
              <a:rPr lang="ko-KR" altLang="ko-KR" dirty="0"/>
              <a:t>에서는 청중의 연령, 지능, 기존 태도와 같은 특성에 따라 동일한 메시지의 효과가 달라집니다.</a:t>
            </a:r>
          </a:p>
          <a:p>
            <a:r>
              <a:rPr lang="ko-KR" altLang="ko-KR" dirty="0"/>
              <a:t>한편 </a:t>
            </a:r>
            <a:r>
              <a:rPr lang="ko-KR" altLang="ko-KR" dirty="0" err="1"/>
              <a:t>Festinger의</a:t>
            </a:r>
            <a:r>
              <a:rPr lang="ko-KR" altLang="ko-KR" dirty="0"/>
              <a:t>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comparison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(사회비교이론)</a:t>
            </a:r>
            <a:r>
              <a:rPr lang="ko-KR" altLang="ko-KR" dirty="0"/>
              <a:t>는 사람들이 자신의 능력이나 의견을 평가할 객관적인 기준이 없을 때 유사한 타인과 비교한다고 설명합니다.</a:t>
            </a:r>
          </a:p>
          <a:p>
            <a:r>
              <a:rPr lang="ko-KR" altLang="ko-KR" dirty="0"/>
              <a:t>이를 통해 사람들은 자신이 어느 정도 위치에 있는지를 판단하고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reality</a:t>
            </a:r>
            <a:r>
              <a:rPr lang="ko-KR" altLang="ko-KR" sz="1200" kern="1200" dirty="0">
                <a:solidFill>
                  <a:schemeClr val="tx1"/>
                </a:solidFill>
                <a:latin typeface="+mn-lt"/>
                <a:ea typeface="+mn-ea"/>
                <a:cs typeface="+mn-cs"/>
              </a:rPr>
              <a:t> (사회적 현실)</a:t>
            </a:r>
            <a:r>
              <a:rPr lang="ko-KR" altLang="ko-KR" dirty="0" err="1"/>
              <a:t>를</a:t>
            </a:r>
            <a:r>
              <a:rPr lang="ko-KR" altLang="ko-KR" dirty="0"/>
              <a:t> 구성합니다. 이후 연구에서는 자기개선을 위한 상향비교와 자존감을 보호하기 위한 하향비교처럼 사회비교의 동기도 구분되기 시작했습니다.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9</a:t>
            </a:fld>
            <a:endParaRPr lang="ko-KR" altLang="en-US"/>
          </a:p>
        </p:txBody>
      </p:sp>
    </p:spTree>
    <p:extLst>
      <p:ext uri="{BB962C8B-B14F-4D97-AF65-F5344CB8AC3E}">
        <p14:creationId xmlns:p14="http://schemas.microsoft.com/office/powerpoint/2010/main" val="2256069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사람 지각 연구의 대표적인 사례는 </a:t>
            </a:r>
            <a:r>
              <a:rPr lang="ko-KR" altLang="ko-KR" dirty="0" err="1"/>
              <a:t>Asch의</a:t>
            </a:r>
            <a:r>
              <a:rPr lang="ko-KR" altLang="ko-KR" dirty="0"/>
              <a:t> </a:t>
            </a:r>
            <a:r>
              <a:rPr lang="ko-KR" altLang="ko-KR" sz="1200" kern="1200" dirty="0" err="1">
                <a:solidFill>
                  <a:schemeClr val="tx1"/>
                </a:solidFill>
                <a:latin typeface="+mn-lt"/>
                <a:ea typeface="+mn-ea"/>
                <a:cs typeface="+mn-cs"/>
              </a:rPr>
              <a:t>warm-cold</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effect</a:t>
            </a:r>
            <a:r>
              <a:rPr lang="ko-KR" altLang="ko-KR" sz="1200" kern="1200" dirty="0">
                <a:solidFill>
                  <a:schemeClr val="tx1"/>
                </a:solidFill>
                <a:latin typeface="+mn-lt"/>
                <a:ea typeface="+mn-ea"/>
                <a:cs typeface="+mn-cs"/>
              </a:rPr>
              <a:t> (따뜻함-차가움 효과)</a:t>
            </a:r>
            <a:r>
              <a:rPr lang="ko-KR" altLang="ko-KR" dirty="0"/>
              <a:t>입니다.</a:t>
            </a:r>
          </a:p>
          <a:p>
            <a:r>
              <a:rPr lang="ko-KR" altLang="ko-KR" dirty="0" err="1"/>
              <a:t>Asch는</a:t>
            </a:r>
            <a:r>
              <a:rPr lang="ko-KR" altLang="ko-KR" dirty="0"/>
              <a:t> 동일한 특성 목록에서 </a:t>
            </a:r>
            <a:r>
              <a:rPr lang="ko-KR" altLang="ko-KR" sz="1200" kern="1200" dirty="0" err="1">
                <a:solidFill>
                  <a:schemeClr val="tx1"/>
                </a:solidFill>
                <a:latin typeface="+mn-lt"/>
                <a:ea typeface="+mn-ea"/>
                <a:cs typeface="+mn-cs"/>
              </a:rPr>
              <a:t>warm</a:t>
            </a:r>
            <a:r>
              <a:rPr lang="ko-KR" altLang="ko-KR" sz="1200" kern="1200" dirty="0">
                <a:solidFill>
                  <a:schemeClr val="tx1"/>
                </a:solidFill>
                <a:latin typeface="+mn-lt"/>
                <a:ea typeface="+mn-ea"/>
                <a:cs typeface="+mn-cs"/>
              </a:rPr>
              <a:t> (따뜻한)</a:t>
            </a:r>
            <a:r>
              <a:rPr lang="ko-KR" altLang="ko-KR" dirty="0"/>
              <a:t>과 </a:t>
            </a:r>
            <a:r>
              <a:rPr lang="ko-KR" altLang="ko-KR" sz="1200" kern="1200" dirty="0" err="1">
                <a:solidFill>
                  <a:schemeClr val="tx1"/>
                </a:solidFill>
                <a:latin typeface="+mn-lt"/>
                <a:ea typeface="+mn-ea"/>
                <a:cs typeface="+mn-cs"/>
              </a:rPr>
              <a:t>cold</a:t>
            </a:r>
            <a:r>
              <a:rPr lang="ko-KR" altLang="ko-KR" sz="1200" kern="1200" dirty="0">
                <a:solidFill>
                  <a:schemeClr val="tx1"/>
                </a:solidFill>
                <a:latin typeface="+mn-lt"/>
                <a:ea typeface="+mn-ea"/>
                <a:cs typeface="+mn-cs"/>
              </a:rPr>
              <a:t> (차가운)</a:t>
            </a:r>
            <a:r>
              <a:rPr lang="ko-KR" altLang="ko-KR" dirty="0"/>
              <a:t>이라는 단어 하나만 바꾸었습니다. 그 결과 그 사람에 대한 전체적인 인상이 크게 달라졌습니다.</a:t>
            </a:r>
          </a:p>
          <a:p>
            <a:r>
              <a:rPr lang="ko-KR" altLang="ko-KR" dirty="0"/>
              <a:t>이는 각각의 특성이 독립적으로 더해지는 것이 아니라, </a:t>
            </a:r>
            <a:r>
              <a:rPr lang="ko-KR" altLang="ko-KR" sz="1200" kern="1200" dirty="0" err="1">
                <a:solidFill>
                  <a:schemeClr val="tx1"/>
                </a:solidFill>
                <a:latin typeface="+mn-lt"/>
                <a:ea typeface="+mn-ea"/>
                <a:cs typeface="+mn-cs"/>
              </a:rPr>
              <a:t>central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trait</a:t>
            </a:r>
            <a:r>
              <a:rPr lang="ko-KR" altLang="ko-KR" sz="1200" kern="1200" dirty="0">
                <a:solidFill>
                  <a:schemeClr val="tx1"/>
                </a:solidFill>
                <a:latin typeface="+mn-lt"/>
                <a:ea typeface="+mn-ea"/>
                <a:cs typeface="+mn-cs"/>
              </a:rPr>
              <a:t> (중심 특성)</a:t>
            </a:r>
            <a:r>
              <a:rPr lang="ko-KR" altLang="ko-KR" dirty="0"/>
              <a:t>이 다른 정보의 의미까지 재구성한다는 것을 보여줍니다. 따라서 인상형성은 고정된 정보를 합산하는 과정이 아니라 역동적인 조직화 과정입니다.</a:t>
            </a:r>
          </a:p>
          <a:p>
            <a:r>
              <a:rPr lang="ko-KR" altLang="ko-KR" dirty="0" err="1"/>
              <a:t>Hastorf와</a:t>
            </a:r>
            <a:r>
              <a:rPr lang="ko-KR" altLang="ko-KR" dirty="0"/>
              <a:t> </a:t>
            </a:r>
            <a:r>
              <a:rPr lang="ko-KR" altLang="ko-KR" dirty="0" err="1"/>
              <a:t>Cantril의</a:t>
            </a:r>
            <a:r>
              <a:rPr lang="ko-KR" altLang="ko-KR" dirty="0"/>
              <a:t> </a:t>
            </a:r>
            <a:r>
              <a:rPr lang="ko-KR" altLang="ko-KR" i="1" dirty="0" err="1"/>
              <a:t>They</a:t>
            </a:r>
            <a:r>
              <a:rPr lang="ko-KR" altLang="ko-KR" i="1" dirty="0"/>
              <a:t> </a:t>
            </a:r>
            <a:r>
              <a:rPr lang="ko-KR" altLang="ko-KR" i="1" dirty="0" err="1"/>
              <a:t>Saw</a:t>
            </a:r>
            <a:r>
              <a:rPr lang="ko-KR" altLang="ko-KR" i="1" dirty="0"/>
              <a:t> </a:t>
            </a:r>
            <a:r>
              <a:rPr lang="ko-KR" altLang="ko-KR" i="1" dirty="0" err="1"/>
              <a:t>a</a:t>
            </a:r>
            <a:r>
              <a:rPr lang="ko-KR" altLang="ko-KR" i="1" dirty="0"/>
              <a:t> </a:t>
            </a:r>
            <a:r>
              <a:rPr lang="ko-KR" altLang="ko-KR" i="1" dirty="0" err="1"/>
              <a:t>Game</a:t>
            </a:r>
            <a:r>
              <a:rPr lang="ko-KR" altLang="ko-KR" dirty="0"/>
              <a:t> 연구도 비슷한 점을 보여줍니다. </a:t>
            </a:r>
            <a:r>
              <a:rPr lang="ko-KR" altLang="ko-KR" dirty="0" err="1"/>
              <a:t>Princeton과</a:t>
            </a:r>
            <a:r>
              <a:rPr lang="ko-KR" altLang="ko-KR" dirty="0"/>
              <a:t> </a:t>
            </a:r>
            <a:r>
              <a:rPr lang="ko-KR" altLang="ko-KR" dirty="0" err="1"/>
              <a:t>Dartmouth</a:t>
            </a:r>
            <a:r>
              <a:rPr lang="ko-KR" altLang="ko-KR" dirty="0"/>
              <a:t> 학생들은 동일한 미식축구 경기를 봤지만, 자기 학교가 피해를 입었다고 지각했고 반칙의 횟수도 다르게 기억했습니다.</a:t>
            </a:r>
          </a:p>
          <a:p>
            <a:r>
              <a:rPr lang="ko-KR" altLang="ko-KR" dirty="0"/>
              <a:t>즉, 사람들은 동일한 사건을 보더라도 집단 소속과 기대에 따라 서로 다른 현실을 구성할 수 있습니다.</a:t>
            </a:r>
          </a:p>
          <a:p>
            <a:r>
              <a:rPr lang="ko-KR" altLang="ko-KR" dirty="0"/>
              <a:t>이러한 연구는 지각이 현실을 수동적으로 반영하는 것이 아니라 욕구, 가치, 기대의 산물이라는 </a:t>
            </a:r>
            <a:r>
              <a:rPr lang="ko-KR" altLang="ko-KR" sz="1200" kern="1200" dirty="0">
                <a:solidFill>
                  <a:schemeClr val="tx1"/>
                </a:solidFill>
                <a:latin typeface="+mn-lt"/>
                <a:ea typeface="+mn-ea"/>
                <a:cs typeface="+mn-cs"/>
              </a:rPr>
              <a:t>New </a:t>
            </a:r>
            <a:r>
              <a:rPr lang="ko-KR" altLang="ko-KR" sz="1200" kern="1200" dirty="0" err="1">
                <a:solidFill>
                  <a:schemeClr val="tx1"/>
                </a:solidFill>
                <a:latin typeface="+mn-lt"/>
                <a:ea typeface="+mn-ea"/>
                <a:cs typeface="+mn-cs"/>
              </a:rPr>
              <a:t>Look</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approach</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뉴룩</a:t>
            </a:r>
            <a:r>
              <a:rPr lang="ko-KR" altLang="ko-KR" sz="1200" kern="1200" dirty="0">
                <a:solidFill>
                  <a:schemeClr val="tx1"/>
                </a:solidFill>
                <a:latin typeface="+mn-lt"/>
                <a:ea typeface="+mn-ea"/>
                <a:cs typeface="+mn-cs"/>
              </a:rPr>
              <a:t> 접근)</a:t>
            </a:r>
            <a:r>
              <a:rPr lang="ko-KR" altLang="ko-KR" dirty="0" err="1"/>
              <a:t>으로</a:t>
            </a:r>
            <a:r>
              <a:rPr lang="ko-KR" altLang="ko-KR" dirty="0"/>
              <a:t> 이어졌습니다.</a:t>
            </a:r>
          </a:p>
          <a:p>
            <a:r>
              <a:rPr lang="ko-KR" altLang="ko-KR" dirty="0"/>
              <a:t>다만 </a:t>
            </a:r>
            <a:r>
              <a:rPr lang="ko-KR" altLang="ko-KR" dirty="0" err="1"/>
              <a:t>Cronbach는</a:t>
            </a:r>
            <a:r>
              <a:rPr lang="ko-KR" altLang="ko-KR" dirty="0"/>
              <a:t> 지각 정확도를 연구할 때 </a:t>
            </a:r>
            <a:r>
              <a:rPr lang="ko-KR" altLang="ko-KR" dirty="0" err="1"/>
              <a:t>지각자</a:t>
            </a:r>
            <a:r>
              <a:rPr lang="ko-KR" altLang="ko-KR" dirty="0"/>
              <a:t>, 판단 대상, 두 사람의 관계가 혼합될 수 있다고 비판했습니다. 이후에는 이를 분리해서 분석해야 한다는 방법론적 논의가 발전합니다.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10</a:t>
            </a:fld>
            <a:endParaRPr lang="ko-KR" altLang="en-US"/>
          </a:p>
        </p:txBody>
      </p:sp>
    </p:spTree>
    <p:extLst>
      <p:ext uri="{BB962C8B-B14F-4D97-AF65-F5344CB8AC3E}">
        <p14:creationId xmlns:p14="http://schemas.microsoft.com/office/powerpoint/2010/main" val="1898231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다음은 </a:t>
            </a:r>
            <a:r>
              <a:rPr lang="ko-KR" altLang="ko-KR" dirty="0" err="1"/>
              <a:t>Festinger의</a:t>
            </a:r>
            <a:r>
              <a:rPr lang="ko-KR" altLang="ko-KR" dirty="0"/>
              <a:t> </a:t>
            </a:r>
            <a:r>
              <a:rPr lang="ko-KR" altLang="ko-KR" sz="1200" kern="1200" dirty="0" err="1">
                <a:solidFill>
                  <a:schemeClr val="tx1"/>
                </a:solidFill>
                <a:latin typeface="+mn-lt"/>
                <a:ea typeface="+mn-ea"/>
                <a:cs typeface="+mn-cs"/>
              </a:rPr>
              <a:t>cognitive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dissonance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(인지부조화이론)</a:t>
            </a:r>
            <a:r>
              <a:rPr lang="ko-KR" altLang="ko-KR" dirty="0"/>
              <a:t>입니다.</a:t>
            </a:r>
          </a:p>
          <a:p>
            <a:r>
              <a:rPr lang="ko-KR" altLang="ko-KR" dirty="0"/>
              <a:t>인지부조화는 서로 맞지 않는 인지나 태도, 행동이 동시에 존재할 때 발생하는 심리적 긴장 상태를 의미합니다. 사람은 이 불편함을 줄이고 인지 간 일관성을 회복하려는 동기를 갖습니다.</a:t>
            </a:r>
          </a:p>
          <a:p>
            <a:r>
              <a:rPr lang="ko-KR" altLang="ko-KR" dirty="0"/>
              <a:t>여기서 중요한 변화는 행동과 태도의 관계가 역전될 수 있다는 점입니다. 일반적으로는 태도가 행동을 만든다고 생각하지만, 이미 수행한 행동을 취소할 수 없다면 사람은 그 행동을 정당화하기 위해 자신의 태도와 해석을 사후적으로 바꿀 수 있습니다.</a:t>
            </a:r>
          </a:p>
          <a:p>
            <a:r>
              <a:rPr lang="ko-KR" altLang="ko-KR" dirty="0"/>
              <a:t>예를 들어 충분한 이유 없이 싫어하는 행동을 했다면, “사실 그 행동이 그렇게 나쁘지 </a:t>
            </a:r>
            <a:r>
              <a:rPr lang="ko-KR" altLang="ko-KR" dirty="0" err="1"/>
              <a:t>않았다”고</a:t>
            </a:r>
            <a:r>
              <a:rPr lang="ko-KR" altLang="ko-KR" dirty="0"/>
              <a:t> 태도를 수정함으로써 행동과 태도의 불일치를 줄이는 것입니다.</a:t>
            </a:r>
          </a:p>
          <a:p>
            <a:r>
              <a:rPr lang="ko-KR" altLang="ko-KR" dirty="0"/>
              <a:t>이는 개인을 사회적 영향에 수동적으로 반응하는 존재가 아니라, 자신의 인지체계를 적극적으로 조절하는 행위자로 제시했다는 의미가 있습니다.</a:t>
            </a:r>
          </a:p>
          <a:p>
            <a:r>
              <a:rPr lang="ko-KR" altLang="ko-KR" dirty="0"/>
              <a:t>인지부조화 연구는 이후 </a:t>
            </a:r>
            <a:r>
              <a:rPr lang="ko-KR" altLang="ko-KR" sz="1200" kern="1200" dirty="0" err="1">
                <a:solidFill>
                  <a:schemeClr val="tx1"/>
                </a:solidFill>
                <a:latin typeface="+mn-lt"/>
                <a:ea typeface="+mn-ea"/>
                <a:cs typeface="+mn-cs"/>
              </a:rPr>
              <a:t>self-perception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(자기지각이론)</a:t>
            </a:r>
            <a:r>
              <a:rPr lang="ko-KR" altLang="ko-KR" dirty="0"/>
              <a:t>, </a:t>
            </a:r>
            <a:r>
              <a:rPr lang="ko-KR" altLang="ko-KR" sz="1200" kern="1200" dirty="0" err="1">
                <a:solidFill>
                  <a:schemeClr val="tx1"/>
                </a:solidFill>
                <a:latin typeface="+mn-lt"/>
                <a:ea typeface="+mn-ea"/>
                <a:cs typeface="+mn-cs"/>
              </a:rPr>
              <a:t>reactance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(심리적 반발이론)</a:t>
            </a:r>
            <a:r>
              <a:rPr lang="ko-KR" altLang="ko-KR" dirty="0"/>
              <a:t>, </a:t>
            </a:r>
            <a:r>
              <a:rPr lang="ko-KR" altLang="ko-KR" sz="1200" kern="1200" dirty="0" err="1">
                <a:solidFill>
                  <a:schemeClr val="tx1"/>
                </a:solidFill>
                <a:latin typeface="+mn-lt"/>
                <a:ea typeface="+mn-ea"/>
                <a:cs typeface="+mn-cs"/>
              </a:rPr>
              <a:t>self-affirmation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(자기긍정이론)</a:t>
            </a:r>
            <a:r>
              <a:rPr lang="ko-KR" altLang="ko-KR" dirty="0"/>
              <a:t> 등 여러 이론적 논쟁과 확장으로 이어졌습니다.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11</a:t>
            </a:fld>
            <a:endParaRPr lang="ko-KR" altLang="en-US"/>
          </a:p>
        </p:txBody>
      </p:sp>
    </p:spTree>
    <p:extLst>
      <p:ext uri="{BB962C8B-B14F-4D97-AF65-F5344CB8AC3E}">
        <p14:creationId xmlns:p14="http://schemas.microsoft.com/office/powerpoint/2010/main" val="509500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정서 연구에서는 </a:t>
            </a:r>
            <a:r>
              <a:rPr lang="ko-KR" altLang="ko-KR" dirty="0" err="1"/>
              <a:t>Schachter와</a:t>
            </a:r>
            <a:r>
              <a:rPr lang="ko-KR" altLang="ko-KR" dirty="0"/>
              <a:t> </a:t>
            </a:r>
            <a:r>
              <a:rPr lang="ko-KR" altLang="ko-KR" dirty="0" err="1"/>
              <a:t>Singer의</a:t>
            </a:r>
            <a:r>
              <a:rPr lang="ko-KR" altLang="ko-KR" dirty="0"/>
              <a:t> </a:t>
            </a:r>
            <a:r>
              <a:rPr lang="ko-KR" altLang="ko-KR" sz="1200" kern="1200" dirty="0" err="1">
                <a:solidFill>
                  <a:schemeClr val="tx1"/>
                </a:solidFill>
                <a:latin typeface="+mn-lt"/>
                <a:ea typeface="+mn-ea"/>
                <a:cs typeface="+mn-cs"/>
              </a:rPr>
              <a:t>two-factor</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of </a:t>
            </a:r>
            <a:r>
              <a:rPr lang="ko-KR" altLang="ko-KR" sz="1200" kern="1200" dirty="0" err="1">
                <a:solidFill>
                  <a:schemeClr val="tx1"/>
                </a:solidFill>
                <a:latin typeface="+mn-lt"/>
                <a:ea typeface="+mn-ea"/>
                <a:cs typeface="+mn-cs"/>
              </a:rPr>
              <a:t>emotion</a:t>
            </a:r>
            <a:r>
              <a:rPr lang="ko-KR" altLang="ko-KR" sz="1200" kern="1200" dirty="0">
                <a:solidFill>
                  <a:schemeClr val="tx1"/>
                </a:solidFill>
                <a:latin typeface="+mn-lt"/>
                <a:ea typeface="+mn-ea"/>
                <a:cs typeface="+mn-cs"/>
              </a:rPr>
              <a:t> (정서 </a:t>
            </a:r>
            <a:r>
              <a:rPr lang="ko-KR" altLang="ko-KR" sz="1200" kern="1200" dirty="0" err="1">
                <a:solidFill>
                  <a:schemeClr val="tx1"/>
                </a:solidFill>
                <a:latin typeface="+mn-lt"/>
                <a:ea typeface="+mn-ea"/>
                <a:cs typeface="+mn-cs"/>
              </a:rPr>
              <a:t>이요인</a:t>
            </a:r>
            <a:r>
              <a:rPr lang="ko-KR" altLang="ko-KR" sz="1200" kern="1200" dirty="0">
                <a:solidFill>
                  <a:schemeClr val="tx1"/>
                </a:solidFill>
                <a:latin typeface="+mn-lt"/>
                <a:ea typeface="+mn-ea"/>
                <a:cs typeface="+mn-cs"/>
              </a:rPr>
              <a:t> 이론)</a:t>
            </a:r>
            <a:r>
              <a:rPr lang="ko-KR" altLang="ko-KR" dirty="0"/>
              <a:t>이 대표적입니다.</a:t>
            </a:r>
          </a:p>
          <a:p>
            <a:r>
              <a:rPr lang="ko-KR" altLang="ko-KR" dirty="0"/>
              <a:t>이 이론에서는 정서가 단순히 생리적 각성만으로 결정되지 않는다고 봅니다. 먼저 심장박동이나 떨림과 같은 </a:t>
            </a:r>
            <a:r>
              <a:rPr lang="ko-KR" altLang="ko-KR" sz="1200" kern="1200" dirty="0" err="1">
                <a:solidFill>
                  <a:schemeClr val="tx1"/>
                </a:solidFill>
                <a:latin typeface="+mn-lt"/>
                <a:ea typeface="+mn-ea"/>
                <a:cs typeface="+mn-cs"/>
              </a:rPr>
              <a:t>physiological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arousal</a:t>
            </a:r>
            <a:r>
              <a:rPr lang="ko-KR" altLang="ko-KR" sz="1200" kern="1200" dirty="0">
                <a:solidFill>
                  <a:schemeClr val="tx1"/>
                </a:solidFill>
                <a:latin typeface="+mn-lt"/>
                <a:ea typeface="+mn-ea"/>
                <a:cs typeface="+mn-cs"/>
              </a:rPr>
              <a:t> (생리적 각성)</a:t>
            </a:r>
            <a:r>
              <a:rPr lang="ko-KR" altLang="ko-KR" dirty="0"/>
              <a:t>이 발생하고, 개인이 주변 상황을 이용해 그 각성에 의미를 부여하면서 정서가 형성됩니다.</a:t>
            </a:r>
          </a:p>
          <a:p>
            <a:r>
              <a:rPr lang="ko-KR" altLang="ko-KR" dirty="0" err="1"/>
              <a:t>Schachter와</a:t>
            </a:r>
            <a:r>
              <a:rPr lang="ko-KR" altLang="ko-KR" dirty="0"/>
              <a:t> </a:t>
            </a:r>
            <a:r>
              <a:rPr lang="ko-KR" altLang="ko-KR" dirty="0" err="1"/>
              <a:t>Singer는</a:t>
            </a:r>
            <a:r>
              <a:rPr lang="ko-KR" altLang="ko-KR" dirty="0"/>
              <a:t> </a:t>
            </a:r>
            <a:r>
              <a:rPr lang="ko-KR" altLang="ko-KR" dirty="0" err="1"/>
              <a:t>Minnesota</a:t>
            </a:r>
            <a:r>
              <a:rPr lang="ko-KR" altLang="ko-KR" dirty="0"/>
              <a:t> 대학의 남학생 184명을 모집했습니다. 참가자에게 비타민제라고 설명하고 실제로는 </a:t>
            </a:r>
            <a:r>
              <a:rPr lang="ko-KR" altLang="ko-KR" dirty="0" err="1"/>
              <a:t>epinephrine</a:t>
            </a:r>
            <a:r>
              <a:rPr lang="ko-KR" altLang="ko-KR" dirty="0"/>
              <a:t> 또는 </a:t>
            </a:r>
            <a:r>
              <a:rPr lang="ko-KR" altLang="ko-KR" dirty="0" err="1"/>
              <a:t>placebo를</a:t>
            </a:r>
            <a:r>
              <a:rPr lang="ko-KR" altLang="ko-KR" dirty="0"/>
              <a:t> 주사했습니다.</a:t>
            </a:r>
          </a:p>
          <a:p>
            <a:r>
              <a:rPr lang="ko-KR" altLang="ko-KR" dirty="0"/>
              <a:t>이후 참가자에게 각성 증상을 정확히 설명하거나, 설명하지 않거나, 잘못 설명했습니다. 그리고 실험실 안의 협조자가 행복하게 행동하거나 분노한 행동을 보이도록 했습니다.</a:t>
            </a:r>
          </a:p>
          <a:p>
            <a:r>
              <a:rPr lang="ko-KR" altLang="ko-KR" dirty="0"/>
              <a:t>핵심 결과는 자신의 각성을 설명할 적절한 정보가 없었던 참가자일수록 협조자의 정서적 행동을 단서로 활용했다는 것입니다. 동일한 생리적 각성도 상황을 어떻게 </a:t>
            </a:r>
            <a:r>
              <a:rPr lang="ko-KR" altLang="ko-KR" dirty="0" err="1"/>
              <a:t>해석하느냐에</a:t>
            </a:r>
            <a:r>
              <a:rPr lang="ko-KR" altLang="ko-KR" dirty="0"/>
              <a:t> 따라 행복이나 분노로 경험될 수 있다는 것입니다.</a:t>
            </a:r>
          </a:p>
          <a:p>
            <a:r>
              <a:rPr lang="ko-KR" altLang="ko-KR" dirty="0"/>
              <a:t>다만 모든 조건과 모든 측정치가 이론을 일관되게 지지한 것은 아니었습니다. 따라서 이 연구는 매우 영향력 있는 실험이지만 결과의 세부적인 강도와 재현에 대해서는 신중하게 볼 필요가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12</a:t>
            </a:fld>
            <a:endParaRPr lang="ko-KR" altLang="en-US"/>
          </a:p>
        </p:txBody>
      </p:sp>
    </p:spTree>
    <p:extLst>
      <p:ext uri="{BB962C8B-B14F-4D97-AF65-F5344CB8AC3E}">
        <p14:creationId xmlns:p14="http://schemas.microsoft.com/office/powerpoint/2010/main" val="1459350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연구 범위는 일회적인 실험실 상호작용을 넘어 지속적인 관계로도 확장되었습니다.</a:t>
            </a:r>
          </a:p>
          <a:p>
            <a:r>
              <a:rPr lang="ko-KR" altLang="ko-KR" sz="1200" kern="1200" dirty="0" err="1">
                <a:solidFill>
                  <a:schemeClr val="tx1"/>
                </a:solidFill>
                <a:latin typeface="+mn-lt"/>
                <a:ea typeface="+mn-ea"/>
                <a:cs typeface="+mn-cs"/>
              </a:rPr>
              <a:t>Similarity-attraction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effect</a:t>
            </a:r>
            <a:r>
              <a:rPr lang="ko-KR" altLang="ko-KR" sz="1200" kern="1200" dirty="0">
                <a:solidFill>
                  <a:schemeClr val="tx1"/>
                </a:solidFill>
                <a:latin typeface="+mn-lt"/>
                <a:ea typeface="+mn-ea"/>
                <a:cs typeface="+mn-cs"/>
              </a:rPr>
              <a:t> (유사성-매력 효과)</a:t>
            </a:r>
            <a:r>
              <a:rPr lang="ko-KR" altLang="ko-KR" dirty="0"/>
              <a:t>는 태도나 가치가 유사한 사람에게 더 큰 매력을 느낄 수 있다는 것을 보여줍니다.</a:t>
            </a:r>
          </a:p>
          <a:p>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exchange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(사회교환이론)</a:t>
            </a:r>
            <a:r>
              <a:rPr lang="ko-KR" altLang="ko-KR" dirty="0"/>
              <a:t>는 관계에서 얻는 보상과 비용을 중심으로 관계 유지와 만족을 설명합니다.</a:t>
            </a:r>
          </a:p>
          <a:p>
            <a:r>
              <a:rPr lang="ko-KR" altLang="ko-KR" dirty="0"/>
              <a:t>여기서 </a:t>
            </a:r>
            <a:r>
              <a:rPr lang="ko-KR" altLang="ko-KR" sz="1200" kern="1200" dirty="0" err="1">
                <a:solidFill>
                  <a:schemeClr val="tx1"/>
                </a:solidFill>
                <a:latin typeface="+mn-lt"/>
                <a:ea typeface="+mn-ea"/>
                <a:cs typeface="+mn-cs"/>
              </a:rPr>
              <a:t>comparison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level</a:t>
            </a:r>
            <a:r>
              <a:rPr lang="ko-KR" altLang="ko-KR" sz="1200" kern="1200" dirty="0">
                <a:solidFill>
                  <a:schemeClr val="tx1"/>
                </a:solidFill>
                <a:latin typeface="+mn-lt"/>
                <a:ea typeface="+mn-ea"/>
                <a:cs typeface="+mn-cs"/>
              </a:rPr>
              <a:t> (비교수준)</a:t>
            </a:r>
            <a:r>
              <a:rPr lang="ko-KR" altLang="ko-KR" dirty="0"/>
              <a:t>은 내가 관계에서 기대하는 기준이고, </a:t>
            </a:r>
            <a:r>
              <a:rPr lang="ko-KR" altLang="ko-KR" sz="1200" kern="1200" dirty="0" err="1">
                <a:solidFill>
                  <a:schemeClr val="tx1"/>
                </a:solidFill>
                <a:latin typeface="+mn-lt"/>
                <a:ea typeface="+mn-ea"/>
                <a:cs typeface="+mn-cs"/>
              </a:rPr>
              <a:t>comparison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level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for</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alternatives</a:t>
            </a:r>
            <a:r>
              <a:rPr lang="ko-KR" altLang="ko-KR" sz="1200" kern="1200" dirty="0">
                <a:solidFill>
                  <a:schemeClr val="tx1"/>
                </a:solidFill>
                <a:latin typeface="+mn-lt"/>
                <a:ea typeface="+mn-ea"/>
                <a:cs typeface="+mn-cs"/>
              </a:rPr>
              <a:t> (대안 비교수준)</a:t>
            </a:r>
            <a:r>
              <a:rPr lang="ko-KR" altLang="ko-KR" dirty="0"/>
              <a:t>은 현재 관계를 떠났을 때 얻을 수 있는 다른 대안의 수준입니다.</a:t>
            </a:r>
          </a:p>
          <a:p>
            <a:r>
              <a:rPr lang="ko-KR" altLang="ko-KR" dirty="0"/>
              <a:t>따라서 현재 관계에 만족하더라도 더 나은 대안이 있다고 판단하면 관계에 대한 의존은 낮아질 수 있습니다.</a:t>
            </a:r>
          </a:p>
          <a:p>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penetration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(사회적 침투이론)</a:t>
            </a:r>
            <a:r>
              <a:rPr lang="ko-KR" altLang="ko-KR" dirty="0"/>
              <a:t>는 자기개방이 상호적으로 깊어지면서 관계가 발전한다고 설명합니다.</a:t>
            </a:r>
          </a:p>
          <a:p>
            <a:r>
              <a:rPr lang="ko-KR" altLang="ko-KR" dirty="0"/>
              <a:t>이러한 변화는 사회심리학이 낯선 사람 간의 단기적인 반응에서 벗어나, 시간에 따라 형성되는 친밀성과 상호의존을 연구하기 시작했다는 의미가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13</a:t>
            </a:fld>
            <a:endParaRPr lang="ko-KR" altLang="en-US"/>
          </a:p>
        </p:txBody>
      </p:sp>
    </p:spTree>
    <p:extLst>
      <p:ext uri="{BB962C8B-B14F-4D97-AF65-F5344CB8AC3E}">
        <p14:creationId xmlns:p14="http://schemas.microsoft.com/office/powerpoint/2010/main" val="1262873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이 시기에는 </a:t>
            </a:r>
            <a:r>
              <a:rPr lang="ko-KR" altLang="ko-KR" sz="1200" kern="1200" dirty="0" err="1">
                <a:solidFill>
                  <a:schemeClr val="tx1"/>
                </a:solidFill>
                <a:latin typeface="+mn-lt"/>
                <a:ea typeface="+mn-ea"/>
                <a:cs typeface="+mn-cs"/>
              </a:rPr>
              <a:t>person-situation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debate</a:t>
            </a:r>
            <a:r>
              <a:rPr lang="ko-KR" altLang="ko-KR" sz="1200" kern="1200" dirty="0">
                <a:solidFill>
                  <a:schemeClr val="tx1"/>
                </a:solidFill>
                <a:latin typeface="+mn-lt"/>
                <a:ea typeface="+mn-ea"/>
                <a:cs typeface="+mn-cs"/>
              </a:rPr>
              <a:t> (개인-상황 논쟁)</a:t>
            </a:r>
            <a:r>
              <a:rPr lang="ko-KR" altLang="ko-KR" dirty="0"/>
              <a:t>도 중요한 쟁점이 됩니다.</a:t>
            </a:r>
          </a:p>
          <a:p>
            <a:r>
              <a:rPr lang="ko-KR" altLang="ko-KR" dirty="0" err="1"/>
              <a:t>Mischel은</a:t>
            </a:r>
            <a:r>
              <a:rPr lang="ko-KR" altLang="ko-KR" dirty="0"/>
              <a:t> 하나의 성격특성이 여러 상황에서 행동을 강하게 예측한다는 가정에 의문을 제기했습니다. 이후 논의는 개인과 상황 중 하나가 절대적으로 중요하다는 주장보다, 개인의 특성과 상황이 상호작용한다는 방향으로 이동합니다.</a:t>
            </a:r>
          </a:p>
          <a:p>
            <a:r>
              <a:rPr lang="ko-KR" altLang="ko-KR" dirty="0"/>
              <a:t>상황의 영향력을 보여주는 대표적인 연구가 </a:t>
            </a:r>
            <a:r>
              <a:rPr lang="ko-KR" altLang="ko-KR" dirty="0" err="1"/>
              <a:t>Darley와</a:t>
            </a:r>
            <a:r>
              <a:rPr lang="ko-KR" altLang="ko-KR" dirty="0"/>
              <a:t> </a:t>
            </a:r>
            <a:r>
              <a:rPr lang="ko-KR" altLang="ko-KR" dirty="0" err="1"/>
              <a:t>Latané의</a:t>
            </a:r>
            <a:r>
              <a:rPr lang="ko-KR" altLang="ko-KR" dirty="0"/>
              <a:t> 방관자 실험입니다.</a:t>
            </a:r>
          </a:p>
          <a:p>
            <a:r>
              <a:rPr lang="ko-KR" altLang="ko-KR" dirty="0"/>
              <a:t>참가자는 다른 학생들과 인터폰으로 대학생활에 관해 대화한다고 </a:t>
            </a:r>
            <a:r>
              <a:rPr lang="ko-KR" altLang="ko-KR" dirty="0" err="1"/>
              <a:t>안내받았습니다</a:t>
            </a:r>
            <a:r>
              <a:rPr lang="ko-KR" altLang="ko-KR" dirty="0"/>
              <a:t>. 실제로는 녹음된 음성을 듣고 있었고, 대화 도중 한 사람이 발작을 일으키며 도움을 요청했습니다.</a:t>
            </a:r>
          </a:p>
          <a:p>
            <a:r>
              <a:rPr lang="ko-KR" altLang="ko-KR" dirty="0"/>
              <a:t>독립변수는 참가자가 자신 외에 몇 명이 이 상황을 듣고 있다고 </a:t>
            </a:r>
            <a:r>
              <a:rPr lang="ko-KR" altLang="ko-KR" dirty="0" err="1"/>
              <a:t>믿는가였습니다</a:t>
            </a:r>
            <a:r>
              <a:rPr lang="ko-KR" altLang="ko-KR" dirty="0"/>
              <a:t>. 둘만 있다고 생각한 조건에서는 약 85%가 도움을 요청했지만, 세 명 조건에서는 62%, 여섯 명 조건에서는 31%로 감소했습니다. 신고까지 걸린 시간도 집단이 커질수록 길어졌습니다.</a:t>
            </a:r>
          </a:p>
          <a:p>
            <a:r>
              <a:rPr lang="ko-KR" altLang="ko-KR" dirty="0"/>
              <a:t>이를 </a:t>
            </a:r>
            <a:r>
              <a:rPr lang="ko-KR" altLang="ko-KR" sz="1200" kern="1200" dirty="0" err="1">
                <a:solidFill>
                  <a:schemeClr val="tx1"/>
                </a:solidFill>
                <a:latin typeface="+mn-lt"/>
                <a:ea typeface="+mn-ea"/>
                <a:cs typeface="+mn-cs"/>
              </a:rPr>
              <a:t>diffusion</a:t>
            </a:r>
            <a:r>
              <a:rPr lang="ko-KR" altLang="ko-KR" sz="1200" kern="1200" dirty="0">
                <a:solidFill>
                  <a:schemeClr val="tx1"/>
                </a:solidFill>
                <a:latin typeface="+mn-lt"/>
                <a:ea typeface="+mn-ea"/>
                <a:cs typeface="+mn-cs"/>
              </a:rPr>
              <a:t> of </a:t>
            </a:r>
            <a:r>
              <a:rPr lang="ko-KR" altLang="ko-KR" sz="1200" kern="1200" dirty="0" err="1">
                <a:solidFill>
                  <a:schemeClr val="tx1"/>
                </a:solidFill>
                <a:latin typeface="+mn-lt"/>
                <a:ea typeface="+mn-ea"/>
                <a:cs typeface="+mn-cs"/>
              </a:rPr>
              <a:t>responsibility</a:t>
            </a:r>
            <a:r>
              <a:rPr lang="ko-KR" altLang="ko-KR" sz="1200" kern="1200" dirty="0">
                <a:solidFill>
                  <a:schemeClr val="tx1"/>
                </a:solidFill>
                <a:latin typeface="+mn-lt"/>
                <a:ea typeface="+mn-ea"/>
                <a:cs typeface="+mn-cs"/>
              </a:rPr>
              <a:t> (책임의 분산)</a:t>
            </a:r>
            <a:r>
              <a:rPr lang="ko-KR" altLang="ko-KR" dirty="0" err="1"/>
              <a:t>으로</a:t>
            </a:r>
            <a:r>
              <a:rPr lang="ko-KR" altLang="ko-KR" dirty="0"/>
              <a:t> 설명할 수 있습니다. 주변에 다른 사람이 있다고 생각하면 자신이 반드시 개입해야 한다는 책임감이 낮아지는 것입니다.</a:t>
            </a:r>
          </a:p>
          <a:p>
            <a:r>
              <a:rPr lang="ko-KR" altLang="ko-KR" dirty="0"/>
              <a:t>이 연구는 성격만으로 도움행동을 설명하기 어렵고, 단순한 집단 크기 조작도 행동에 큰 영향을 줄 수 있음을 보여줍니다.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14</a:t>
            </a:fld>
            <a:endParaRPr lang="ko-KR" altLang="en-US"/>
          </a:p>
        </p:txBody>
      </p:sp>
    </p:spTree>
    <p:extLst>
      <p:ext uri="{BB962C8B-B14F-4D97-AF65-F5344CB8AC3E}">
        <p14:creationId xmlns:p14="http://schemas.microsoft.com/office/powerpoint/2010/main" val="1109624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사회심리학의 연구주제는 당시 사회가 무엇을 문제로 </a:t>
            </a:r>
            <a:r>
              <a:rPr lang="ko-KR" altLang="ko-KR" dirty="0" err="1"/>
              <a:t>인식하는지와</a:t>
            </a:r>
            <a:r>
              <a:rPr lang="ko-KR" altLang="ko-KR" dirty="0"/>
              <a:t> 분리하기 어렵습니다.</a:t>
            </a:r>
          </a:p>
          <a:p>
            <a:r>
              <a:rPr lang="ko-KR" altLang="ko-KR" dirty="0"/>
              <a:t>미국의 </a:t>
            </a:r>
            <a:r>
              <a:rPr lang="ko-KR" altLang="ko-KR" sz="1200" kern="1200" dirty="0" err="1">
                <a:solidFill>
                  <a:schemeClr val="tx1"/>
                </a:solidFill>
                <a:latin typeface="+mn-lt"/>
                <a:ea typeface="+mn-ea"/>
                <a:cs typeface="+mn-cs"/>
              </a:rPr>
              <a:t>Civil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Rights</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Movement</a:t>
            </a:r>
            <a:r>
              <a:rPr lang="ko-KR" altLang="ko-KR" sz="1200" kern="1200" dirty="0">
                <a:solidFill>
                  <a:schemeClr val="tx1"/>
                </a:solidFill>
                <a:latin typeface="+mn-lt"/>
                <a:ea typeface="+mn-ea"/>
                <a:cs typeface="+mn-cs"/>
              </a:rPr>
              <a:t> (민권운동)</a:t>
            </a:r>
            <a:r>
              <a:rPr lang="ko-KR" altLang="ko-KR" dirty="0"/>
              <a:t>은 편견, 차별, 인종 간 관계에 관한 연구를 크게 확대했습니다.</a:t>
            </a:r>
          </a:p>
          <a:p>
            <a:r>
              <a:rPr lang="ko-KR" altLang="ko-KR" dirty="0"/>
              <a:t>1954년 </a:t>
            </a:r>
            <a:r>
              <a:rPr lang="ko-KR" altLang="ko-KR" i="1" dirty="0" err="1"/>
              <a:t>Brown</a:t>
            </a:r>
            <a:r>
              <a:rPr lang="ko-KR" altLang="ko-KR" i="1" dirty="0"/>
              <a:t> </a:t>
            </a:r>
            <a:r>
              <a:rPr lang="ko-KR" altLang="ko-KR" i="1" dirty="0" err="1"/>
              <a:t>v</a:t>
            </a:r>
            <a:r>
              <a:rPr lang="ko-KR" altLang="ko-KR" i="1" dirty="0"/>
              <a:t>. </a:t>
            </a:r>
            <a:r>
              <a:rPr lang="ko-KR" altLang="ko-KR" i="1" dirty="0" err="1"/>
              <a:t>Board</a:t>
            </a:r>
            <a:r>
              <a:rPr lang="ko-KR" altLang="ko-KR" i="1" dirty="0"/>
              <a:t> of </a:t>
            </a:r>
            <a:r>
              <a:rPr lang="ko-KR" altLang="ko-KR" i="1" dirty="0" err="1"/>
              <a:t>Education</a:t>
            </a:r>
            <a:r>
              <a:rPr lang="ko-KR" altLang="ko-KR" dirty="0"/>
              <a:t> 판결에서는 </a:t>
            </a:r>
            <a:r>
              <a:rPr lang="ko-KR" altLang="ko-KR" dirty="0" err="1"/>
              <a:t>Kenneth</a:t>
            </a:r>
            <a:r>
              <a:rPr lang="ko-KR" altLang="ko-KR" dirty="0"/>
              <a:t> </a:t>
            </a:r>
            <a:r>
              <a:rPr lang="ko-KR" altLang="ko-KR" dirty="0" err="1"/>
              <a:t>Clark의</a:t>
            </a:r>
            <a:r>
              <a:rPr lang="ko-KR" altLang="ko-KR" dirty="0"/>
              <a:t> 인형 연구를 포함한 사회과학적 근거가 인종분리 교육의 부정적 영향을 보여주는 자료로 활용되었습니다. 이는 사회심리학 연구가 교육과 법, 공공정책에 연결될 수 있음을 보여준 사례입니다.</a:t>
            </a:r>
          </a:p>
          <a:p>
            <a:r>
              <a:rPr lang="ko-KR" altLang="ko-KR" dirty="0" err="1"/>
              <a:t>Aronson의</a:t>
            </a:r>
            <a:r>
              <a:rPr lang="ko-KR" altLang="ko-KR" dirty="0"/>
              <a:t> </a:t>
            </a:r>
            <a:r>
              <a:rPr lang="ko-KR" altLang="ko-KR" sz="1200" kern="1200" dirty="0" err="1">
                <a:solidFill>
                  <a:schemeClr val="tx1"/>
                </a:solidFill>
                <a:latin typeface="+mn-lt"/>
                <a:ea typeface="+mn-ea"/>
                <a:cs typeface="+mn-cs"/>
              </a:rPr>
              <a:t>Jigsaw</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Classroom</a:t>
            </a:r>
            <a:r>
              <a:rPr lang="ko-KR" altLang="ko-KR" sz="1200" kern="1200" dirty="0">
                <a:solidFill>
                  <a:schemeClr val="tx1"/>
                </a:solidFill>
                <a:latin typeface="+mn-lt"/>
                <a:ea typeface="+mn-ea"/>
                <a:cs typeface="+mn-cs"/>
              </a:rPr>
              <a:t> (직소교실)</a:t>
            </a:r>
            <a:r>
              <a:rPr lang="ko-KR" altLang="ko-KR" dirty="0"/>
              <a:t>은 학교 통합 과정에서 발생한 인종 간 갈등을 줄이기 위해 </a:t>
            </a:r>
            <a:r>
              <a:rPr lang="ko-KR" altLang="ko-KR" dirty="0" err="1"/>
              <a:t>상호의존적인</a:t>
            </a:r>
            <a:r>
              <a:rPr lang="ko-KR" altLang="ko-KR" dirty="0"/>
              <a:t> 협동학습 구조를 적용한 사례입니다. 이론적 연구가 실제 개입으로 이어진 것입니다.</a:t>
            </a:r>
          </a:p>
          <a:p>
            <a:r>
              <a:rPr lang="ko-KR" altLang="ko-KR" dirty="0"/>
              <a:t>또한 반전운동과 권위에 대한 사회적 비판은 복종, 공격성, 집단갈등과 같은 주제에 대한 관심을 높였습니다.</a:t>
            </a:r>
          </a:p>
          <a:p>
            <a:r>
              <a:rPr lang="ko-KR" altLang="ko-KR" dirty="0"/>
              <a:t>즉, 사회심리학은 사회 변화의 외부 관찰자라기보다, 사회가 제기한 문제를 연구 질문으로 바꾸고 때로는 해결방법을 제안하는 학문으로 발전했습니다.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15</a:t>
            </a:fld>
            <a:endParaRPr lang="ko-KR" altLang="en-US"/>
          </a:p>
        </p:txBody>
      </p:sp>
    </p:spTree>
    <p:extLst>
      <p:ext uri="{BB962C8B-B14F-4D97-AF65-F5344CB8AC3E}">
        <p14:creationId xmlns:p14="http://schemas.microsoft.com/office/powerpoint/2010/main" val="794350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연구가 확대되면서 학문적 인프라도 성장했습니다.</a:t>
            </a:r>
          </a:p>
          <a:p>
            <a:r>
              <a:rPr lang="ko-KR" altLang="ko-KR" dirty="0"/>
              <a:t>1965년에는 </a:t>
            </a:r>
            <a:r>
              <a:rPr lang="ko-KR" altLang="ko-KR" i="1" dirty="0" err="1"/>
              <a:t>Journal</a:t>
            </a:r>
            <a:r>
              <a:rPr lang="ko-KR" altLang="ko-KR" i="1" dirty="0"/>
              <a:t> of </a:t>
            </a:r>
            <a:r>
              <a:rPr lang="ko-KR" altLang="ko-KR" i="1" dirty="0" err="1"/>
              <a:t>Personality</a:t>
            </a:r>
            <a:r>
              <a:rPr lang="ko-KR" altLang="ko-KR" i="1" dirty="0"/>
              <a:t> and </a:t>
            </a:r>
            <a:r>
              <a:rPr lang="ko-KR" altLang="ko-KR" i="1" dirty="0" err="1"/>
              <a:t>Social</a:t>
            </a:r>
            <a:r>
              <a:rPr lang="ko-KR" altLang="ko-KR" i="1" dirty="0"/>
              <a:t> </a:t>
            </a:r>
            <a:r>
              <a:rPr lang="ko-KR" altLang="ko-KR" i="1" dirty="0" err="1"/>
              <a:t>Psychology</a:t>
            </a:r>
            <a:r>
              <a:rPr lang="ko-KR" altLang="ko-KR" dirty="0"/>
              <a:t>, 즉 </a:t>
            </a:r>
            <a:r>
              <a:rPr lang="ko-KR" altLang="ko-KR" dirty="0" err="1"/>
              <a:t>JPSP와</a:t>
            </a:r>
            <a:r>
              <a:rPr lang="ko-KR" altLang="ko-KR" dirty="0"/>
              <a:t> </a:t>
            </a:r>
            <a:r>
              <a:rPr lang="ko-KR" altLang="ko-KR" i="1" dirty="0" err="1"/>
              <a:t>Journal</a:t>
            </a:r>
            <a:r>
              <a:rPr lang="ko-KR" altLang="ko-KR" i="1" dirty="0"/>
              <a:t> of </a:t>
            </a:r>
            <a:r>
              <a:rPr lang="ko-KR" altLang="ko-KR" i="1" dirty="0" err="1"/>
              <a:t>Experimental</a:t>
            </a:r>
            <a:r>
              <a:rPr lang="ko-KR" altLang="ko-KR" i="1" dirty="0"/>
              <a:t> </a:t>
            </a:r>
            <a:r>
              <a:rPr lang="ko-KR" altLang="ko-KR" i="1" dirty="0" err="1"/>
              <a:t>Social</a:t>
            </a:r>
            <a:r>
              <a:rPr lang="ko-KR" altLang="ko-KR" i="1" dirty="0"/>
              <a:t> </a:t>
            </a:r>
            <a:r>
              <a:rPr lang="ko-KR" altLang="ko-KR" i="1" dirty="0" err="1"/>
              <a:t>Psychology</a:t>
            </a:r>
            <a:r>
              <a:rPr lang="ko-KR" altLang="ko-KR" dirty="0"/>
              <a:t>, </a:t>
            </a:r>
            <a:r>
              <a:rPr lang="ko-KR" altLang="ko-KR" dirty="0" err="1"/>
              <a:t>JESP가</a:t>
            </a:r>
            <a:r>
              <a:rPr lang="ko-KR" altLang="ko-KR" dirty="0"/>
              <a:t> 창간되었습니다. </a:t>
            </a:r>
            <a:r>
              <a:rPr lang="ko-KR" altLang="ko-KR" dirty="0" err="1"/>
              <a:t>연구량이</a:t>
            </a:r>
            <a:r>
              <a:rPr lang="ko-KR" altLang="ko-KR" dirty="0"/>
              <a:t> 증가하면서 학술지, 전문영역, 출판 경로가 점차 분화된 것입니다.</a:t>
            </a:r>
          </a:p>
          <a:p>
            <a:r>
              <a:rPr lang="ko-KR" altLang="ko-KR" dirty="0"/>
              <a:t>1947년에는 APA </a:t>
            </a:r>
            <a:r>
              <a:rPr lang="ko-KR" altLang="ko-KR" dirty="0" err="1"/>
              <a:t>Division</a:t>
            </a:r>
            <a:r>
              <a:rPr lang="ko-KR" altLang="ko-KR" dirty="0"/>
              <a:t> 8이 형성되었고, 1965년에는 </a:t>
            </a:r>
            <a:r>
              <a:rPr lang="ko-KR" altLang="ko-KR" sz="1200" kern="1200" dirty="0" err="1">
                <a:solidFill>
                  <a:schemeClr val="tx1"/>
                </a:solidFill>
                <a:latin typeface="+mn-lt"/>
                <a:ea typeface="+mn-ea"/>
                <a:cs typeface="+mn-cs"/>
              </a:rPr>
              <a:t>Society</a:t>
            </a:r>
            <a:r>
              <a:rPr lang="ko-KR" altLang="ko-KR" sz="1200" kern="1200" dirty="0">
                <a:solidFill>
                  <a:schemeClr val="tx1"/>
                </a:solidFill>
                <a:latin typeface="+mn-lt"/>
                <a:ea typeface="+mn-ea"/>
                <a:cs typeface="+mn-cs"/>
              </a:rPr>
              <a:t> of </a:t>
            </a:r>
            <a:r>
              <a:rPr lang="ko-KR" altLang="ko-KR" sz="1200" kern="1200" dirty="0" err="1">
                <a:solidFill>
                  <a:schemeClr val="tx1"/>
                </a:solidFill>
                <a:latin typeface="+mn-lt"/>
                <a:ea typeface="+mn-ea"/>
                <a:cs typeface="+mn-cs"/>
              </a:rPr>
              <a:t>Experimental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Psychology</a:t>
            </a:r>
            <a:r>
              <a:rPr lang="ko-KR" altLang="ko-KR" dirty="0"/>
              <a:t>, 즉 </a:t>
            </a:r>
            <a:r>
              <a:rPr lang="ko-KR" altLang="ko-KR" dirty="0" err="1"/>
              <a:t>SESP가</a:t>
            </a:r>
            <a:r>
              <a:rPr lang="ko-KR" altLang="ko-KR" dirty="0"/>
              <a:t> 설립되었습니다. 유럽에서는 1966년 </a:t>
            </a:r>
            <a:r>
              <a:rPr lang="ko-KR" altLang="ko-KR" sz="1200" kern="1200" dirty="0" err="1">
                <a:solidFill>
                  <a:schemeClr val="tx1"/>
                </a:solidFill>
                <a:latin typeface="+mn-lt"/>
                <a:ea typeface="+mn-ea"/>
                <a:cs typeface="+mn-cs"/>
              </a:rPr>
              <a:t>European</a:t>
            </a:r>
            <a:r>
              <a:rPr lang="ko-KR" altLang="ko-KR" sz="1200" kern="1200" dirty="0">
                <a:solidFill>
                  <a:schemeClr val="tx1"/>
                </a:solidFill>
                <a:latin typeface="+mn-lt"/>
                <a:ea typeface="+mn-ea"/>
                <a:cs typeface="+mn-cs"/>
              </a:rPr>
              <a:t> Association of </a:t>
            </a:r>
            <a:r>
              <a:rPr lang="ko-KR" altLang="ko-KR" sz="1200" kern="1200" dirty="0" err="1">
                <a:solidFill>
                  <a:schemeClr val="tx1"/>
                </a:solidFill>
                <a:latin typeface="+mn-lt"/>
                <a:ea typeface="+mn-ea"/>
                <a:cs typeface="+mn-cs"/>
              </a:rPr>
              <a:t>Experimental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Social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Psychology</a:t>
            </a:r>
            <a:r>
              <a:rPr lang="ko-KR" altLang="ko-KR" dirty="0" err="1"/>
              <a:t>가</a:t>
            </a:r>
            <a:r>
              <a:rPr lang="ko-KR" altLang="ko-KR" dirty="0"/>
              <a:t> 만들어지면서 전후 유럽 사회심리학도 재건되기 시작했습니다.</a:t>
            </a:r>
          </a:p>
          <a:p>
            <a:r>
              <a:rPr lang="ko-KR" altLang="ko-KR" dirty="0"/>
              <a:t>1974년에는 </a:t>
            </a:r>
            <a:r>
              <a:rPr lang="ko-KR" altLang="ko-KR" dirty="0" err="1"/>
              <a:t>SPSP가</a:t>
            </a:r>
            <a:r>
              <a:rPr lang="ko-KR" altLang="ko-KR" dirty="0"/>
              <a:t> 출범하면서 사회심리학과 성격심리학의 공동 기반이 제도화되었습니다.</a:t>
            </a:r>
          </a:p>
          <a:p>
            <a:r>
              <a:rPr lang="ko-KR" altLang="ko-KR" dirty="0"/>
              <a:t>연구자 구성도 변했습니다. 1967년부터 1992년 사이 여성 연구자의 유입은 연구주제와 관점에 상당한 변화를 가져왔습니다. 반면 비백인 연구자와 관점이 제도적으로 반영되는 과정은 상대적으로 </a:t>
            </a:r>
            <a:r>
              <a:rPr lang="ko-KR" altLang="ko-KR" dirty="0" err="1"/>
              <a:t>느렸습니다</a:t>
            </a:r>
            <a:r>
              <a:rPr lang="ko-KR" altLang="ko-KR" dirty="0"/>
              <a:t>.</a:t>
            </a:r>
          </a:p>
          <a:p>
            <a:r>
              <a:rPr lang="ko-KR" altLang="ko-KR" dirty="0"/>
              <a:t>이렇게 사회심리학은 팽창 단계에서 성숙 단계로 이동합니다. 성장 속도는 둔화되고 연구비 경쟁은 심화되었지만, 동시에 기존의 방법, 이론, 윤리에 대한 비판이 가능해지는 조건도 형성되었습니다.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16</a:t>
            </a:fld>
            <a:endParaRPr lang="ko-KR" altLang="en-US"/>
          </a:p>
        </p:txBody>
      </p:sp>
    </p:spTree>
    <p:extLst>
      <p:ext uri="{BB962C8B-B14F-4D97-AF65-F5344CB8AC3E}">
        <p14:creationId xmlns:p14="http://schemas.microsoft.com/office/powerpoint/2010/main" val="2330762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이러한 성숙 과정에서 1970년대 사회심리학은 첫 번째 </a:t>
            </a:r>
            <a:r>
              <a:rPr lang="ko-KR" altLang="ko-KR" sz="1200" kern="1200" dirty="0" err="1">
                <a:solidFill>
                  <a:schemeClr val="tx1"/>
                </a:solidFill>
                <a:latin typeface="+mn-lt"/>
                <a:ea typeface="+mn-ea"/>
                <a:cs typeface="+mn-cs"/>
              </a:rPr>
              <a:t>crisis</a:t>
            </a:r>
            <a:r>
              <a:rPr lang="ko-KR" altLang="ko-KR" sz="1200" kern="1200" dirty="0">
                <a:solidFill>
                  <a:schemeClr val="tx1"/>
                </a:solidFill>
                <a:latin typeface="+mn-lt"/>
                <a:ea typeface="+mn-ea"/>
                <a:cs typeface="+mn-cs"/>
              </a:rPr>
              <a:t> of </a:t>
            </a:r>
            <a:r>
              <a:rPr lang="ko-KR" altLang="ko-KR" sz="1200" kern="1200" dirty="0" err="1">
                <a:solidFill>
                  <a:schemeClr val="tx1"/>
                </a:solidFill>
                <a:latin typeface="+mn-lt"/>
                <a:ea typeface="+mn-ea"/>
                <a:cs typeface="+mn-cs"/>
              </a:rPr>
              <a:t>confidence</a:t>
            </a:r>
            <a:r>
              <a:rPr lang="ko-KR" altLang="ko-KR" sz="1200" kern="1200" dirty="0">
                <a:solidFill>
                  <a:schemeClr val="tx1"/>
                </a:solidFill>
                <a:latin typeface="+mn-lt"/>
                <a:ea typeface="+mn-ea"/>
                <a:cs typeface="+mn-cs"/>
              </a:rPr>
              <a:t> (신뢰의 위기)</a:t>
            </a:r>
            <a:r>
              <a:rPr lang="ko-KR" altLang="ko-KR" dirty="0" err="1"/>
              <a:t>를</a:t>
            </a:r>
            <a:r>
              <a:rPr lang="ko-KR" altLang="ko-KR" dirty="0"/>
              <a:t> 경험합니다.</a:t>
            </a:r>
          </a:p>
          <a:p>
            <a:r>
              <a:rPr lang="ko-KR" altLang="ko-KR" dirty="0"/>
              <a:t>윤리적 측면에서는 기만과 강한 실험 조작이 참가자에게 과도한 스트레스를 준다는 비판이 제기되었습니다.</a:t>
            </a:r>
          </a:p>
          <a:p>
            <a:r>
              <a:rPr lang="ko-KR" altLang="ko-KR" dirty="0"/>
              <a:t>방법론적으로는 실험실에서 관찰한 행동이 실제 생활에서도 </a:t>
            </a:r>
            <a:r>
              <a:rPr lang="ko-KR" altLang="ko-KR" dirty="0" err="1"/>
              <a:t>나타나는가라는</a:t>
            </a:r>
            <a:r>
              <a:rPr lang="ko-KR" altLang="ko-KR" dirty="0"/>
              <a:t> </a:t>
            </a:r>
            <a:r>
              <a:rPr lang="ko-KR" altLang="ko-KR" sz="1200" kern="1200" dirty="0" err="1">
                <a:solidFill>
                  <a:schemeClr val="tx1"/>
                </a:solidFill>
                <a:latin typeface="+mn-lt"/>
                <a:ea typeface="+mn-ea"/>
                <a:cs typeface="+mn-cs"/>
              </a:rPr>
              <a:t>ecological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validity</a:t>
            </a:r>
            <a:r>
              <a:rPr lang="ko-KR" altLang="ko-KR" sz="1200" kern="1200" dirty="0">
                <a:solidFill>
                  <a:schemeClr val="tx1"/>
                </a:solidFill>
                <a:latin typeface="+mn-lt"/>
                <a:ea typeface="+mn-ea"/>
                <a:cs typeface="+mn-cs"/>
              </a:rPr>
              <a:t> (생태학적 타당도)</a:t>
            </a:r>
            <a:r>
              <a:rPr lang="ko-KR" altLang="ko-KR" dirty="0"/>
              <a:t> 문제가 있었습니다.</a:t>
            </a:r>
          </a:p>
          <a:p>
            <a:r>
              <a:rPr lang="ko-KR" altLang="ko-KR" dirty="0"/>
              <a:t>또한 연구 결과가 시대와 문화에 따라 달라질 수 있다는 역사적 의존성, 실험자의 기대와 참가자의 가설 추측이 결과를 만드는 </a:t>
            </a:r>
            <a:r>
              <a:rPr lang="ko-KR" altLang="ko-KR" sz="1200" kern="1200" dirty="0" err="1">
                <a:solidFill>
                  <a:schemeClr val="tx1"/>
                </a:solidFill>
                <a:latin typeface="+mn-lt"/>
                <a:ea typeface="+mn-ea"/>
                <a:cs typeface="+mn-cs"/>
              </a:rPr>
              <a:t>experimenter</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effect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실험자</a:t>
            </a:r>
            <a:r>
              <a:rPr lang="ko-KR" altLang="ko-KR" sz="1200" kern="1200" dirty="0">
                <a:solidFill>
                  <a:schemeClr val="tx1"/>
                </a:solidFill>
                <a:latin typeface="+mn-lt"/>
                <a:ea typeface="+mn-ea"/>
                <a:cs typeface="+mn-cs"/>
              </a:rPr>
              <a:t> 효과)</a:t>
            </a:r>
            <a:r>
              <a:rPr lang="ko-KR" altLang="ko-KR" dirty="0"/>
              <a:t>와 요구 특성도 </a:t>
            </a:r>
            <a:r>
              <a:rPr lang="ko-KR" altLang="ko-KR" dirty="0" err="1"/>
              <a:t>비판받았습니다</a:t>
            </a:r>
            <a:r>
              <a:rPr lang="ko-KR" altLang="ko-KR" dirty="0"/>
              <a:t>.</a:t>
            </a:r>
          </a:p>
          <a:p>
            <a:r>
              <a:rPr lang="ko-KR" altLang="ko-KR" dirty="0" err="1"/>
              <a:t>Gergen은</a:t>
            </a:r>
            <a:r>
              <a:rPr lang="ko-KR" altLang="ko-KR" dirty="0"/>
              <a:t> 사회심리학의 원리가 시대와 문화에 따라 달라지기 때문에 사회심리학을 역사적 학문으로 봐야 한다고 주장했습니다. 이는 기존 실험 패러다임 자체에 대한 근본적인 비판이었습니다.</a:t>
            </a:r>
          </a:p>
          <a:p>
            <a:r>
              <a:rPr lang="ko-KR" altLang="ko-KR" dirty="0" err="1"/>
              <a:t>McGuire는</a:t>
            </a:r>
            <a:r>
              <a:rPr lang="ko-KR" altLang="ko-KR" dirty="0"/>
              <a:t> 기존 연구가 단일 변수와 단방향 인과관계에 지나치게 의존한다고 지적했습니다. 그는 </a:t>
            </a:r>
            <a:r>
              <a:rPr lang="ko-KR" altLang="ko-KR" dirty="0" err="1"/>
              <a:t>사회적·인지적</a:t>
            </a:r>
            <a:r>
              <a:rPr lang="ko-KR" altLang="ko-KR" dirty="0"/>
              <a:t> 변수들이 서로 영향을 주고받는 다중적이고 </a:t>
            </a:r>
            <a:r>
              <a:rPr lang="ko-KR" altLang="ko-KR" dirty="0" err="1"/>
              <a:t>양방향적인</a:t>
            </a:r>
            <a:r>
              <a:rPr lang="ko-KR" altLang="ko-KR" dirty="0"/>
              <a:t> 체계를 연구해야 한다고 주장했습니다.</a:t>
            </a:r>
          </a:p>
          <a:p>
            <a:r>
              <a:rPr lang="ko-KR" altLang="ko-KR" dirty="0"/>
              <a:t>이러한 비판 이후 질문은 “상황이 행동에 어떤 영향을 </a:t>
            </a:r>
            <a:r>
              <a:rPr lang="ko-KR" altLang="ko-KR" dirty="0" err="1"/>
              <a:t>미치는가?”에서</a:t>
            </a:r>
            <a:r>
              <a:rPr lang="ko-KR" altLang="ko-KR" dirty="0"/>
              <a:t> “개인이 상황을 어떻게 </a:t>
            </a:r>
            <a:r>
              <a:rPr lang="ko-KR" altLang="ko-KR" dirty="0" err="1"/>
              <a:t>해석하는가?”로</a:t>
            </a:r>
            <a:r>
              <a:rPr lang="ko-KR" altLang="ko-KR" dirty="0"/>
              <a:t> 이동합니다. 이것이 사회인지가 부상한 배경입니다.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17</a:t>
            </a:fld>
            <a:endParaRPr lang="ko-KR" altLang="en-US"/>
          </a:p>
        </p:txBody>
      </p:sp>
    </p:spTree>
    <p:extLst>
      <p:ext uri="{BB962C8B-B14F-4D97-AF65-F5344CB8AC3E}">
        <p14:creationId xmlns:p14="http://schemas.microsoft.com/office/powerpoint/2010/main" val="29970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사회인지 관점에서는 객관적인 상황 자체보다 개인이 그 상황을 어떻게 해석하는지가 </a:t>
            </a:r>
            <a:r>
              <a:rPr lang="ko-KR" altLang="ko-KR" dirty="0" err="1"/>
              <a:t>중요해집니다</a:t>
            </a:r>
            <a:r>
              <a:rPr lang="ko-KR" altLang="ko-KR" dirty="0"/>
              <a:t>.</a:t>
            </a:r>
          </a:p>
          <a:p>
            <a:r>
              <a:rPr lang="ko-KR" altLang="ko-KR" dirty="0" err="1"/>
              <a:t>Heider의</a:t>
            </a:r>
            <a:r>
              <a:rPr lang="ko-KR" altLang="ko-KR" dirty="0"/>
              <a:t> </a:t>
            </a:r>
            <a:r>
              <a:rPr lang="ko-KR" altLang="ko-KR" sz="1200" kern="1200" dirty="0" err="1">
                <a:solidFill>
                  <a:schemeClr val="tx1"/>
                </a:solidFill>
                <a:latin typeface="+mn-lt"/>
                <a:ea typeface="+mn-ea"/>
                <a:cs typeface="+mn-cs"/>
              </a:rPr>
              <a:t>common-sense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psychology</a:t>
            </a:r>
            <a:r>
              <a:rPr lang="ko-KR" altLang="ko-KR" sz="1200" kern="1200" dirty="0">
                <a:solidFill>
                  <a:schemeClr val="tx1"/>
                </a:solidFill>
                <a:latin typeface="+mn-lt"/>
                <a:ea typeface="+mn-ea"/>
                <a:cs typeface="+mn-cs"/>
              </a:rPr>
              <a:t> (상식심리학)</a:t>
            </a:r>
            <a:r>
              <a:rPr lang="ko-KR" altLang="ko-KR" dirty="0"/>
              <a:t>는 사람들이 행동의 원인을 개인 내부와 외부 환경 가운데 어디에 </a:t>
            </a:r>
            <a:r>
              <a:rPr lang="ko-KR" altLang="ko-KR" dirty="0" err="1"/>
              <a:t>귀인하는지를</a:t>
            </a:r>
            <a:r>
              <a:rPr lang="ko-KR" altLang="ko-KR" dirty="0"/>
              <a:t> 다룹니다. 사람은 일상에서 다른 사람의 행동을 관찰하고 원인을 추론하는 일종의 직관적 심리학자로 간주됩니다.</a:t>
            </a:r>
          </a:p>
          <a:p>
            <a:r>
              <a:rPr lang="ko-KR" altLang="ko-KR" dirty="0" err="1"/>
              <a:t>Jones와</a:t>
            </a:r>
            <a:r>
              <a:rPr lang="ko-KR" altLang="ko-KR" dirty="0"/>
              <a:t> </a:t>
            </a:r>
            <a:r>
              <a:rPr lang="ko-KR" altLang="ko-KR" dirty="0" err="1"/>
              <a:t>Davis의</a:t>
            </a:r>
            <a:r>
              <a:rPr lang="ko-KR" altLang="ko-KR" dirty="0"/>
              <a:t> </a:t>
            </a:r>
            <a:r>
              <a:rPr lang="ko-KR" altLang="ko-KR" sz="1200" kern="1200" dirty="0" err="1">
                <a:solidFill>
                  <a:schemeClr val="tx1"/>
                </a:solidFill>
                <a:latin typeface="+mn-lt"/>
                <a:ea typeface="+mn-ea"/>
                <a:cs typeface="+mn-cs"/>
              </a:rPr>
              <a:t>correspondent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inference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theory</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대응추론이론</a:t>
            </a:r>
            <a:r>
              <a:rPr lang="ko-KR" altLang="ko-KR" sz="1200" kern="1200" dirty="0">
                <a:solidFill>
                  <a:schemeClr val="tx1"/>
                </a:solidFill>
                <a:latin typeface="+mn-lt"/>
                <a:ea typeface="+mn-ea"/>
                <a:cs typeface="+mn-cs"/>
              </a:rPr>
              <a:t>)</a:t>
            </a:r>
            <a:r>
              <a:rPr lang="ko-KR" altLang="ko-KR" dirty="0"/>
              <a:t>에서는 행동이 사회적 규범에서 벗어나고, 자유롭게 선택된 것처럼 보일수록 그 행동에서 개인의 성향을 강하게 추론한다고 봅니다.</a:t>
            </a:r>
          </a:p>
          <a:p>
            <a:r>
              <a:rPr lang="ko-KR" altLang="ko-KR" dirty="0" err="1"/>
              <a:t>Kelley의</a:t>
            </a:r>
            <a:r>
              <a:rPr lang="ko-KR" altLang="ko-KR" dirty="0"/>
              <a:t> </a:t>
            </a:r>
            <a:r>
              <a:rPr lang="ko-KR" altLang="ko-KR" sz="1200" kern="1200" dirty="0" err="1">
                <a:solidFill>
                  <a:schemeClr val="tx1"/>
                </a:solidFill>
                <a:latin typeface="+mn-lt"/>
                <a:ea typeface="+mn-ea"/>
                <a:cs typeface="+mn-cs"/>
              </a:rPr>
              <a:t>covariation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model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공변모형</a:t>
            </a:r>
            <a:r>
              <a:rPr lang="ko-KR" altLang="ko-KR" sz="1200" kern="1200" dirty="0">
                <a:solidFill>
                  <a:schemeClr val="tx1"/>
                </a:solidFill>
                <a:latin typeface="+mn-lt"/>
                <a:ea typeface="+mn-ea"/>
                <a:cs typeface="+mn-cs"/>
              </a:rPr>
              <a:t>)</a:t>
            </a:r>
            <a:r>
              <a:rPr lang="ko-KR" altLang="ko-KR" dirty="0"/>
              <a:t>은 </a:t>
            </a:r>
            <a:r>
              <a:rPr lang="ko-KR" altLang="ko-KR" sz="1200" kern="1200" dirty="0" err="1">
                <a:solidFill>
                  <a:schemeClr val="tx1"/>
                </a:solidFill>
                <a:latin typeface="+mn-lt"/>
                <a:ea typeface="+mn-ea"/>
                <a:cs typeface="+mn-cs"/>
              </a:rPr>
              <a:t>consensus</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합의성</a:t>
            </a:r>
            <a:r>
              <a:rPr lang="ko-KR" altLang="ko-KR" sz="1200" kern="1200" dirty="0">
                <a:solidFill>
                  <a:schemeClr val="tx1"/>
                </a:solidFill>
                <a:latin typeface="+mn-lt"/>
                <a:ea typeface="+mn-ea"/>
                <a:cs typeface="+mn-cs"/>
              </a:rPr>
              <a:t>)</a:t>
            </a:r>
            <a:r>
              <a:rPr lang="ko-KR" altLang="ko-KR" dirty="0"/>
              <a:t>, </a:t>
            </a:r>
            <a:r>
              <a:rPr lang="ko-KR" altLang="ko-KR" sz="1200" kern="1200" dirty="0" err="1">
                <a:solidFill>
                  <a:schemeClr val="tx1"/>
                </a:solidFill>
                <a:latin typeface="+mn-lt"/>
                <a:ea typeface="+mn-ea"/>
                <a:cs typeface="+mn-cs"/>
              </a:rPr>
              <a:t>distinctiveness</a:t>
            </a:r>
            <a:r>
              <a:rPr lang="ko-KR" altLang="ko-KR" sz="1200" kern="1200" dirty="0">
                <a:solidFill>
                  <a:schemeClr val="tx1"/>
                </a:solidFill>
                <a:latin typeface="+mn-lt"/>
                <a:ea typeface="+mn-ea"/>
                <a:cs typeface="+mn-cs"/>
              </a:rPr>
              <a:t> (특이성)</a:t>
            </a:r>
            <a:r>
              <a:rPr lang="ko-KR" altLang="ko-KR" dirty="0"/>
              <a:t>, </a:t>
            </a:r>
            <a:r>
              <a:rPr lang="ko-KR" altLang="ko-KR" sz="1200" kern="1200" dirty="0" err="1">
                <a:solidFill>
                  <a:schemeClr val="tx1"/>
                </a:solidFill>
                <a:latin typeface="+mn-lt"/>
                <a:ea typeface="+mn-ea"/>
                <a:cs typeface="+mn-cs"/>
              </a:rPr>
              <a:t>consistency</a:t>
            </a:r>
            <a:r>
              <a:rPr lang="ko-KR" altLang="ko-KR" sz="1200" kern="1200" dirty="0">
                <a:solidFill>
                  <a:schemeClr val="tx1"/>
                </a:solidFill>
                <a:latin typeface="+mn-lt"/>
                <a:ea typeface="+mn-ea"/>
                <a:cs typeface="+mn-cs"/>
              </a:rPr>
              <a:t> (일관성)</a:t>
            </a:r>
            <a:r>
              <a:rPr lang="ko-KR" altLang="ko-KR" dirty="0"/>
              <a:t> 정보를 비교하여 원인을 판단한다고 설명합니다.</a:t>
            </a:r>
          </a:p>
          <a:p>
            <a:r>
              <a:rPr lang="ko-KR" altLang="ko-KR" dirty="0"/>
              <a:t>예를 들어 한 동료가 회의에 늦었을 때, 다른 사람들도 늦었는지, 그 동료가 다른 약속에도 늦는지, 그리고 매번 같은 회의에 늦는지를 비교하는 것입니다.</a:t>
            </a:r>
          </a:p>
          <a:p>
            <a:r>
              <a:rPr lang="ko-KR" altLang="ko-KR" dirty="0"/>
              <a:t>따라서 사회인지의 핵심은 상황이 모든 사람에게 동일하게 주어지는 것이 아니라, 개인의 추론을 통해 심리적으로 구성된다는 데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18</a:t>
            </a:fld>
            <a:endParaRPr lang="ko-KR" altLang="en-US"/>
          </a:p>
        </p:txBody>
      </p:sp>
    </p:spTree>
    <p:extLst>
      <p:ext uri="{BB962C8B-B14F-4D97-AF65-F5344CB8AC3E}">
        <p14:creationId xmlns:p14="http://schemas.microsoft.com/office/powerpoint/2010/main" val="4139692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이후 사회인지 연구는 판단과 휴리스틱, 자동성, 이중과정 태도, 도식과 사람 기억, 정교화 가능성 모형과 점화 등으로 빠르게 확장됩니다.</a:t>
            </a:r>
          </a:p>
          <a:p>
            <a:r>
              <a:rPr lang="ko-KR" altLang="ko-KR" dirty="0" err="1"/>
              <a:t>Kahneman과</a:t>
            </a:r>
            <a:r>
              <a:rPr lang="ko-KR" altLang="ko-KR" dirty="0"/>
              <a:t> </a:t>
            </a:r>
            <a:r>
              <a:rPr lang="ko-KR" altLang="ko-KR" dirty="0" err="1"/>
              <a:t>Tversky의</a:t>
            </a:r>
            <a:r>
              <a:rPr lang="ko-KR" altLang="ko-KR" dirty="0"/>
              <a:t> </a:t>
            </a:r>
            <a:r>
              <a:rPr lang="ko-KR" altLang="ko-KR" dirty="0" err="1"/>
              <a:t>기저율</a:t>
            </a:r>
            <a:r>
              <a:rPr lang="ko-KR" altLang="ko-KR" dirty="0"/>
              <a:t> 무시 연구를 예로 들 수 있습니다.</a:t>
            </a:r>
          </a:p>
          <a:p>
            <a:r>
              <a:rPr lang="ko-KR" altLang="ko-KR" dirty="0"/>
              <a:t>참가자는 변호사와 기술자의 비율이 30 대 70이거나 70 대 30인 집단에서 뽑힌 사람의 성격 묘사를 읽고, 그 사람이 기술자일 확률을 판단했습니다.</a:t>
            </a:r>
          </a:p>
          <a:p>
            <a:r>
              <a:rPr lang="ko-KR" altLang="ko-KR" dirty="0"/>
              <a:t>인물에 대한 구체적인 설명이 없을 때는 집단의 실제 비율, 즉 </a:t>
            </a:r>
            <a:r>
              <a:rPr lang="ko-KR" altLang="ko-KR" sz="1200" kern="1200" dirty="0" err="1">
                <a:solidFill>
                  <a:schemeClr val="tx1"/>
                </a:solidFill>
                <a:latin typeface="+mn-lt"/>
                <a:ea typeface="+mn-ea"/>
                <a:cs typeface="+mn-cs"/>
              </a:rPr>
              <a:t>base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rate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기저율</a:t>
            </a:r>
            <a:r>
              <a:rPr lang="ko-KR" altLang="ko-KR" sz="1200" kern="1200" dirty="0">
                <a:solidFill>
                  <a:schemeClr val="tx1"/>
                </a:solidFill>
                <a:latin typeface="+mn-lt"/>
                <a:ea typeface="+mn-ea"/>
                <a:cs typeface="+mn-cs"/>
              </a:rPr>
              <a:t>)</a:t>
            </a:r>
            <a:r>
              <a:rPr lang="ko-KR" altLang="ko-KR" dirty="0"/>
              <a:t>을 반영했습니다. 그러나 전형적인 기술자처럼 보이는 설명이 제시되면 실제 비율이 달라도 기술자일 가능성을 높게 판단했습니다.</a:t>
            </a:r>
          </a:p>
          <a:p>
            <a:r>
              <a:rPr lang="ko-KR" altLang="ko-KR" dirty="0"/>
              <a:t>사람들이 통계적 기저율보다 어떤 범주의 전형성과 닮은 정도를 중심으로 판단한 것입니다. 이를 </a:t>
            </a:r>
            <a:r>
              <a:rPr lang="ko-KR" altLang="ko-KR" sz="1200" kern="1200" dirty="0" err="1">
                <a:solidFill>
                  <a:schemeClr val="tx1"/>
                </a:solidFill>
                <a:latin typeface="+mn-lt"/>
                <a:ea typeface="+mn-ea"/>
                <a:cs typeface="+mn-cs"/>
              </a:rPr>
              <a:t>representativeness</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heuristic</a:t>
            </a:r>
            <a:r>
              <a:rPr lang="ko-KR" altLang="ko-KR" sz="1200" kern="1200" dirty="0">
                <a:solidFill>
                  <a:schemeClr val="tx1"/>
                </a:solidFill>
                <a:latin typeface="+mn-lt"/>
                <a:ea typeface="+mn-ea"/>
                <a:cs typeface="+mn-cs"/>
              </a:rPr>
              <a:t> (대표성 휴리스틱)</a:t>
            </a:r>
            <a:r>
              <a:rPr lang="ko-KR" altLang="ko-KR" dirty="0"/>
              <a:t>이라고 합니다.</a:t>
            </a:r>
          </a:p>
          <a:p>
            <a:r>
              <a:rPr lang="ko-KR" altLang="ko-KR" dirty="0"/>
              <a:t>이 연구는 개인을 단순히 자극에 반응하는 존재가 아니라, 제한된 정보를 바탕으로 목표를 설정하고 판단하는 행위자로 보기 시작했다는 변화를 보여줍니다.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19</a:t>
            </a:fld>
            <a:endParaRPr lang="ko-KR" altLang="en-US"/>
          </a:p>
        </p:txBody>
      </p:sp>
    </p:spTree>
    <p:extLst>
      <p:ext uri="{BB962C8B-B14F-4D97-AF65-F5344CB8AC3E}">
        <p14:creationId xmlns:p14="http://schemas.microsoft.com/office/powerpoint/2010/main" val="352796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사회인지 연구는 이후 목표, 동기, 정서가 주의와 해석을 </a:t>
            </a:r>
            <a:r>
              <a:rPr lang="ko-KR" altLang="ko-KR" dirty="0" err="1"/>
              <a:t>편향시키는</a:t>
            </a:r>
            <a:r>
              <a:rPr lang="ko-KR" altLang="ko-KR" dirty="0"/>
              <a:t> </a:t>
            </a:r>
            <a:r>
              <a:rPr lang="ko-KR" altLang="ko-KR" sz="1200" kern="1200" dirty="0" err="1">
                <a:solidFill>
                  <a:schemeClr val="tx1"/>
                </a:solidFill>
                <a:latin typeface="+mn-lt"/>
                <a:ea typeface="+mn-ea"/>
                <a:cs typeface="+mn-cs"/>
              </a:rPr>
              <a:t>motivated</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cognition</a:t>
            </a:r>
            <a:r>
              <a:rPr lang="ko-KR" altLang="ko-KR" sz="1200" kern="1200" dirty="0">
                <a:solidFill>
                  <a:schemeClr val="tx1"/>
                </a:solidFill>
                <a:latin typeface="+mn-lt"/>
                <a:ea typeface="+mn-ea"/>
                <a:cs typeface="+mn-cs"/>
              </a:rPr>
              <a:t> (동기화된 인지)</a:t>
            </a:r>
            <a:r>
              <a:rPr lang="ko-KR" altLang="ko-KR" dirty="0"/>
              <a:t>로 확장됩니다.</a:t>
            </a:r>
          </a:p>
          <a:p>
            <a:r>
              <a:rPr lang="ko-KR" altLang="ko-KR" dirty="0"/>
              <a:t>통제이론, 자기결정이론, </a:t>
            </a:r>
            <a:r>
              <a:rPr lang="ko-KR" altLang="ko-KR" dirty="0" err="1"/>
              <a:t>자기불일치이론</a:t>
            </a:r>
            <a:r>
              <a:rPr lang="ko-KR" altLang="ko-KR" dirty="0"/>
              <a:t>, 공포관리이론 등이 발전했고, 정서 연구도 단순히 기분이 판단을 방해하는 요소가 아니라 판단과 기억을 체계적으로 변화시키는 과정으로 다루어졌습니다.</a:t>
            </a:r>
          </a:p>
          <a:p>
            <a:r>
              <a:rPr lang="ko-KR" altLang="ko-KR" dirty="0"/>
              <a:t>관계과학에서도 만족이나 매력만 측정하는 것을 넘어, </a:t>
            </a:r>
            <a:r>
              <a:rPr lang="ko-KR" altLang="ko-KR" sz="1200" kern="1200" dirty="0" err="1">
                <a:solidFill>
                  <a:schemeClr val="tx1"/>
                </a:solidFill>
                <a:latin typeface="+mn-lt"/>
                <a:ea typeface="+mn-ea"/>
                <a:cs typeface="+mn-cs"/>
              </a:rPr>
              <a:t>close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relationship</a:t>
            </a:r>
            <a:r>
              <a:rPr lang="ko-KR" altLang="ko-KR" sz="1200" kern="1200" dirty="0">
                <a:solidFill>
                  <a:schemeClr val="tx1"/>
                </a:solidFill>
                <a:latin typeface="+mn-lt"/>
                <a:ea typeface="+mn-ea"/>
                <a:cs typeface="+mn-cs"/>
              </a:rPr>
              <a:t> (친밀한 관계)</a:t>
            </a:r>
            <a:r>
              <a:rPr lang="ko-KR" altLang="ko-KR" dirty="0" err="1"/>
              <a:t>를</a:t>
            </a:r>
            <a:r>
              <a:rPr lang="ko-KR" altLang="ko-KR" dirty="0"/>
              <a:t> </a:t>
            </a:r>
            <a:r>
              <a:rPr lang="ko-KR" altLang="ko-KR" dirty="0" err="1"/>
              <a:t>상호의존적인</a:t>
            </a:r>
            <a:r>
              <a:rPr lang="ko-KR" altLang="ko-KR" dirty="0"/>
              <a:t> 체계로 보게 됩니다. 유럽에서는 집단과 사회정체성 연구가 다시 부상하면서 집단 간 관계와 편견 연구도 발전합니다.</a:t>
            </a:r>
          </a:p>
          <a:p>
            <a:r>
              <a:rPr lang="ko-KR" altLang="ko-KR" dirty="0"/>
              <a:t>자기 연구 역시 </a:t>
            </a:r>
            <a:r>
              <a:rPr lang="ko-KR" altLang="ko-KR" sz="1200" kern="1200" dirty="0" err="1">
                <a:solidFill>
                  <a:schemeClr val="tx1"/>
                </a:solidFill>
                <a:latin typeface="+mn-lt"/>
                <a:ea typeface="+mn-ea"/>
                <a:cs typeface="+mn-cs"/>
              </a:rPr>
              <a:t>self</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as</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object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대상으로서의</a:t>
            </a:r>
            <a:r>
              <a:rPr lang="ko-KR" altLang="ko-KR" sz="1200" kern="1200" dirty="0">
                <a:solidFill>
                  <a:schemeClr val="tx1"/>
                </a:solidFill>
                <a:latin typeface="+mn-lt"/>
                <a:ea typeface="+mn-ea"/>
                <a:cs typeface="+mn-cs"/>
              </a:rPr>
              <a:t> 자기)</a:t>
            </a:r>
            <a:r>
              <a:rPr lang="ko-KR" altLang="ko-KR" dirty="0"/>
              <a:t>에서 </a:t>
            </a:r>
            <a:r>
              <a:rPr lang="ko-KR" altLang="ko-KR" sz="1200" kern="1200" dirty="0" err="1">
                <a:solidFill>
                  <a:schemeClr val="tx1"/>
                </a:solidFill>
                <a:latin typeface="+mn-lt"/>
                <a:ea typeface="+mn-ea"/>
                <a:cs typeface="+mn-cs"/>
              </a:rPr>
              <a:t>self</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as</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agent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행위자로서의</a:t>
            </a:r>
            <a:r>
              <a:rPr lang="ko-KR" altLang="ko-KR" sz="1200" kern="1200" dirty="0">
                <a:solidFill>
                  <a:schemeClr val="tx1"/>
                </a:solidFill>
                <a:latin typeface="+mn-lt"/>
                <a:ea typeface="+mn-ea"/>
                <a:cs typeface="+mn-cs"/>
              </a:rPr>
              <a:t> 자기)</a:t>
            </a:r>
            <a:r>
              <a:rPr lang="ko-KR" altLang="ko-KR" dirty="0"/>
              <a:t>로 이동했습니다. 자신의 특성을 기술하는 자기개념을 넘어, 목표를 세우고 행동을 조절하는 자기조절과 </a:t>
            </a:r>
            <a:r>
              <a:rPr lang="ko-KR" altLang="ko-KR" dirty="0" err="1"/>
              <a:t>자기효능감이</a:t>
            </a:r>
            <a:r>
              <a:rPr lang="ko-KR" altLang="ko-KR" dirty="0"/>
              <a:t> 중요한 주제가 됩니다.</a:t>
            </a:r>
          </a:p>
          <a:p>
            <a:r>
              <a:rPr lang="ko-KR" altLang="ko-KR" dirty="0"/>
              <a:t>따라서 초기 사회인지가 비교적 </a:t>
            </a:r>
            <a:r>
              <a:rPr lang="ko-KR" altLang="ko-KR" sz="1200" kern="1200" dirty="0" err="1">
                <a:solidFill>
                  <a:schemeClr val="tx1"/>
                </a:solidFill>
                <a:latin typeface="+mn-lt"/>
                <a:ea typeface="+mn-ea"/>
                <a:cs typeface="+mn-cs"/>
              </a:rPr>
              <a:t>cool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information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processing</a:t>
            </a:r>
            <a:r>
              <a:rPr lang="ko-KR" altLang="ko-KR" sz="1200" kern="1200" dirty="0">
                <a:solidFill>
                  <a:schemeClr val="tx1"/>
                </a:solidFill>
                <a:latin typeface="+mn-lt"/>
                <a:ea typeface="+mn-ea"/>
                <a:cs typeface="+mn-cs"/>
              </a:rPr>
              <a:t> (차가운 정보처리)</a:t>
            </a:r>
            <a:r>
              <a:rPr lang="ko-KR" altLang="ko-KR" dirty="0" err="1"/>
              <a:t>에</a:t>
            </a:r>
            <a:r>
              <a:rPr lang="ko-KR" altLang="ko-KR" dirty="0"/>
              <a:t> 가까웠다면, 이후 연구는 목표와 감정이 결합된 </a:t>
            </a:r>
            <a:r>
              <a:rPr lang="ko-KR" altLang="ko-KR" sz="1200" kern="1200" dirty="0" err="1">
                <a:solidFill>
                  <a:schemeClr val="tx1"/>
                </a:solidFill>
                <a:latin typeface="+mn-lt"/>
                <a:ea typeface="+mn-ea"/>
                <a:cs typeface="+mn-cs"/>
              </a:rPr>
              <a:t>hot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cognition</a:t>
            </a:r>
            <a:r>
              <a:rPr lang="ko-KR" altLang="ko-KR" sz="1200" kern="1200" dirty="0">
                <a:solidFill>
                  <a:schemeClr val="tx1"/>
                </a:solidFill>
                <a:latin typeface="+mn-lt"/>
                <a:ea typeface="+mn-ea"/>
                <a:cs typeface="+mn-cs"/>
              </a:rPr>
              <a:t> (뜨거운 인지)</a:t>
            </a:r>
            <a:r>
              <a:rPr lang="ko-KR" altLang="ko-KR" dirty="0"/>
              <a:t>로 확장되었다고 정리할 수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20</a:t>
            </a:fld>
            <a:endParaRPr lang="ko-KR" altLang="en-US"/>
          </a:p>
        </p:txBody>
      </p:sp>
    </p:spTree>
    <p:extLst>
      <p:ext uri="{BB962C8B-B14F-4D97-AF65-F5344CB8AC3E}">
        <p14:creationId xmlns:p14="http://schemas.microsoft.com/office/powerpoint/2010/main" val="16239178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1990년 이후 사회심리학은 다른 학문으로 연구 범위를 넓히면서 동시에 기존 이론을 더 깊게 발전시킵니다.</a:t>
            </a:r>
          </a:p>
          <a:p>
            <a:r>
              <a:rPr lang="ko-KR" altLang="ko-KR" dirty="0"/>
              <a:t>법학에서는 목격자 증언과 기억의 정확성, 배심원의 판단, 협상과 갈등을 연구했습니다.</a:t>
            </a:r>
          </a:p>
          <a:p>
            <a:r>
              <a:rPr lang="ko-KR" altLang="ko-KR" dirty="0"/>
              <a:t>경영학과 경제학에서는 판단과 의사결정, 행동경제학, 조직 리더십과 성과에 사회심리학 이론이 적용되었습니다.</a:t>
            </a:r>
          </a:p>
          <a:p>
            <a:r>
              <a:rPr lang="ko-KR" altLang="ko-KR" dirty="0"/>
              <a:t>의학에서는 스트레스와 사회적 지지가 건강에 미치는 영향, 건강행동, 사회적 관계와 신체건강의 관계가 연구되었습니다.</a:t>
            </a:r>
          </a:p>
          <a:p>
            <a:r>
              <a:rPr lang="ko-KR" altLang="ko-KR" dirty="0"/>
              <a:t>가족, 교육, 정치 영역에서도 친밀한 관계, 학업 동기와 성취, 투표행동과 정치태도가 연구 대상이 되었습니다.</a:t>
            </a:r>
          </a:p>
          <a:p>
            <a:r>
              <a:rPr lang="ko-KR" altLang="ko-KR" dirty="0"/>
              <a:t>중요한 점은 단순히 적용 분야가 늘어난 것이 아닙니다. 다른 분야에서 사회심리학 이론을 검증하면서, 기존 이론이 어느 조건까지 적용되는지 더 구체적으로 파악하게 되었다는 것입니다.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21</a:t>
            </a:fld>
            <a:endParaRPr lang="ko-KR" altLang="en-US"/>
          </a:p>
        </p:txBody>
      </p:sp>
    </p:spTree>
    <p:extLst>
      <p:ext uri="{BB962C8B-B14F-4D97-AF65-F5344CB8AC3E}">
        <p14:creationId xmlns:p14="http://schemas.microsoft.com/office/powerpoint/2010/main" val="3656539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이 시기에는 새로운 실험도구도 등장합니다.</a:t>
            </a:r>
          </a:p>
          <a:p>
            <a:r>
              <a:rPr lang="ko-KR" altLang="ko-KR" dirty="0" err="1"/>
              <a:t>E-Prime</a:t>
            </a:r>
            <a:r>
              <a:rPr lang="ko-KR" altLang="ko-KR" dirty="0"/>
              <a:t>, </a:t>
            </a:r>
            <a:r>
              <a:rPr lang="ko-KR" altLang="ko-KR" dirty="0" err="1"/>
              <a:t>MediaLab</a:t>
            </a:r>
            <a:r>
              <a:rPr lang="ko-KR" altLang="ko-KR" dirty="0"/>
              <a:t>, </a:t>
            </a:r>
            <a:r>
              <a:rPr lang="ko-KR" altLang="ko-KR" dirty="0" err="1"/>
              <a:t>DirectRT와</a:t>
            </a:r>
            <a:r>
              <a:rPr lang="ko-KR" altLang="ko-KR" dirty="0"/>
              <a:t> 같은 프로그램을 통해 반응시간과 자극 제시를 정밀하게 통제할 수 있게 되었습니다. </a:t>
            </a:r>
            <a:r>
              <a:rPr lang="ko-KR" altLang="ko-KR" sz="1200" kern="1200" dirty="0" err="1">
                <a:solidFill>
                  <a:schemeClr val="tx1"/>
                </a:solidFill>
                <a:latin typeface="+mn-lt"/>
                <a:ea typeface="+mn-ea"/>
                <a:cs typeface="+mn-cs"/>
              </a:rPr>
              <a:t>Lexical</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decision</a:t>
            </a:r>
            <a:r>
              <a:rPr lang="ko-KR" altLang="ko-KR" sz="1200" kern="1200" dirty="0">
                <a:solidFill>
                  <a:schemeClr val="tx1"/>
                </a:solidFill>
                <a:latin typeface="+mn-lt"/>
                <a:ea typeface="+mn-ea"/>
                <a:cs typeface="+mn-cs"/>
              </a:rPr>
              <a:t> (어휘판단)</a:t>
            </a:r>
            <a:r>
              <a:rPr lang="ko-KR" altLang="ko-KR" dirty="0"/>
              <a:t>, </a:t>
            </a:r>
            <a:r>
              <a:rPr lang="ko-KR" altLang="ko-KR" sz="1200" kern="1200" dirty="0" err="1">
                <a:solidFill>
                  <a:schemeClr val="tx1"/>
                </a:solidFill>
                <a:latin typeface="+mn-lt"/>
                <a:ea typeface="+mn-ea"/>
                <a:cs typeface="+mn-cs"/>
              </a:rPr>
              <a:t>priming</a:t>
            </a:r>
            <a:r>
              <a:rPr lang="ko-KR" altLang="ko-KR" sz="1200" kern="1200" dirty="0">
                <a:solidFill>
                  <a:schemeClr val="tx1"/>
                </a:solidFill>
                <a:latin typeface="+mn-lt"/>
                <a:ea typeface="+mn-ea"/>
                <a:cs typeface="+mn-cs"/>
              </a:rPr>
              <a:t> (점화)</a:t>
            </a:r>
            <a:r>
              <a:rPr lang="ko-KR" altLang="ko-KR" dirty="0"/>
              <a:t>, </a:t>
            </a:r>
            <a:r>
              <a:rPr lang="ko-KR" altLang="ko-KR" sz="1200" kern="1200" dirty="0" err="1">
                <a:solidFill>
                  <a:schemeClr val="tx1"/>
                </a:solidFill>
                <a:latin typeface="+mn-lt"/>
                <a:ea typeface="+mn-ea"/>
                <a:cs typeface="+mn-cs"/>
              </a:rPr>
              <a:t>implicit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measures</a:t>
            </a:r>
            <a:r>
              <a:rPr lang="ko-KR" altLang="ko-KR" sz="1200" kern="1200" dirty="0">
                <a:solidFill>
                  <a:schemeClr val="tx1"/>
                </a:solidFill>
                <a:latin typeface="+mn-lt"/>
                <a:ea typeface="+mn-ea"/>
                <a:cs typeface="+mn-cs"/>
              </a:rPr>
              <a:t> (암묵적 측정)</a:t>
            </a:r>
            <a:r>
              <a:rPr lang="ko-KR" altLang="ko-KR" dirty="0"/>
              <a:t>도 활발하게 사용되었습니다.</a:t>
            </a:r>
          </a:p>
          <a:p>
            <a:r>
              <a:rPr lang="ko-KR" altLang="ko-KR" dirty="0"/>
              <a:t>인터넷 연구, 가상현실, 일상에서 반복적으로 자료를 수집하는 </a:t>
            </a:r>
            <a:r>
              <a:rPr lang="ko-KR" altLang="ko-KR" sz="1200" kern="1200" dirty="0" err="1">
                <a:solidFill>
                  <a:schemeClr val="tx1"/>
                </a:solidFill>
                <a:latin typeface="+mn-lt"/>
                <a:ea typeface="+mn-ea"/>
                <a:cs typeface="+mn-cs"/>
              </a:rPr>
              <a:t>ambulatory</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assessment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이동식·일상생활</a:t>
            </a:r>
            <a:r>
              <a:rPr lang="ko-KR" altLang="ko-KR" sz="1200" kern="1200" dirty="0">
                <a:solidFill>
                  <a:schemeClr val="tx1"/>
                </a:solidFill>
                <a:latin typeface="+mn-lt"/>
                <a:ea typeface="+mn-ea"/>
                <a:cs typeface="+mn-cs"/>
              </a:rPr>
              <a:t> 평가)</a:t>
            </a:r>
            <a:r>
              <a:rPr lang="ko-KR" altLang="ko-KR" dirty="0"/>
              <a:t>도 연구 범위를 넓혔습니다.</a:t>
            </a:r>
          </a:p>
          <a:p>
            <a:r>
              <a:rPr lang="ko-KR" altLang="ko-KR" dirty="0"/>
              <a:t>그런데 역설적으로 도구의 정밀성은 높아졌지만 실제 행동을 측정하는 연구는 감소했습니다. </a:t>
            </a:r>
            <a:r>
              <a:rPr lang="ko-KR" altLang="ko-KR" dirty="0" err="1"/>
              <a:t>Baumeister와</a:t>
            </a:r>
            <a:r>
              <a:rPr lang="ko-KR" altLang="ko-KR" dirty="0"/>
              <a:t> 동료들에 따르면 </a:t>
            </a:r>
            <a:r>
              <a:rPr lang="ko-KR" altLang="ko-KR" dirty="0" err="1"/>
              <a:t>JPSP에서</a:t>
            </a:r>
            <a:r>
              <a:rPr lang="ko-KR" altLang="ko-KR" dirty="0"/>
              <a:t> 실제 행동을 포함한 연구의 비율은 1976년 약 80%에서 2006년 약 15%로 감소했습니다.</a:t>
            </a:r>
          </a:p>
          <a:p>
            <a:r>
              <a:rPr lang="ko-KR" altLang="ko-KR" dirty="0"/>
              <a:t>실제 행동 연구는 시간과 비용이 많이 들고 윤리적 문제가 발생할 수 있으며 표준화하기 어렵습니다. 반면 자기보고와 반응시간 자료는 비교적 수집하기 쉽고 출판에도 유리했습니다.</a:t>
            </a:r>
          </a:p>
          <a:p>
            <a:r>
              <a:rPr lang="ko-KR" altLang="ko-KR" dirty="0"/>
              <a:t>하지만 자기보고나 반응시간이 실제 행동과 완전히 일치하는 것은 아닙니다. </a:t>
            </a:r>
            <a:r>
              <a:rPr lang="ko-KR" altLang="ko-KR" dirty="0" err="1"/>
              <a:t>Reis가</a:t>
            </a:r>
            <a:r>
              <a:rPr lang="ko-KR" altLang="ko-KR" dirty="0"/>
              <a:t> 말하는 </a:t>
            </a:r>
            <a:r>
              <a:rPr lang="ko-KR" altLang="ko-KR" sz="1200" kern="1200" dirty="0" err="1">
                <a:solidFill>
                  <a:schemeClr val="tx1"/>
                </a:solidFill>
                <a:latin typeface="+mn-lt"/>
                <a:ea typeface="+mn-ea"/>
                <a:cs typeface="+mn-cs"/>
              </a:rPr>
              <a:t>self-reports</a:t>
            </a:r>
            <a:r>
              <a:rPr lang="ko-KR" altLang="ko-KR" sz="1200" kern="1200" dirty="0">
                <a:solidFill>
                  <a:schemeClr val="tx1"/>
                </a:solidFill>
                <a:latin typeface="+mn-lt"/>
                <a:ea typeface="+mn-ea"/>
                <a:cs typeface="+mn-cs"/>
              </a:rPr>
              <a:t> and </a:t>
            </a:r>
            <a:r>
              <a:rPr lang="ko-KR" altLang="ko-KR" sz="1200" kern="1200" dirty="0" err="1">
                <a:solidFill>
                  <a:schemeClr val="tx1"/>
                </a:solidFill>
                <a:latin typeface="+mn-lt"/>
                <a:ea typeface="+mn-ea"/>
                <a:cs typeface="+mn-cs"/>
              </a:rPr>
              <a:t>finger</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movements</a:t>
            </a:r>
            <a:r>
              <a:rPr lang="ko-KR" altLang="ko-KR" sz="1200" kern="1200" dirty="0">
                <a:solidFill>
                  <a:schemeClr val="tx1"/>
                </a:solidFill>
                <a:latin typeface="+mn-lt"/>
                <a:ea typeface="+mn-ea"/>
                <a:cs typeface="+mn-cs"/>
              </a:rPr>
              <a:t> (자기보고와 손가락 움직임)</a:t>
            </a:r>
            <a:r>
              <a:rPr lang="ko-KR" altLang="ko-KR" dirty="0"/>
              <a:t>만으로 사회적 행동을 충분히 설명할 수 있는가라는 문제가 남습니다.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22</a:t>
            </a:fld>
            <a:endParaRPr lang="ko-KR" altLang="en-US"/>
          </a:p>
        </p:txBody>
      </p:sp>
    </p:spTree>
    <p:extLst>
      <p:ext uri="{BB962C8B-B14F-4D97-AF65-F5344CB8AC3E}">
        <p14:creationId xmlns:p14="http://schemas.microsoft.com/office/powerpoint/2010/main" val="3324135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학제 간 확장은 생물학과 문화 연구에서도 나타났습니다.</a:t>
            </a:r>
          </a:p>
          <a:p>
            <a:r>
              <a:rPr lang="ko-KR" altLang="ko-KR" dirty="0"/>
              <a:t>진화심리학은 인간의 행동을 고정된 본능으로만 설명하는 것이 아니라, 환경에 유연하게 반응하도록 발달한 적응으로 설명하기 시작했습니다.</a:t>
            </a:r>
          </a:p>
          <a:p>
            <a:r>
              <a:rPr lang="ko-KR" altLang="ko-KR" dirty="0"/>
              <a:t>사회신경과학에서는 </a:t>
            </a:r>
            <a:r>
              <a:rPr lang="ko-KR" altLang="ko-KR" dirty="0" err="1"/>
              <a:t>fMRI</a:t>
            </a:r>
            <a:r>
              <a:rPr lang="ko-KR" altLang="ko-KR" dirty="0"/>
              <a:t> 등을 이용하여 사랑, 자기평가, 공감, 자기통제, 사회적 거절과 관련된 뇌 활동을 측정했습니다. 목적은 사회심리학적 이론을 뇌 영역 하나로 환원하는 것이 아니라, 심리적 설명을 생물학적으로 가능한 과정과 연결하는 데 있었습니다.</a:t>
            </a:r>
          </a:p>
          <a:p>
            <a:r>
              <a:rPr lang="ko-KR" altLang="ko-KR" dirty="0"/>
              <a:t>문화 연구에서도 변화가 나타났습니다. 기존에는 문화가 보편적인 결과를 찾는 데 방해가 되는 </a:t>
            </a:r>
            <a:r>
              <a:rPr lang="ko-KR" altLang="ko-KR" sz="1200" kern="1200" dirty="0" err="1">
                <a:solidFill>
                  <a:schemeClr val="tx1"/>
                </a:solidFill>
                <a:latin typeface="+mn-lt"/>
                <a:ea typeface="+mn-ea"/>
                <a:cs typeface="+mn-cs"/>
              </a:rPr>
              <a:t>noise</a:t>
            </a:r>
            <a:r>
              <a:rPr lang="ko-KR" altLang="ko-KR" sz="1200" kern="1200" dirty="0">
                <a:solidFill>
                  <a:schemeClr val="tx1"/>
                </a:solidFill>
                <a:latin typeface="+mn-lt"/>
                <a:ea typeface="+mn-ea"/>
                <a:cs typeface="+mn-cs"/>
              </a:rPr>
              <a:t> (잡음)</a:t>
            </a:r>
            <a:r>
              <a:rPr lang="ko-KR" altLang="ko-KR" dirty="0"/>
              <a:t>처럼 취급되기도 했습니다. 하지만 개인주의와 집단주의 연구가 발전하면서, 서구에서 보편적이라고 여겼던 개념도 문화에 따라 다르게 나타날 수 있다는 점이 확인되었습니다.</a:t>
            </a:r>
          </a:p>
          <a:p>
            <a:r>
              <a:rPr lang="ko-KR" altLang="ko-KR" dirty="0"/>
              <a:t>결국 인간에게 공통된 심리적 기반이 있더라도, 그것이 실제로 표현되는 방식은 </a:t>
            </a:r>
            <a:r>
              <a:rPr lang="ko-KR" altLang="ko-KR" dirty="0" err="1"/>
              <a:t>사회적·문화적</a:t>
            </a:r>
            <a:r>
              <a:rPr lang="ko-KR" altLang="ko-KR" dirty="0"/>
              <a:t> 맥락에 따라 달라질 수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23</a:t>
            </a:fld>
            <a:endParaRPr lang="ko-KR" altLang="en-US"/>
          </a:p>
        </p:txBody>
      </p:sp>
    </p:spTree>
    <p:extLst>
      <p:ext uri="{BB962C8B-B14F-4D97-AF65-F5344CB8AC3E}">
        <p14:creationId xmlns:p14="http://schemas.microsoft.com/office/powerpoint/2010/main" val="2594950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2010년 이후에는 웹 기반 표본과 빅데이터가 사회심리학의 연구환경을 다시 변화시킵니다.</a:t>
            </a:r>
          </a:p>
          <a:p>
            <a:r>
              <a:rPr lang="ko-KR" altLang="ko-KR" dirty="0"/>
              <a:t>온라인 패널과 플랫폼을 사용하면 심리학과 학부생을 넘어 다양한 연령과 지역의 표본을 모집할 수 있습니다. 또한 실제 온라인 행동, 게시글, 검색기록, 스마트폰 로그와 같이 자연스럽게 생성된 자료를 분석할 수 있게 되었습니다.</a:t>
            </a:r>
          </a:p>
          <a:p>
            <a:r>
              <a:rPr lang="ko-KR" altLang="ko-KR" dirty="0"/>
              <a:t>장점은 명확합니다. 큰 표본을 통해 높은 통계적 </a:t>
            </a:r>
            <a:r>
              <a:rPr lang="ko-KR" altLang="ko-KR" dirty="0" err="1"/>
              <a:t>검정력을</a:t>
            </a:r>
            <a:r>
              <a:rPr lang="ko-KR" altLang="ko-KR" dirty="0"/>
              <a:t> 확보할 수 있고, 비용을 줄이면서 복잡한 조절효과를 분석할 수 있습니다. 이미 축적된 자료를 이용하면 과거의 변화도 종단적으로 검토할 수 있습니다.</a:t>
            </a:r>
          </a:p>
          <a:p>
            <a:r>
              <a:rPr lang="ko-KR" altLang="ko-KR" dirty="0"/>
              <a:t>그러나 새로운 문제도 나타납니다. 온라인 참가자가 지시문을 충분히 읽지 않거나, 동일한 사람이 반복 참여하거나, 유사한 연구에 이미 여러 번 노출되었을 수 있습니다. 플랫폼에서 수집된 자료라면 플랫폼 이용자 구성이 모집단을 대표하는지도 확인해야 합니다.</a:t>
            </a:r>
          </a:p>
          <a:p>
            <a:r>
              <a:rPr lang="ko-KR" altLang="ko-KR" dirty="0"/>
              <a:t>최근에는 사람이 작성한 자료와 </a:t>
            </a:r>
            <a:r>
              <a:rPr lang="ko-KR" altLang="ko-KR" dirty="0" err="1"/>
              <a:t>AI가</a:t>
            </a:r>
            <a:r>
              <a:rPr lang="ko-KR" altLang="ko-KR" dirty="0"/>
              <a:t> 생성한 활동 흔적을 구분하는 문제까지 추가되고 있습니다.</a:t>
            </a:r>
          </a:p>
          <a:p>
            <a:r>
              <a:rPr lang="ko-KR" altLang="ko-KR" dirty="0"/>
              <a:t>따라서 표본이 다양하다는 것과 모집단을 대표한다는 것은 같은 의미가 아닙니다. </a:t>
            </a:r>
            <a:r>
              <a:rPr lang="ko-KR" altLang="ko-KR" dirty="0" err="1"/>
              <a:t>Reis의</a:t>
            </a:r>
            <a:r>
              <a:rPr lang="ko-KR" altLang="ko-KR" dirty="0"/>
              <a:t> 표현대로 인터넷 연구방법의 최적화는 여전히 </a:t>
            </a:r>
            <a:r>
              <a:rPr lang="ko-KR" altLang="ko-KR" sz="1200" kern="1200" dirty="0" err="1">
                <a:solidFill>
                  <a:schemeClr val="tx1"/>
                </a:solidFill>
                <a:latin typeface="+mn-lt"/>
                <a:ea typeface="+mn-ea"/>
                <a:cs typeface="+mn-cs"/>
              </a:rPr>
              <a:t>work</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in</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progress</a:t>
            </a:r>
            <a:r>
              <a:rPr lang="ko-KR" altLang="ko-KR" sz="1200" kern="1200" dirty="0">
                <a:solidFill>
                  <a:schemeClr val="tx1"/>
                </a:solidFill>
                <a:latin typeface="+mn-lt"/>
                <a:ea typeface="+mn-ea"/>
                <a:cs typeface="+mn-cs"/>
              </a:rPr>
              <a:t> (진행 중인 과제)</a:t>
            </a:r>
            <a:r>
              <a:rPr lang="ko-KR" altLang="ko-KR" dirty="0"/>
              <a:t>입니다.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24</a:t>
            </a:fld>
            <a:endParaRPr lang="ko-KR" altLang="en-US"/>
          </a:p>
        </p:txBody>
      </p:sp>
    </p:spTree>
    <p:extLst>
      <p:ext uri="{BB962C8B-B14F-4D97-AF65-F5344CB8AC3E}">
        <p14:creationId xmlns:p14="http://schemas.microsoft.com/office/powerpoint/2010/main" val="3765946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두 번째 토론은 인터넷 자료의 타당성에 관한 문제입니다.</a:t>
            </a:r>
          </a:p>
          <a:p>
            <a:r>
              <a:rPr lang="ko-KR" altLang="ko-KR" dirty="0"/>
              <a:t>가상의 대학원생 </a:t>
            </a:r>
            <a:r>
              <a:rPr lang="ko-KR" altLang="ko-KR" dirty="0" err="1"/>
              <a:t>A가</a:t>
            </a:r>
            <a:r>
              <a:rPr lang="ko-KR" altLang="ko-KR" dirty="0"/>
              <a:t> 2018년부터 2025년까지 온라인 커뮤니티 게시글 120만 건을 수집했다고 가정하겠습니다. AI 기반 적대성 분류기의 평균 점수가 40% 증가했고, 이를 근거로 “한국 청년 남성들의 적대감이 </a:t>
            </a:r>
            <a:r>
              <a:rPr lang="ko-KR" altLang="ko-KR" dirty="0" err="1"/>
              <a:t>증가했다”고</a:t>
            </a:r>
            <a:r>
              <a:rPr lang="ko-KR" altLang="ko-KR" dirty="0"/>
              <a:t> 결론 내렸습니다.</a:t>
            </a:r>
          </a:p>
          <a:p>
            <a:r>
              <a:rPr lang="ko-KR" altLang="ko-KR" dirty="0"/>
              <a:t>[청중을 보며]</a:t>
            </a:r>
          </a:p>
          <a:p>
            <a:r>
              <a:rPr lang="ko-KR" altLang="ko-KR" dirty="0"/>
              <a:t>여러분은 이 결론에 동의하십니까? 우선 이 자료가 직접적으로 관찰한 대상이 사람인지, </a:t>
            </a:r>
            <a:r>
              <a:rPr lang="ko-KR" altLang="ko-KR" dirty="0" err="1"/>
              <a:t>게시글인지부터</a:t>
            </a:r>
            <a:r>
              <a:rPr lang="ko-KR" altLang="ko-KR" dirty="0"/>
              <a:t> 생각해보면 좋겠습니다.</a:t>
            </a:r>
          </a:p>
          <a:p>
            <a:r>
              <a:rPr lang="ko-KR" altLang="ko-KR" dirty="0"/>
              <a:t>현재 자료가 직접적으로 지지하는 결론은 “수집된 </a:t>
            </a:r>
            <a:r>
              <a:rPr lang="ko-KR" altLang="ko-KR" dirty="0" err="1"/>
              <a:t>게시글에서</a:t>
            </a:r>
            <a:r>
              <a:rPr lang="ko-KR" altLang="ko-KR" dirty="0"/>
              <a:t> AI 분류기가 측정한 적대적 표현이 </a:t>
            </a:r>
            <a:r>
              <a:rPr lang="ko-KR" altLang="ko-KR" dirty="0" err="1"/>
              <a:t>증가했다”는</a:t>
            </a:r>
            <a:r>
              <a:rPr lang="ko-KR" altLang="ko-KR" dirty="0"/>
              <a:t> 것입니다.</a:t>
            </a:r>
          </a:p>
          <a:p>
            <a:r>
              <a:rPr lang="ko-KR" altLang="ko-KR" dirty="0"/>
              <a:t>하지만 여기서 특정 커뮤니티 이용자의 태도, 다시 한국 청년 남성 전체의 태도로 넘어가려면 추론의 범위가 계속 넓어집니다. 플랫폼 이용자가 청년 남성 전체를 대표하는지, 동일한 이용자가 게시글을 반복 작성한 것은 아닌지, 플랫폼의 이용자 구성이 변한 것은 아닌지 확인해야 합니다.</a:t>
            </a:r>
          </a:p>
          <a:p>
            <a:r>
              <a:rPr lang="ko-KR" altLang="ko-KR" dirty="0"/>
              <a:t>AI 분류기의 신뢰도가 높다고 하더라도 </a:t>
            </a:r>
            <a:r>
              <a:rPr lang="ko-KR" altLang="ko-KR" sz="1200" kern="1200" dirty="0" err="1">
                <a:solidFill>
                  <a:schemeClr val="tx1"/>
                </a:solidFill>
                <a:latin typeface="+mn-lt"/>
                <a:ea typeface="+mn-ea"/>
                <a:cs typeface="+mn-cs"/>
              </a:rPr>
              <a:t>construct</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validity</a:t>
            </a:r>
            <a:r>
              <a:rPr lang="ko-KR" altLang="ko-KR" sz="1200" kern="1200" dirty="0">
                <a:solidFill>
                  <a:schemeClr val="tx1"/>
                </a:solidFill>
                <a:latin typeface="+mn-lt"/>
                <a:ea typeface="+mn-ea"/>
                <a:cs typeface="+mn-cs"/>
              </a:rPr>
              <a:t> (구성개념 타당도)</a:t>
            </a:r>
            <a:r>
              <a:rPr lang="ko-KR" altLang="ko-KR" dirty="0"/>
              <a:t> 문제는 남습니다. 적대적 단어가 실제 적대감을 의미하는지, 풍자나 인용, </a:t>
            </a:r>
            <a:r>
              <a:rPr lang="ko-KR" altLang="ko-KR" dirty="0" err="1"/>
              <a:t>밈을</a:t>
            </a:r>
            <a:r>
              <a:rPr lang="ko-KR" altLang="ko-KR" dirty="0"/>
              <a:t> 잘못 분류한 것은 아닌지 검증해야 합니다.</a:t>
            </a:r>
          </a:p>
          <a:p>
            <a:r>
              <a:rPr lang="ko-KR" altLang="ko-KR" dirty="0"/>
              <a:t>그렇다면 이 결론을 강화하기 위해 연구를 하나만 더 할 수 있다면 무엇을 </a:t>
            </a:r>
            <a:r>
              <a:rPr lang="ko-KR" altLang="ko-KR" dirty="0" err="1"/>
              <a:t>선택하시겠습니까</a:t>
            </a:r>
            <a:r>
              <a:rPr lang="ko-KR" altLang="ko-KR" dirty="0"/>
              <a:t>?</a:t>
            </a:r>
          </a:p>
          <a:p>
            <a:r>
              <a:rPr lang="ko-KR" altLang="ko-KR" dirty="0"/>
              <a:t>대표성 있는 설문이나 공식 통계와 비교할 수도 있고, 오프라인 행동지표를 추가할 수도 있습니다. 복수 플랫폼을 비교하거나 동일 이용자를 종단적으로 추적할 수도 있고, 특정 사건을 이용한 준실험을 설계할 수도 있습니다.</a:t>
            </a:r>
          </a:p>
          <a:p>
            <a:r>
              <a:rPr lang="ko-KR" altLang="ko-KR" dirty="0"/>
              <a:t>[의견을 받은 뒤]</a:t>
            </a:r>
          </a:p>
          <a:p>
            <a:r>
              <a:rPr lang="ko-KR" altLang="ko-KR" dirty="0"/>
              <a:t>핵심은 인터넷 자료가 본질적으로 낮은 타당도를 갖는 것이 아니라, 자료가 직접 뒷받침하는 주장과 연구자가 실제로 제시하는 주장의 거리가 얼마나 </a:t>
            </a:r>
            <a:r>
              <a:rPr lang="ko-KR" altLang="ko-KR" dirty="0" err="1"/>
              <a:t>먼가입니다</a:t>
            </a:r>
            <a:r>
              <a:rPr lang="ko-KR" altLang="ko-KR" dirty="0"/>
              <a:t>.</a:t>
            </a:r>
          </a:p>
          <a:p>
            <a:r>
              <a:rPr lang="ko-KR" altLang="ko-KR" dirty="0"/>
              <a:t>온라인 자료는 자연스럽게 발생한 행동을 기술하고 새로운 가설을 발견하는 데 강합니다. 그러나 개인의 심리상태, 모집단 전체, 인과관계까지 주장하려면 다른 자료와의 </a:t>
            </a:r>
            <a:r>
              <a:rPr lang="ko-KR" altLang="ko-KR" sz="1200" kern="1200" dirty="0" err="1">
                <a:solidFill>
                  <a:schemeClr val="tx1"/>
                </a:solidFill>
                <a:latin typeface="+mn-lt"/>
                <a:ea typeface="+mn-ea"/>
                <a:cs typeface="+mn-cs"/>
              </a:rPr>
              <a:t>triangulation</a:t>
            </a:r>
            <a:r>
              <a:rPr lang="ko-KR" altLang="ko-KR" sz="1200" kern="1200" dirty="0">
                <a:solidFill>
                  <a:schemeClr val="tx1"/>
                </a:solidFill>
                <a:latin typeface="+mn-lt"/>
                <a:ea typeface="+mn-ea"/>
                <a:cs typeface="+mn-cs"/>
              </a:rPr>
              <a:t> (삼각검증)</a:t>
            </a:r>
            <a:r>
              <a:rPr lang="ko-KR" altLang="ko-KR" dirty="0"/>
              <a:t>이 필요합니다.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25</a:t>
            </a:fld>
            <a:endParaRPr lang="ko-KR" altLang="en-US"/>
          </a:p>
        </p:txBody>
      </p:sp>
    </p:spTree>
    <p:extLst>
      <p:ext uri="{BB962C8B-B14F-4D97-AF65-F5344CB8AC3E}">
        <p14:creationId xmlns:p14="http://schemas.microsoft.com/office/powerpoint/2010/main" val="807123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빅데이터가 연구 가능성을 확장한 것과 동시에, 사회심리학은 두 번째 신뢰의 위기를 경험합니다.</a:t>
            </a:r>
          </a:p>
          <a:p>
            <a:r>
              <a:rPr lang="ko-KR" altLang="ko-KR" dirty="0" err="1"/>
              <a:t>Simmons와</a:t>
            </a:r>
            <a:r>
              <a:rPr lang="ko-KR" altLang="ko-KR" dirty="0"/>
              <a:t> 동료들은 연구자가 표본 수, 종속변수, </a:t>
            </a:r>
            <a:r>
              <a:rPr lang="ko-KR" altLang="ko-KR" dirty="0" err="1"/>
              <a:t>공변량</a:t>
            </a:r>
            <a:r>
              <a:rPr lang="ko-KR" altLang="ko-KR" dirty="0"/>
              <a:t>, 분석방법 등을 유연하게 선택하면 거짓 양성 결과가 증가할 수 있다고 지적했습니다.</a:t>
            </a:r>
          </a:p>
          <a:p>
            <a:r>
              <a:rPr lang="ko-KR" altLang="ko-KR" dirty="0" err="1"/>
              <a:t>John과</a:t>
            </a:r>
            <a:r>
              <a:rPr lang="ko-KR" altLang="ko-KR" dirty="0"/>
              <a:t> 동료들은 선택적인 결과보고나 사후 가설설정과 같은 </a:t>
            </a:r>
            <a:r>
              <a:rPr lang="ko-KR" altLang="ko-KR" sz="1200" kern="1200" dirty="0" err="1">
                <a:solidFill>
                  <a:schemeClr val="tx1"/>
                </a:solidFill>
                <a:latin typeface="+mn-lt"/>
                <a:ea typeface="+mn-ea"/>
                <a:cs typeface="+mn-cs"/>
              </a:rPr>
              <a:t>questionable</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research</a:t>
            </a:r>
            <a:r>
              <a:rPr lang="ko-KR" altLang="ko-KR" sz="1200" kern="1200" dirty="0">
                <a:solidFill>
                  <a:schemeClr val="tx1"/>
                </a:solidFill>
                <a:latin typeface="+mn-lt"/>
                <a:ea typeface="+mn-ea"/>
                <a:cs typeface="+mn-cs"/>
              </a:rPr>
              <a:t> </a:t>
            </a:r>
            <a:r>
              <a:rPr lang="ko-KR" altLang="ko-KR" sz="1200" kern="1200" dirty="0" err="1">
                <a:solidFill>
                  <a:schemeClr val="tx1"/>
                </a:solidFill>
                <a:latin typeface="+mn-lt"/>
                <a:ea typeface="+mn-ea"/>
                <a:cs typeface="+mn-cs"/>
              </a:rPr>
              <a:t>practices</a:t>
            </a:r>
            <a:r>
              <a:rPr lang="ko-KR" altLang="ko-KR" sz="1200" kern="1200" dirty="0">
                <a:solidFill>
                  <a:schemeClr val="tx1"/>
                </a:solidFill>
                <a:latin typeface="+mn-lt"/>
                <a:ea typeface="+mn-ea"/>
                <a:cs typeface="+mn-cs"/>
              </a:rPr>
              <a:t> (의심스러운 연구관행)</a:t>
            </a:r>
            <a:r>
              <a:rPr lang="ko-KR" altLang="ko-KR" dirty="0"/>
              <a:t>이 실제 연구현장에서 얼마나 사용되는지를 조사했습니다.</a:t>
            </a:r>
          </a:p>
          <a:p>
            <a:r>
              <a:rPr lang="ko-KR" altLang="ko-KR" dirty="0"/>
              <a:t>이후 대규모 재현 프로젝트가 진행되었습니다. </a:t>
            </a:r>
            <a:r>
              <a:rPr lang="ko-KR" altLang="ko-KR" dirty="0" err="1"/>
              <a:t>Open</a:t>
            </a:r>
            <a:r>
              <a:rPr lang="ko-KR" altLang="ko-KR" dirty="0"/>
              <a:t> </a:t>
            </a:r>
            <a:r>
              <a:rPr lang="ko-KR" altLang="ko-KR" dirty="0" err="1"/>
              <a:t>Science</a:t>
            </a:r>
            <a:r>
              <a:rPr lang="ko-KR" altLang="ko-KR" dirty="0"/>
              <a:t> </a:t>
            </a:r>
            <a:r>
              <a:rPr lang="ko-KR" altLang="ko-KR" dirty="0" err="1"/>
              <a:t>Collaboration은</a:t>
            </a:r>
            <a:r>
              <a:rPr lang="ko-KR" altLang="ko-KR" dirty="0"/>
              <a:t> 100개 연구를 반복했고, 유의한 결과가 다시 나타난 비율은 약 36%, 원 연구의 신뢰구간에 포함된 비율은 약 47%였습니다.</a:t>
            </a:r>
          </a:p>
          <a:p>
            <a:r>
              <a:rPr lang="ko-KR" altLang="ko-KR" dirty="0"/>
              <a:t>반면 </a:t>
            </a:r>
            <a:r>
              <a:rPr lang="ko-KR" altLang="ko-KR" dirty="0" err="1"/>
              <a:t>Many</a:t>
            </a:r>
            <a:r>
              <a:rPr lang="ko-KR" altLang="ko-KR" dirty="0"/>
              <a:t> </a:t>
            </a:r>
            <a:r>
              <a:rPr lang="ko-KR" altLang="ko-KR" dirty="0" err="1"/>
              <a:t>Labs</a:t>
            </a:r>
            <a:r>
              <a:rPr lang="ko-KR" altLang="ko-KR" dirty="0"/>
              <a:t> 프로젝트에서는 13개 효과 중 11개가 지지되었습니다. </a:t>
            </a:r>
            <a:r>
              <a:rPr lang="ko-KR" altLang="ko-KR" dirty="0" err="1"/>
              <a:t>Ego-depletion을</a:t>
            </a:r>
            <a:r>
              <a:rPr lang="ko-KR" altLang="ko-KR" dirty="0"/>
              <a:t> 23개 연구실에서 반복한 연구에서는 효과크기가 거의 0에 가까웠고 신뢰구간도 0을 포함했습니다.</a:t>
            </a:r>
          </a:p>
          <a:p>
            <a:r>
              <a:rPr lang="ko-KR" altLang="ko-KR" dirty="0"/>
              <a:t>이 결과만 보면 사회심리학 연구가 전부 재현되지 않는 것처럼 보이지만, 해석은 단순하지 않습니다. 재현 성공을 무엇으로 정의하는지, </a:t>
            </a:r>
            <a:r>
              <a:rPr lang="ko-KR" altLang="ko-KR" dirty="0" err="1"/>
              <a:t>검정력은</a:t>
            </a:r>
            <a:r>
              <a:rPr lang="ko-KR" altLang="ko-KR" dirty="0"/>
              <a:t> 충분했는지, 원 실험의 절차를 정확히 구현했는지에 따라 결론이 달라질 수 있습니다.</a:t>
            </a:r>
          </a:p>
          <a:p>
            <a:r>
              <a:rPr lang="ko-KR" altLang="ko-KR" dirty="0" err="1"/>
              <a:t>Gilbert는</a:t>
            </a:r>
            <a:r>
              <a:rPr lang="ko-KR" altLang="ko-KR" dirty="0"/>
              <a:t> </a:t>
            </a:r>
            <a:r>
              <a:rPr lang="ko-KR" altLang="ko-KR" dirty="0" err="1"/>
              <a:t>OSC의</a:t>
            </a:r>
            <a:r>
              <a:rPr lang="ko-KR" altLang="ko-KR" dirty="0"/>
              <a:t> 성공률 계산과 표본오차 해석을 비판했고, </a:t>
            </a:r>
            <a:r>
              <a:rPr lang="ko-KR" altLang="ko-KR" dirty="0" err="1"/>
              <a:t>Baumeister는</a:t>
            </a:r>
            <a:r>
              <a:rPr lang="ko-KR" altLang="ko-KR" dirty="0"/>
              <a:t> </a:t>
            </a:r>
            <a:r>
              <a:rPr lang="ko-KR" altLang="ko-KR" dirty="0" err="1"/>
              <a:t>ego-depletion</a:t>
            </a:r>
            <a:r>
              <a:rPr lang="ko-KR" altLang="ko-KR" dirty="0"/>
              <a:t> 반복연구가 원래 현상을 구현하지 못했다고 주장했습니다.</a:t>
            </a:r>
          </a:p>
          <a:p>
            <a:r>
              <a:rPr lang="ko-KR" altLang="ko-KR" dirty="0"/>
              <a:t>따라서 연구관행을 개선해야 한다는 점에는 비교적 합의가 있지만, 위기의 정확한 규모와 원인, 해결책에 대해서는 여전히 논쟁이 진행되고 있습니다.</a:t>
            </a:r>
          </a:p>
          <a:p>
            <a:endParaRPr lang="ko-KR" altLang="en-US" dirty="0"/>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26</a:t>
            </a:fld>
            <a:endParaRPr lang="ko-KR" altLang="en-US"/>
          </a:p>
        </p:txBody>
      </p:sp>
    </p:spTree>
    <p:extLst>
      <p:ext uri="{BB962C8B-B14F-4D97-AF65-F5344CB8AC3E}">
        <p14:creationId xmlns:p14="http://schemas.microsoft.com/office/powerpoint/2010/main" val="586646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마지막으로 전체 흐름을 정리하겠습니다.</a:t>
            </a:r>
          </a:p>
          <a:p>
            <a:r>
              <a:rPr lang="ko-KR" altLang="ko-KR" dirty="0"/>
              <a:t>전후 초기에는 집단역학과 사회적 영향이 중심이었고, 1970년대 이후에는 개인이 사회적 상황을 해석하는 사회인지가 부상했습니다.</a:t>
            </a:r>
          </a:p>
          <a:p>
            <a:r>
              <a:rPr lang="ko-KR" altLang="ko-KR" dirty="0"/>
              <a:t>1990년 이후에는 다른 학문과 생물학, 문화 연구로 범위가 확장되었고, 2010년 이후에는 빅데이터가 새로운 가능성을 제공하는 동시에 재현성과 연구 타당성에 대한 문제를 제기했습니다.</a:t>
            </a:r>
          </a:p>
          <a:p>
            <a:r>
              <a:rPr lang="ko-KR" altLang="ko-KR" dirty="0"/>
              <a:t>하지만 이 과정에서 사회심리학의 핵심 질문이 완전히 교체된 것은 아닙니다. 지속된 핵심은 사회적 맥락과 개인의 행동 사이의 관계입니다.</a:t>
            </a:r>
          </a:p>
          <a:p>
            <a:r>
              <a:rPr lang="ko-KR" altLang="ko-KR" dirty="0" err="1"/>
              <a:t>시대적·정치적</a:t>
            </a:r>
            <a:r>
              <a:rPr lang="ko-KR" altLang="ko-KR" dirty="0"/>
              <a:t> 맥락은 우리가 무엇을 질문하는지를 바꾸고, 새로운 기술은 그 질문에 답하는 방법을 바꿉니다.</a:t>
            </a:r>
          </a:p>
          <a:p>
            <a:r>
              <a:rPr lang="ko-KR" altLang="ko-KR" dirty="0"/>
              <a:t>따라서 좋은 사회심리학 이론은 군대, 대학 실험실, SNS, </a:t>
            </a:r>
            <a:r>
              <a:rPr lang="ko-KR" altLang="ko-KR" dirty="0" err="1"/>
              <a:t>AI와</a:t>
            </a:r>
            <a:r>
              <a:rPr lang="ko-KR" altLang="ko-KR" dirty="0"/>
              <a:t> 로봇처럼 표면적인 환경이 달라지더라도 그 안에서 작동하는 심리적 원리를 설명할 수 있어야 합니다.</a:t>
            </a:r>
          </a:p>
          <a:p>
            <a:r>
              <a:rPr lang="ko-KR" altLang="ko-KR" dirty="0" err="1"/>
              <a:t>Reis가</a:t>
            </a:r>
            <a:r>
              <a:rPr lang="ko-KR" altLang="ko-KR" dirty="0"/>
              <a:t> 사회심리학의 역사를 다루는 이유도 여기에 있습니다. 현재 사용되는 이론과 연구방법이 어떤 </a:t>
            </a:r>
            <a:r>
              <a:rPr lang="ko-KR" altLang="ko-KR" dirty="0" err="1"/>
              <a:t>사회적·역사적</a:t>
            </a:r>
            <a:r>
              <a:rPr lang="ko-KR" altLang="ko-KR" dirty="0"/>
              <a:t> 조건에서 만들어졌는지를 알아야, 새로운 도구가 등장했을 때도 그 가치를 비판적으로 판단할 수 있습니다.</a:t>
            </a:r>
          </a:p>
          <a:p>
            <a:r>
              <a:rPr lang="ko-KR" altLang="ko-KR"/>
              <a:t>이상으로 발표를 마치겠습니다</a:t>
            </a:r>
          </a:p>
          <a:p>
            <a:endParaRPr lang="ko-KR" altLang="en-US"/>
          </a:p>
        </p:txBody>
      </p:sp>
      <p:sp>
        <p:nvSpPr>
          <p:cNvPr id="4" name="슬라이드 번호 개체 틀 3"/>
          <p:cNvSpPr>
            <a:spLocks noGrp="1"/>
          </p:cNvSpPr>
          <p:nvPr>
            <p:ph type="sldNum" sz="quarter" idx="5"/>
          </p:nvPr>
        </p:nvSpPr>
        <p:spPr/>
        <p:txBody>
          <a:bodyPr/>
          <a:lstStyle/>
          <a:p>
            <a:fld id="{99B6DCA4-E063-40EE-9CE4-27D38E3FEED6}" type="slidenum">
              <a:rPr lang="ko-KR" altLang="en-US" smtClean="0"/>
              <a:t>27</a:t>
            </a:fld>
            <a:endParaRPr lang="ko-KR" altLang="en-US"/>
          </a:p>
        </p:txBody>
      </p:sp>
    </p:spTree>
    <p:extLst>
      <p:ext uri="{BB962C8B-B14F-4D97-AF65-F5344CB8AC3E}">
        <p14:creationId xmlns:p14="http://schemas.microsoft.com/office/powerpoint/2010/main" val="487365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 Id="rId9" Type="http://schemas.openxmlformats.org/officeDocument/2006/relationships/image" Target="../media/image23.svg"/></Relationships>
</file>

<file path=ppt/slides/_rels/slide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 Id="rId9" Type="http://schemas.openxmlformats.org/officeDocument/2006/relationships/image" Target="../media/image23.svg"/></Relationships>
</file>

<file path=ppt/slides/_rels/slide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11.xml.rels><?xml version="1.0" encoding="UTF-8" standalone="yes"?>
<Relationships xmlns="http://schemas.openxmlformats.org/package/2006/relationships"><Relationship Id="rId3" Type="http://schemas.openxmlformats.org/officeDocument/2006/relationships/image" Target="../media/image34.svg"/><Relationship Id="rId7" Type="http://schemas.openxmlformats.org/officeDocument/2006/relationships/image" Target="../media/image8.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10" Type="http://schemas.openxmlformats.org/officeDocument/2006/relationships/image" Target="../media/image42.svg"/><Relationship Id="rId4" Type="http://schemas.openxmlformats.org/officeDocument/2006/relationships/image" Target="../media/image10.svg"/><Relationship Id="rId9" Type="http://schemas.openxmlformats.org/officeDocument/2006/relationships/image" Target="../media/image15.svg"/></Relationships>
</file>

<file path=ppt/slides/_rels/slide1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31.svg"/></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svg"/></Relationships>
</file>

<file path=ppt/slides/_rels/slide2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svg"/></Relationships>
</file>

<file path=ppt/slides/_rels/slide2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5.svg"/><Relationship Id="rId4" Type="http://schemas.openxmlformats.org/officeDocument/2006/relationships/image" Target="../media/image54.svg"/></Relationships>
</file>

<file path=ppt/slides/_rels/slide2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56.svg"/><Relationship Id="rId4" Type="http://schemas.openxmlformats.org/officeDocument/2006/relationships/image" Target="../media/image55.svg"/></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7.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8.svg"/><Relationship Id="rId11" Type="http://schemas.openxmlformats.org/officeDocument/2006/relationships/image" Target="../media/image63.png"/><Relationship Id="rId5" Type="http://schemas.openxmlformats.org/officeDocument/2006/relationships/image" Target="../media/image50.svg"/><Relationship Id="rId10" Type="http://schemas.openxmlformats.org/officeDocument/2006/relationships/image" Target="../media/image62.png"/><Relationship Id="rId4" Type="http://schemas.openxmlformats.org/officeDocument/2006/relationships/image" Target="../media/image29.svg"/><Relationship Id="rId9" Type="http://schemas.openxmlformats.org/officeDocument/2006/relationships/image" Target="../media/image6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66.svg"/></Relationships>
</file>

<file path=ppt/slides/_rels/slide2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1219200" y="3860800"/>
            <a:ext cx="15709900" cy="1943100"/>
          </a:xfrm>
          <a:prstGeom prst="rect">
            <a:avLst/>
          </a:prstGeom>
        </p:spPr>
        <p:txBody>
          <a:bodyPr lIns="0" tIns="82550" rIns="0" bIns="50800" rtlCol="0" anchor="ctr"/>
          <a:lstStyle/>
          <a:p>
            <a:pPr lvl="0" algn="ctr">
              <a:lnSpc>
                <a:spcPct val="99600"/>
              </a:lnSpc>
            </a:pPr>
            <a:r>
              <a:rPr lang="en-US" sz="6498" b="0" i="0" u="none" strike="noStrike">
                <a:solidFill>
                  <a:srgbClr val="0063BA"/>
                </a:solidFill>
                <a:latin typeface="Pretendard Bold"/>
                <a:ea typeface="Pretendard Bold"/>
                <a:cs typeface="Pretendard Bold"/>
              </a:rPr>
              <a:t>전후 사회심리학의 확장과 재구성:</a:t>
            </a:r>
          </a:p>
          <a:p>
            <a:pPr lvl="0" algn="ctr">
              <a:lnSpc>
                <a:spcPct val="99600"/>
              </a:lnSpc>
            </a:pPr>
            <a:endParaRPr lang="en-US" sz="6498" b="0" i="0" u="none" strike="noStrike">
              <a:solidFill>
                <a:srgbClr val="0063BA"/>
              </a:solidFill>
              <a:latin typeface="Pretendard Bold"/>
              <a:ea typeface="Pretendard Bold"/>
              <a:cs typeface="Pretendard Bold"/>
            </a:endParaRPr>
          </a:p>
          <a:p>
            <a:pPr lvl="0" algn="ctr">
              <a:lnSpc>
                <a:spcPct val="99600"/>
              </a:lnSpc>
            </a:pPr>
            <a:r>
              <a:rPr lang="en-US" sz="3999" b="0" i="0" u="none" strike="noStrike">
                <a:solidFill>
                  <a:srgbClr val="0063BA"/>
                </a:solidFill>
                <a:latin typeface="Pretendard Bold"/>
                <a:ea typeface="Pretendard Bold"/>
                <a:cs typeface="Pretendard Bold"/>
              </a:rPr>
              <a:t>1946년부터 빅데이터·재현성 위기까지</a:t>
            </a:r>
          </a:p>
        </p:txBody>
      </p:sp>
      <p:sp>
        <p:nvSpPr>
          <p:cNvPr id="3" name="TextBox 3"/>
          <p:cNvSpPr txBox="1"/>
          <p:nvPr/>
        </p:nvSpPr>
        <p:spPr>
          <a:xfrm>
            <a:off x="1295400" y="6438900"/>
            <a:ext cx="15570200" cy="444500"/>
          </a:xfrm>
          <a:prstGeom prst="rect">
            <a:avLst/>
          </a:prstGeom>
        </p:spPr>
        <p:txBody>
          <a:bodyPr lIns="0" tIns="30480" rIns="0" bIns="0" rtlCol="0" anchor="t"/>
          <a:lstStyle/>
          <a:p>
            <a:pPr lvl="0" algn="ctr">
              <a:lnSpc>
                <a:spcPct val="99600"/>
              </a:lnSpc>
            </a:pPr>
            <a:r>
              <a:rPr lang="en-US" sz="2400" b="0" i="0" u="none" strike="noStrike" spc="-100">
                <a:solidFill>
                  <a:srgbClr val="000000"/>
                </a:solidFill>
                <a:latin typeface="Pretendard Regular"/>
                <a:ea typeface="Pretendard Regular"/>
                <a:cs typeface="Pretendard Regular"/>
              </a:rPr>
              <a:t>26-2 고급사회심리학</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 y="6172200"/>
            <a:ext cx="16929100" cy="38100"/>
          </a:xfrm>
          <a:prstGeom prst="rect">
            <a:avLst/>
          </a:prstGeom>
        </p:spPr>
      </p:pic>
      <p:sp>
        <p:nvSpPr>
          <p:cNvPr id="5" name="TextBox 5"/>
          <p:cNvSpPr txBox="1"/>
          <p:nvPr/>
        </p:nvSpPr>
        <p:spPr>
          <a:xfrm>
            <a:off x="13868400" y="9779000"/>
            <a:ext cx="4470400" cy="406400"/>
          </a:xfrm>
          <a:prstGeom prst="rect">
            <a:avLst/>
          </a:prstGeom>
        </p:spPr>
        <p:txBody>
          <a:bodyPr lIns="0" tIns="27589" rIns="0" bIns="0" rtlCol="0" anchor="t"/>
          <a:lstStyle/>
          <a:p>
            <a:pPr lvl="0" algn="ctr">
              <a:lnSpc>
                <a:spcPct val="99600"/>
              </a:lnSpc>
            </a:pPr>
            <a:r>
              <a:rPr lang="en-US" sz="2172" b="0" i="0" u="none" strike="noStrike" spc="-100">
                <a:solidFill>
                  <a:srgbClr val="595959"/>
                </a:solidFill>
                <a:latin typeface="Pretendard Regular"/>
                <a:ea typeface="Pretendard Regular"/>
                <a:cs typeface="Pretendard Regular"/>
              </a:rPr>
              <a:t>발표자: AI</a:t>
            </a:r>
            <a:r>
              <a:rPr lang="en-US" sz="1448" b="0" i="0" u="none" strike="noStrike" spc="-100">
                <a:solidFill>
                  <a:srgbClr val="595959"/>
                </a:solidFill>
                <a:latin typeface="Pretendard Regular"/>
                <a:ea typeface="Pretendard Regular"/>
                <a:cs typeface="Pretendard Regular"/>
              </a:rPr>
              <a:t> </a:t>
            </a:r>
            <a:r>
              <a:rPr lang="en-US" sz="2172" b="0" i="0" u="none" strike="noStrike" spc="-100">
                <a:solidFill>
                  <a:srgbClr val="595959"/>
                </a:solidFill>
                <a:latin typeface="Pretendard Regular"/>
                <a:ea typeface="Pretendard Regular"/>
                <a:cs typeface="Pretendard Regular"/>
              </a:rPr>
              <a:t>심리 전공 석사과정 김유빈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531600" cy="749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전후 사회심리학의 동향</a:t>
            </a:r>
          </a:p>
        </p:txBody>
      </p:sp>
      <p:sp>
        <p:nvSpPr>
          <p:cNvPr id="3" name="TextBox 3"/>
          <p:cNvSpPr txBox="1"/>
          <p:nvPr/>
        </p:nvSpPr>
        <p:spPr>
          <a:xfrm>
            <a:off x="635000" y="6896100"/>
            <a:ext cx="17119600" cy="9779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학계가 다루는 Core phenomena(핵심 현상)는 지속되었음</a:t>
            </a:r>
          </a:p>
          <a:p>
            <a:pPr marL="660400" lvl="2"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“사회적 세계가 개인의 행동에 어떤 영향을 미치는가?”</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442871">
            <a:off x="3632200" y="4102100"/>
            <a:ext cx="863600" cy="457200"/>
          </a:xfrm>
          <a:prstGeom prst="rect">
            <a:avLst/>
          </a:prstGeom>
        </p:spPr>
      </p:pic>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 y="2959100"/>
            <a:ext cx="3175000" cy="952500"/>
          </a:xfrm>
          <a:prstGeom prst="rect">
            <a:avLst/>
          </a:prstGeom>
        </p:spPr>
      </p:pic>
      <p:sp>
        <p:nvSpPr>
          <p:cNvPr id="6" name="TextBox 6"/>
          <p:cNvSpPr txBox="1"/>
          <p:nvPr/>
        </p:nvSpPr>
        <p:spPr>
          <a:xfrm>
            <a:off x="571500" y="3213100"/>
            <a:ext cx="2959100" cy="431800"/>
          </a:xfrm>
          <a:prstGeom prst="rect">
            <a:avLst/>
          </a:prstGeom>
        </p:spPr>
        <p:txBody>
          <a:bodyPr lIns="0" tIns="0" rIns="0" bIns="0" rtlCol="0" anchor="ctr"/>
          <a:lstStyle/>
          <a:p>
            <a:pPr lvl="0" algn="ctr">
              <a:lnSpc>
                <a:spcPct val="124499"/>
              </a:lnSpc>
            </a:pPr>
            <a:r>
              <a:rPr lang="en-US" sz="2286" b="0" i="0" u="none" strike="noStrike">
                <a:solidFill>
                  <a:srgbClr val="000000"/>
                </a:solidFill>
                <a:latin typeface="Pretendard Regular"/>
                <a:ea typeface="Pretendard Regular"/>
                <a:cs typeface="Pretendard Regular"/>
              </a:rPr>
              <a:t>집단역학과 사회적 영향</a:t>
            </a:r>
          </a:p>
        </p:txBody>
      </p:sp>
      <p:sp>
        <p:nvSpPr>
          <p:cNvPr id="7" name="TextBox 7"/>
          <p:cNvSpPr txBox="1"/>
          <p:nvPr/>
        </p:nvSpPr>
        <p:spPr>
          <a:xfrm>
            <a:off x="711200" y="1778000"/>
            <a:ext cx="2692400" cy="990600"/>
          </a:xfrm>
          <a:prstGeom prst="rect">
            <a:avLst/>
          </a:prstGeom>
        </p:spPr>
        <p:txBody>
          <a:bodyPr lIns="0" tIns="0" rIns="0" bIns="0"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1946–1969</a:t>
            </a:r>
          </a:p>
          <a:p>
            <a:pPr lvl="0" algn="ctr">
              <a:lnSpc>
                <a:spcPct val="124499"/>
              </a:lnSpc>
            </a:pPr>
            <a:r>
              <a:rPr lang="en-US" sz="2386" b="0" i="0" u="none" strike="noStrike">
                <a:solidFill>
                  <a:srgbClr val="000000"/>
                </a:solidFill>
                <a:latin typeface="Pretendard Regular"/>
                <a:ea typeface="Pretendard Regular"/>
                <a:cs typeface="Pretendard Regular"/>
              </a:rPr>
              <a:t>Full Steam Ahead!</a:t>
            </a: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14900" y="5270500"/>
            <a:ext cx="3175000" cy="914400"/>
          </a:xfrm>
          <a:prstGeom prst="rect">
            <a:avLst/>
          </a:prstGeom>
        </p:spPr>
      </p:pic>
      <p:sp>
        <p:nvSpPr>
          <p:cNvPr id="9" name="TextBox 9"/>
          <p:cNvSpPr txBox="1"/>
          <p:nvPr/>
        </p:nvSpPr>
        <p:spPr>
          <a:xfrm>
            <a:off x="5168900" y="5511800"/>
            <a:ext cx="2667000" cy="444500"/>
          </a:xfrm>
          <a:prstGeom prst="rect">
            <a:avLst/>
          </a:prstGeom>
        </p:spPr>
        <p:txBody>
          <a:bodyPr lIns="0" tIns="0" rIns="0" bIns="0" rtlCol="0" anchor="ctr"/>
          <a:lstStyle/>
          <a:p>
            <a:pPr lvl="0" algn="ctr">
              <a:lnSpc>
                <a:spcPct val="124499"/>
              </a:lnSpc>
            </a:pPr>
            <a:r>
              <a:rPr lang="en-US" sz="2386" b="0" i="0" u="none" strike="noStrike">
                <a:solidFill>
                  <a:srgbClr val="000000"/>
                </a:solidFill>
                <a:latin typeface="Pretendard Regular"/>
                <a:ea typeface="Pretendard Regular"/>
                <a:cs typeface="Pretendard Regular"/>
              </a:rPr>
              <a:t>사회인지의 부상</a:t>
            </a:r>
          </a:p>
        </p:txBody>
      </p:sp>
      <p:sp>
        <p:nvSpPr>
          <p:cNvPr id="10" name="TextBox 10"/>
          <p:cNvSpPr txBox="1"/>
          <p:nvPr/>
        </p:nvSpPr>
        <p:spPr>
          <a:xfrm>
            <a:off x="4165600" y="4152900"/>
            <a:ext cx="4800600" cy="990600"/>
          </a:xfrm>
          <a:prstGeom prst="rect">
            <a:avLst/>
          </a:prstGeom>
        </p:spPr>
        <p:txBody>
          <a:bodyPr lIns="0" tIns="0" rIns="0" bIns="0"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1970–1990</a:t>
            </a:r>
          </a:p>
          <a:p>
            <a:pPr lvl="0" algn="ctr">
              <a:lnSpc>
                <a:spcPct val="124499"/>
              </a:lnSpc>
            </a:pPr>
            <a:r>
              <a:rPr lang="en-US" sz="2386" b="0" i="0" u="none" strike="noStrike">
                <a:solidFill>
                  <a:srgbClr val="000000"/>
                </a:solidFill>
                <a:latin typeface="Pretendard Regular"/>
                <a:ea typeface="Pretendard Regular"/>
                <a:cs typeface="Pretendard Regular"/>
              </a:rPr>
              <a:t>The Ascent of Social Cognition</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63100" y="3060700"/>
            <a:ext cx="3175000" cy="1054100"/>
          </a:xfrm>
          <a:prstGeom prst="rect">
            <a:avLst/>
          </a:prstGeom>
        </p:spPr>
      </p:pic>
      <p:sp>
        <p:nvSpPr>
          <p:cNvPr id="12" name="TextBox 12"/>
          <p:cNvSpPr txBox="1"/>
          <p:nvPr/>
        </p:nvSpPr>
        <p:spPr>
          <a:xfrm>
            <a:off x="9829800" y="3390900"/>
            <a:ext cx="2667000" cy="406400"/>
          </a:xfrm>
          <a:prstGeom prst="rect">
            <a:avLst/>
          </a:prstGeom>
        </p:spPr>
        <p:txBody>
          <a:bodyPr lIns="0" tIns="0" rIns="0" bIns="0" rtlCol="0" anchor="ctr"/>
          <a:lstStyle/>
          <a:p>
            <a:pPr lvl="0" algn="ctr">
              <a:lnSpc>
                <a:spcPct val="124499"/>
              </a:lnSpc>
            </a:pPr>
            <a:r>
              <a:rPr lang="en-US" sz="2100" b="0" i="0" u="none" strike="noStrike">
                <a:solidFill>
                  <a:srgbClr val="000000"/>
                </a:solidFill>
                <a:latin typeface="Pretendard Regular"/>
                <a:ea typeface="Pretendard Regular"/>
                <a:cs typeface="Pretendard Regular"/>
              </a:rPr>
              <a:t>응용·생물학·문화로 확장</a:t>
            </a:r>
          </a:p>
        </p:txBody>
      </p:sp>
      <p:sp>
        <p:nvSpPr>
          <p:cNvPr id="13" name="TextBox 13"/>
          <p:cNvSpPr txBox="1"/>
          <p:nvPr/>
        </p:nvSpPr>
        <p:spPr>
          <a:xfrm>
            <a:off x="8572500" y="1638300"/>
            <a:ext cx="5168900" cy="1333500"/>
          </a:xfrm>
          <a:prstGeom prst="rect">
            <a:avLst/>
          </a:prstGeom>
        </p:spPr>
        <p:txBody>
          <a:bodyPr lIns="0" tIns="0" rIns="0" bIns="21218"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1990–2010</a:t>
            </a:r>
          </a:p>
          <a:p>
            <a:pPr lvl="0" algn="ctr">
              <a:lnSpc>
                <a:spcPct val="104580"/>
              </a:lnSpc>
            </a:pPr>
            <a:r>
              <a:rPr lang="en-US" sz="2386" b="0" i="0" u="none" strike="noStrike">
                <a:solidFill>
                  <a:srgbClr val="000000"/>
                </a:solidFill>
                <a:latin typeface="Pretendard Regular"/>
                <a:ea typeface="Pretendard Regular"/>
                <a:cs typeface="Pretendard Regular"/>
              </a:rPr>
              <a:t>Spreading Tentacles, Deeper Roots, and a Move toward Biology</a:t>
            </a: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36700" y="5270500"/>
            <a:ext cx="3175000" cy="1054100"/>
          </a:xfrm>
          <a:prstGeom prst="rect">
            <a:avLst/>
          </a:prstGeom>
        </p:spPr>
      </p:pic>
      <p:sp>
        <p:nvSpPr>
          <p:cNvPr id="15" name="TextBox 15"/>
          <p:cNvSpPr txBox="1"/>
          <p:nvPr/>
        </p:nvSpPr>
        <p:spPr>
          <a:xfrm>
            <a:off x="14490700" y="5588000"/>
            <a:ext cx="2667000" cy="406400"/>
          </a:xfrm>
          <a:prstGeom prst="rect">
            <a:avLst/>
          </a:prstGeom>
        </p:spPr>
        <p:txBody>
          <a:bodyPr lIns="0" tIns="0" rIns="0" bIns="0" rtlCol="0" anchor="ctr"/>
          <a:lstStyle/>
          <a:p>
            <a:pPr lvl="0" algn="ctr">
              <a:lnSpc>
                <a:spcPct val="124499"/>
              </a:lnSpc>
            </a:pPr>
            <a:r>
              <a:rPr lang="en-US" sz="2195" b="0" i="0" u="none" strike="noStrike">
                <a:solidFill>
                  <a:srgbClr val="000000"/>
                </a:solidFill>
                <a:latin typeface="Pretendard Regular"/>
                <a:ea typeface="Pretendard Regular"/>
                <a:cs typeface="Pretendard Regular"/>
              </a:rPr>
              <a:t>빅데이터와 재현성 위기</a:t>
            </a:r>
          </a:p>
        </p:txBody>
      </p:sp>
      <p:sp>
        <p:nvSpPr>
          <p:cNvPr id="16" name="TextBox 16"/>
          <p:cNvSpPr txBox="1"/>
          <p:nvPr/>
        </p:nvSpPr>
        <p:spPr>
          <a:xfrm>
            <a:off x="12852400" y="3886200"/>
            <a:ext cx="5791200" cy="1308100"/>
          </a:xfrm>
          <a:prstGeom prst="rect">
            <a:avLst/>
          </a:prstGeom>
        </p:spPr>
        <p:txBody>
          <a:bodyPr lIns="0" tIns="0" rIns="0" bIns="31826"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2010–현재</a:t>
            </a:r>
          </a:p>
          <a:p>
            <a:pPr lvl="0" algn="ctr">
              <a:lnSpc>
                <a:spcPct val="98770"/>
              </a:lnSpc>
            </a:pPr>
            <a:r>
              <a:rPr lang="en-US" sz="2386" b="0" i="0" u="none" strike="noStrike">
                <a:solidFill>
                  <a:srgbClr val="000000"/>
                </a:solidFill>
                <a:latin typeface="Pretendard Regular"/>
                <a:ea typeface="Pretendard Regular"/>
                <a:cs typeface="Pretendard Regular"/>
              </a:rPr>
              <a:t>The Rise of Big Data</a:t>
            </a:r>
          </a:p>
          <a:p>
            <a:pPr lvl="0" algn="ctr">
              <a:lnSpc>
                <a:spcPct val="98770"/>
              </a:lnSpc>
            </a:pPr>
            <a:r>
              <a:rPr lang="en-US" sz="2386" b="0" i="0" u="none" strike="noStrike">
                <a:solidFill>
                  <a:srgbClr val="000000"/>
                </a:solidFill>
                <a:latin typeface="Pretendard Regular"/>
                <a:ea typeface="Pretendard Regular"/>
                <a:cs typeface="Pretendard Regular"/>
              </a:rPr>
              <a:t>and the Reproducibility Crisis</a:t>
            </a: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468002">
            <a:off x="8623300" y="4191000"/>
            <a:ext cx="863600" cy="457200"/>
          </a:xfrm>
          <a:prstGeom prst="rect">
            <a:avLst/>
          </a:prstGeom>
        </p:spPr>
      </p:pic>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44377">
            <a:off x="12839700" y="4127500"/>
            <a:ext cx="863600" cy="457200"/>
          </a:xfrm>
          <a:prstGeom prst="rect">
            <a:avLst/>
          </a:prstGeom>
        </p:spPr>
      </p:pic>
      <p:sp>
        <p:nvSpPr>
          <p:cNvPr id="19" name="TextBox 19"/>
          <p:cNvSpPr txBox="1"/>
          <p:nvPr/>
        </p:nvSpPr>
        <p:spPr>
          <a:xfrm>
            <a:off x="622300" y="8242300"/>
            <a:ext cx="17119600" cy="14732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다만 이를 설명하는 </a:t>
            </a:r>
            <a:r>
              <a:rPr lang="en-US" sz="2600" b="0" i="0" u="sng" strike="noStrike">
                <a:solidFill>
                  <a:srgbClr val="000000"/>
                </a:solidFill>
                <a:latin typeface="Pretendard Regular"/>
                <a:ea typeface="Pretendard Regular"/>
                <a:cs typeface="Pretendard Regular"/>
              </a:rPr>
              <a:t>level of analysis</a:t>
            </a:r>
            <a:r>
              <a:rPr lang="en-US" sz="2600" b="0" i="0" u="none" strike="noStrike">
                <a:solidFill>
                  <a:srgbClr val="000000"/>
                </a:solidFill>
                <a:latin typeface="Pretendard Regular"/>
                <a:ea typeface="Pretendard Regular"/>
                <a:cs typeface="Pretendard Regular"/>
              </a:rPr>
              <a:t>과 연구하는</a:t>
            </a:r>
            <a:r>
              <a:rPr lang="en-US" sz="2600" b="0" i="0" u="sng" strike="noStrike">
                <a:solidFill>
                  <a:srgbClr val="000000"/>
                </a:solidFill>
                <a:latin typeface="Pretendard Regular"/>
                <a:ea typeface="Pretendard Regular"/>
                <a:cs typeface="Pretendard Regular"/>
              </a:rPr>
              <a:t> methodological tools</a:t>
            </a:r>
            <a:r>
              <a:rPr lang="en-US" sz="2600" b="0" i="0" u="none" strike="noStrike">
                <a:solidFill>
                  <a:srgbClr val="000000"/>
                </a:solidFill>
                <a:latin typeface="Pretendard Regular"/>
                <a:ea typeface="Pretendard Regular"/>
                <a:cs typeface="Pretendard Regular"/>
              </a:rPr>
              <a:t>는 </a:t>
            </a:r>
            <a:r>
              <a:rPr lang="en-US" sz="2600" b="0" i="0" u="sng" strike="noStrike">
                <a:solidFill>
                  <a:srgbClr val="000000"/>
                </a:solidFill>
                <a:latin typeface="Pretendard Regular"/>
                <a:ea typeface="Pretendard Regular"/>
                <a:cs typeface="Pretendard Regular"/>
              </a:rPr>
              <a:t>시대에 따라 변화</a:t>
            </a:r>
            <a:r>
              <a:rPr lang="en-US" sz="2600" b="0" i="0" u="none" strike="noStrike">
                <a:solidFill>
                  <a:srgbClr val="000000"/>
                </a:solidFill>
                <a:latin typeface="Pretendard Regular"/>
                <a:ea typeface="Pretendard Regular"/>
                <a:cs typeface="Pretendard Regular"/>
              </a:rPr>
              <a:t>함!</a:t>
            </a:r>
          </a:p>
          <a:p>
            <a:pPr marL="660400" lvl="2"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집단의 구조, 개인의 인지, 뇌와 문화, 디지털 자료 중 어디에 설명의 초점을 두는지</a:t>
            </a:r>
          </a:p>
          <a:p>
            <a:pPr marL="660400" lvl="2"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Reis는 이를 사회적·정치적·과학적 </a:t>
            </a:r>
            <a:r>
              <a:rPr lang="en-US" sz="2600" b="0" i="0" u="sng" strike="noStrike">
                <a:solidFill>
                  <a:srgbClr val="000000"/>
                </a:solidFill>
                <a:latin typeface="Pretendard Regular"/>
                <a:ea typeface="Pretendard Regular"/>
                <a:cs typeface="Pretendard Regular"/>
              </a:rPr>
              <a:t>Zeitgeist (시대정신)</a:t>
            </a:r>
            <a:r>
              <a:rPr lang="en-US" sz="2600" b="0" i="0" u="none" strike="noStrike">
                <a:solidFill>
                  <a:srgbClr val="000000"/>
                </a:solidFill>
                <a:latin typeface="Pretendard Regular"/>
                <a:ea typeface="Pretendard Regular"/>
                <a:cs typeface="Pretendard Regular"/>
              </a:rPr>
              <a:t>와 연결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482600"/>
            <a:ext cx="11531600" cy="12827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Full Steam Ahead! 1946–1969:</a:t>
            </a:r>
          </a:p>
          <a:p>
            <a:pPr lvl="0" algn="l">
              <a:lnSpc>
                <a:spcPct val="99600"/>
              </a:lnSpc>
            </a:pPr>
            <a:r>
              <a:rPr lang="en-US" sz="3500" b="0" i="0" u="sng" strike="noStrike">
                <a:solidFill>
                  <a:srgbClr val="0063BA"/>
                </a:solidFill>
                <a:latin typeface="Pretendard Bold"/>
                <a:ea typeface="Pretendard Bold"/>
                <a:cs typeface="Pretendard Bold"/>
              </a:rPr>
              <a:t>Postwar</a:t>
            </a:r>
            <a:r>
              <a:rPr lang="en-US" sz="3500" b="0" i="0" u="none" strike="noStrike">
                <a:solidFill>
                  <a:srgbClr val="0063BA"/>
                </a:solidFill>
                <a:latin typeface="Pretendard Bold"/>
                <a:ea typeface="Pretendard Bold"/>
                <a:cs typeface="Pretendard Bold"/>
              </a:rPr>
              <a:t> Expansion</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90100" y="2806700"/>
            <a:ext cx="5829300" cy="1739900"/>
          </a:xfrm>
          <a:prstGeom prst="rect">
            <a:avLst/>
          </a:prstGeom>
          <a:effectLst>
            <a:outerShdw blurRad="69723" dist="160899" dir="2700000">
              <a:srgbClr val="000000">
                <a:alpha val="50000"/>
              </a:srgbClr>
            </a:outerShdw>
          </a:effectLst>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15500" y="2794000"/>
            <a:ext cx="5778500" cy="38100"/>
          </a:xfrm>
          <a:prstGeom prst="rect">
            <a:avLst/>
          </a:prstGeom>
        </p:spPr>
      </p:pic>
      <p:sp>
        <p:nvSpPr>
          <p:cNvPr id="5" name="TextBox 5"/>
          <p:cNvSpPr txBox="1"/>
          <p:nvPr/>
        </p:nvSpPr>
        <p:spPr>
          <a:xfrm>
            <a:off x="9969500" y="3581400"/>
            <a:ext cx="54229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참전 군인의 대학·대학원 교육을 지원</a:t>
            </a:r>
          </a:p>
          <a:p>
            <a:pPr marL="274320" lvl="1" indent="-274320" algn="l">
              <a:lnSpc>
                <a:spcPct val="116199"/>
              </a:lnSpc>
              <a:buClr>
                <a:srgbClr val="000000"/>
              </a:buClr>
              <a:buFont typeface="Arial"/>
              <a:buChar char="●"/>
            </a:pPr>
            <a:r>
              <a:rPr lang="en-US" sz="2160" b="0" i="0" u="sng" strike="noStrike">
                <a:solidFill>
                  <a:srgbClr val="000000"/>
                </a:solidFill>
                <a:latin typeface="Pretendard Regular"/>
                <a:ea typeface="Pretendard Regular"/>
                <a:cs typeface="Pretendard Regular"/>
              </a:rPr>
              <a:t>교수, 연구시설, 교육과정에 대한 수요가 증가</a:t>
            </a:r>
          </a:p>
        </p:txBody>
      </p:sp>
      <p:sp>
        <p:nvSpPr>
          <p:cNvPr id="6" name="TextBox 6"/>
          <p:cNvSpPr txBox="1"/>
          <p:nvPr/>
        </p:nvSpPr>
        <p:spPr>
          <a:xfrm>
            <a:off x="9969500" y="3022600"/>
            <a:ext cx="3733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GI Bill (제대군인 원호법)</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9300" y="2806700"/>
            <a:ext cx="5829300" cy="1739900"/>
          </a:xfrm>
          <a:prstGeom prst="rect">
            <a:avLst/>
          </a:prstGeom>
          <a:effectLst>
            <a:outerShdw blurRad="69723" dist="160899" dir="2700000">
              <a:srgbClr val="000000">
                <a:alpha val="50000"/>
              </a:srgbClr>
            </a:outerShdw>
          </a:effectLst>
        </p:spPr>
      </p:pic>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44700" y="2794000"/>
            <a:ext cx="5778500" cy="38100"/>
          </a:xfrm>
          <a:prstGeom prst="rect">
            <a:avLst/>
          </a:prstGeom>
        </p:spPr>
      </p:pic>
      <p:sp>
        <p:nvSpPr>
          <p:cNvPr id="9" name="TextBox 9"/>
          <p:cNvSpPr txBox="1"/>
          <p:nvPr/>
        </p:nvSpPr>
        <p:spPr>
          <a:xfrm>
            <a:off x="2298700" y="3581400"/>
            <a:ext cx="54229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전쟁 이후 과학 연구와 참전 군인의 정신건강</a:t>
            </a:r>
          </a:p>
          <a:p>
            <a:pPr marL="274320" lvl="1" algn="l">
              <a:lnSpc>
                <a:spcPct val="116199"/>
              </a:lnSpc>
            </a:pPr>
            <a:r>
              <a:rPr lang="en-US" sz="2160" b="0" i="0" u="none" strike="noStrike">
                <a:solidFill>
                  <a:srgbClr val="000000"/>
                </a:solidFill>
                <a:latin typeface="Pretendard Regular"/>
                <a:ea typeface="Pretendard Regular"/>
                <a:cs typeface="Pretendard Regular"/>
              </a:rPr>
              <a:t>문제에 대한 정부 투자가 확대</a:t>
            </a:r>
          </a:p>
        </p:txBody>
      </p:sp>
      <p:sp>
        <p:nvSpPr>
          <p:cNvPr id="10" name="TextBox 10"/>
          <p:cNvSpPr txBox="1"/>
          <p:nvPr/>
        </p:nvSpPr>
        <p:spPr>
          <a:xfrm>
            <a:off x="2286000" y="3022600"/>
            <a:ext cx="50927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Government investment in science</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19300" y="5626100"/>
            <a:ext cx="5943600" cy="1727200"/>
          </a:xfrm>
          <a:prstGeom prst="rect">
            <a:avLst/>
          </a:prstGeom>
          <a:effectLst>
            <a:outerShdw blurRad="68961" dist="159141" dir="2700000">
              <a:srgbClr val="000000">
                <a:alpha val="50000"/>
              </a:srgbClr>
            </a:outerShdw>
          </a:effectLst>
        </p:spPr>
      </p:pic>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700" y="5613400"/>
            <a:ext cx="5930900" cy="38100"/>
          </a:xfrm>
          <a:prstGeom prst="rect">
            <a:avLst/>
          </a:prstGeom>
        </p:spPr>
      </p:pic>
      <p:sp>
        <p:nvSpPr>
          <p:cNvPr id="13" name="TextBox 13"/>
          <p:cNvSpPr txBox="1"/>
          <p:nvPr/>
        </p:nvSpPr>
        <p:spPr>
          <a:xfrm>
            <a:off x="2286000" y="6477000"/>
            <a:ext cx="54864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대학의 사회심리학 프로그램, 교수직, 연구비가</a:t>
            </a:r>
          </a:p>
          <a:p>
            <a:pPr marL="274320" lvl="1" algn="l">
              <a:lnSpc>
                <a:spcPct val="116199"/>
              </a:lnSpc>
            </a:pPr>
            <a:r>
              <a:rPr lang="en-US" sz="2160" b="0" i="0" u="none" strike="noStrike">
                <a:solidFill>
                  <a:srgbClr val="000000"/>
                </a:solidFill>
                <a:latin typeface="Pretendard Regular"/>
                <a:ea typeface="Pretendard Regular"/>
                <a:cs typeface="Pretendard Regular"/>
              </a:rPr>
              <a:t>빠르게 증가</a:t>
            </a:r>
          </a:p>
        </p:txBody>
      </p:sp>
      <p:sp>
        <p:nvSpPr>
          <p:cNvPr id="14" name="TextBox 14"/>
          <p:cNvSpPr txBox="1"/>
          <p:nvPr/>
        </p:nvSpPr>
        <p:spPr>
          <a:xfrm>
            <a:off x="2286000" y="5867400"/>
            <a:ext cx="5638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Rapid institutional growth</a:t>
            </a: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02800" y="5638800"/>
            <a:ext cx="5943600" cy="1727200"/>
          </a:xfrm>
          <a:prstGeom prst="rect">
            <a:avLst/>
          </a:prstGeom>
          <a:effectLst>
            <a:outerShdw blurRad="68961" dist="159141" dir="2700000">
              <a:srgbClr val="000000">
                <a:alpha val="50000"/>
              </a:srgbClr>
            </a:outerShdw>
          </a:effectLst>
        </p:spPr>
      </p:pic>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599999">
            <a:off x="9715500" y="5626100"/>
            <a:ext cx="5905500" cy="38100"/>
          </a:xfrm>
          <a:prstGeom prst="rect">
            <a:avLst/>
          </a:prstGeom>
        </p:spPr>
      </p:pic>
      <p:sp>
        <p:nvSpPr>
          <p:cNvPr id="17" name="TextBox 17"/>
          <p:cNvSpPr txBox="1"/>
          <p:nvPr/>
        </p:nvSpPr>
        <p:spPr>
          <a:xfrm>
            <a:off x="9969500" y="6413500"/>
            <a:ext cx="56007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유럽에서 미국으로 이주한 연구자와 그 제자들이 미국 사회심리학의 성장에 기여</a:t>
            </a:r>
          </a:p>
        </p:txBody>
      </p:sp>
      <p:sp>
        <p:nvSpPr>
          <p:cNvPr id="18" name="TextBox 18"/>
          <p:cNvSpPr txBox="1"/>
          <p:nvPr/>
        </p:nvSpPr>
        <p:spPr>
          <a:xfrm>
            <a:off x="9969500" y="5842000"/>
            <a:ext cx="3733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European émigrés</a:t>
            </a: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83300" y="8102600"/>
            <a:ext cx="5829300" cy="1727200"/>
          </a:xfrm>
          <a:prstGeom prst="rect">
            <a:avLst/>
          </a:prstGeom>
          <a:effectLst>
            <a:outerShdw blurRad="68961" dist="159141" dir="2700000">
              <a:srgbClr val="000000">
                <a:alpha val="50000"/>
              </a:srgbClr>
            </a:outerShdw>
          </a:effectLst>
        </p:spPr>
      </p:pic>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8089900"/>
            <a:ext cx="5778500" cy="38100"/>
          </a:xfrm>
          <a:prstGeom prst="rect">
            <a:avLst/>
          </a:prstGeom>
        </p:spPr>
      </p:pic>
      <p:sp>
        <p:nvSpPr>
          <p:cNvPr id="21" name="TextBox 21"/>
          <p:cNvSpPr txBox="1"/>
          <p:nvPr/>
        </p:nvSpPr>
        <p:spPr>
          <a:xfrm>
            <a:off x="6350000" y="8864600"/>
            <a:ext cx="54229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동조, 복종, 방관자 행동과 같은 복잡한 사회적 상황을 정교한 실험으로 구현하기 시작</a:t>
            </a:r>
          </a:p>
        </p:txBody>
      </p:sp>
      <p:sp>
        <p:nvSpPr>
          <p:cNvPr id="22" name="TextBox 22"/>
          <p:cNvSpPr txBox="1"/>
          <p:nvPr/>
        </p:nvSpPr>
        <p:spPr>
          <a:xfrm>
            <a:off x="6350000" y="8305800"/>
            <a:ext cx="53340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Golden age of the laboratory experiment</a:t>
            </a:r>
          </a:p>
        </p:txBody>
      </p:sp>
      <p:sp>
        <p:nvSpPr>
          <p:cNvPr id="23" name="TextBox 23"/>
          <p:cNvSpPr txBox="1"/>
          <p:nvPr/>
        </p:nvSpPr>
        <p:spPr>
          <a:xfrm>
            <a:off x="1473200" y="2209800"/>
            <a:ext cx="3238500" cy="4826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참전 군인 관련</a:t>
            </a:r>
          </a:p>
        </p:txBody>
      </p:sp>
      <p:sp>
        <p:nvSpPr>
          <p:cNvPr id="24" name="TextBox 24"/>
          <p:cNvSpPr txBox="1"/>
          <p:nvPr/>
        </p:nvSpPr>
        <p:spPr>
          <a:xfrm>
            <a:off x="1473200" y="5080000"/>
            <a:ext cx="3238500" cy="4826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학계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482600"/>
            <a:ext cx="11531600" cy="749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집단역학에서 사회적 영향으로</a:t>
            </a:r>
          </a:p>
        </p:txBody>
      </p:sp>
      <p:sp>
        <p:nvSpPr>
          <p:cNvPr id="3" name="TextBox 3"/>
          <p:cNvSpPr txBox="1"/>
          <p:nvPr/>
        </p:nvSpPr>
        <p:spPr>
          <a:xfrm>
            <a:off x="584200" y="3225800"/>
            <a:ext cx="7645400" cy="863600"/>
          </a:xfrm>
          <a:prstGeom prst="rect">
            <a:avLst/>
          </a:prstGeom>
        </p:spPr>
        <p:txBody>
          <a:bodyPr lIns="0" tIns="0" rIns="0" bIns="0" rtlCol="0" anchor="ctr"/>
          <a:lstStyle/>
          <a:p>
            <a:pPr lvl="0" algn="ctr">
              <a:lnSpc>
                <a:spcPct val="124499"/>
              </a:lnSpc>
            </a:pPr>
            <a:r>
              <a:rPr lang="en-US" sz="2300" b="0" i="0" u="none" strike="noStrike">
                <a:solidFill>
                  <a:srgbClr val="000000"/>
                </a:solidFill>
                <a:latin typeface="Pretendard Regular"/>
                <a:ea typeface="Pretendard Regular"/>
                <a:cs typeface="Pretendard Regular"/>
              </a:rPr>
              <a:t>초기 전후 연구는 Kurt Lewin과 그의 제자들의 영향을 받아</a:t>
            </a:r>
          </a:p>
          <a:p>
            <a:pPr lvl="0" algn="ctr">
              <a:lnSpc>
                <a:spcPct val="124499"/>
              </a:lnSpc>
            </a:pPr>
            <a:r>
              <a:rPr lang="en-US" sz="2300" b="0" i="0" u="sng" strike="noStrike">
                <a:solidFill>
                  <a:srgbClr val="000000"/>
                </a:solidFill>
                <a:latin typeface="Pretendard Regular"/>
                <a:ea typeface="Pretendard Regular"/>
                <a:cs typeface="Pretendard Regular"/>
              </a:rPr>
              <a:t>집단 내부의 과정을 연구</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4305300"/>
            <a:ext cx="6134100" cy="1054100"/>
          </a:xfrm>
          <a:prstGeom prst="rect">
            <a:avLst/>
          </a:prstGeom>
        </p:spPr>
      </p:pic>
      <p:sp>
        <p:nvSpPr>
          <p:cNvPr id="5" name="TextBox 5"/>
          <p:cNvSpPr txBox="1"/>
          <p:nvPr/>
        </p:nvSpPr>
        <p:spPr>
          <a:xfrm>
            <a:off x="1257300" y="4394200"/>
            <a:ext cx="6223000" cy="838200"/>
          </a:xfrm>
          <a:prstGeom prst="rect">
            <a:avLst/>
          </a:prstGeom>
        </p:spPr>
        <p:txBody>
          <a:bodyPr lIns="0" tIns="0" rIns="0" bIns="0" rtlCol="0" anchor="ctr"/>
          <a:lstStyle/>
          <a:p>
            <a:pPr lvl="0" algn="ctr">
              <a:lnSpc>
                <a:spcPct val="124499"/>
              </a:lnSpc>
            </a:pPr>
            <a:r>
              <a:rPr lang="en-US" sz="2200" b="0" i="0" u="none" strike="noStrike">
                <a:solidFill>
                  <a:srgbClr val="000000"/>
                </a:solidFill>
                <a:latin typeface="Pretendard SemiBold"/>
                <a:ea typeface="Pretendard SemiBold"/>
                <a:cs typeface="Pretendard SemiBold"/>
              </a:rPr>
              <a:t>Theory of Informal Social Communication
(비공식적 사회적 의사소통 이론; Festinger, 1950)</a:t>
            </a: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67000" y="1676400"/>
            <a:ext cx="3454400" cy="1206500"/>
          </a:xfrm>
          <a:prstGeom prst="rect">
            <a:avLst/>
          </a:prstGeom>
        </p:spPr>
      </p:pic>
      <p:sp>
        <p:nvSpPr>
          <p:cNvPr id="7" name="TextBox 7"/>
          <p:cNvSpPr txBox="1"/>
          <p:nvPr/>
        </p:nvSpPr>
        <p:spPr>
          <a:xfrm>
            <a:off x="2336800" y="1714500"/>
            <a:ext cx="4152900" cy="1079500"/>
          </a:xfrm>
          <a:prstGeom prst="rect">
            <a:avLst/>
          </a:prstGeom>
        </p:spPr>
        <p:txBody>
          <a:bodyPr lIns="0" tIns="0" rIns="0" bIns="0"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Group Dynamics
(집단역학)</a:t>
            </a: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12200" y="5257800"/>
            <a:ext cx="863600" cy="457200"/>
          </a:xfrm>
          <a:prstGeom prst="rect">
            <a:avLst/>
          </a:prstGeom>
        </p:spPr>
      </p:pic>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280900" y="1676400"/>
            <a:ext cx="3454400" cy="1206500"/>
          </a:xfrm>
          <a:prstGeom prst="rect">
            <a:avLst/>
          </a:prstGeom>
        </p:spPr>
      </p:pic>
      <p:sp>
        <p:nvSpPr>
          <p:cNvPr id="10" name="TextBox 10"/>
          <p:cNvSpPr txBox="1"/>
          <p:nvPr/>
        </p:nvSpPr>
        <p:spPr>
          <a:xfrm>
            <a:off x="11938000" y="1739900"/>
            <a:ext cx="4152900" cy="1079500"/>
          </a:xfrm>
          <a:prstGeom prst="rect">
            <a:avLst/>
          </a:prstGeom>
        </p:spPr>
        <p:txBody>
          <a:bodyPr lIns="0" tIns="0" rIns="0" bIns="0" rtlCol="0" anchor="ctr"/>
          <a:lstStyle/>
          <a:p>
            <a:pPr lvl="0" algn="ctr">
              <a:lnSpc>
                <a:spcPct val="124499"/>
              </a:lnSpc>
            </a:pPr>
            <a:r>
              <a:rPr lang="en-US" sz="2864" b="0" i="0" u="none" strike="noStrike">
                <a:solidFill>
                  <a:srgbClr val="9E9E9E"/>
                </a:solidFill>
                <a:latin typeface="Pretendard SemiBold"/>
                <a:ea typeface="Pretendard SemiBold"/>
                <a:cs typeface="Pretendard SemiBold"/>
              </a:rPr>
              <a:t>Social Influence
(사회적 영향)</a:t>
            </a:r>
          </a:p>
        </p:txBody>
      </p:sp>
      <p:sp>
        <p:nvSpPr>
          <p:cNvPr id="11" name="TextBox 11"/>
          <p:cNvSpPr txBox="1"/>
          <p:nvPr/>
        </p:nvSpPr>
        <p:spPr>
          <a:xfrm>
            <a:off x="1003300" y="5486400"/>
            <a:ext cx="7048500" cy="1600200"/>
          </a:xfrm>
          <a:prstGeom prst="rect">
            <a:avLst/>
          </a:prstGeom>
        </p:spPr>
        <p:txBody>
          <a:bodyPr lIns="0" tIns="0" rIns="0" bIns="0" rtlCol="0" anchor="ctr"/>
          <a:lstStyle/>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집단 내 의사소통을 발생시키는 동질성에 대한 압력을 설명</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Establishing social reality (사회적 현실의 확립)</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Movement toward a group goal (집단목표를 향한 이동)</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Expression of emotional states (정서 상태의 표현)</a:t>
            </a: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7467600"/>
            <a:ext cx="6134100" cy="1054100"/>
          </a:xfrm>
          <a:prstGeom prst="rect">
            <a:avLst/>
          </a:prstGeom>
        </p:spPr>
      </p:pic>
      <p:sp>
        <p:nvSpPr>
          <p:cNvPr id="13" name="TextBox 13"/>
          <p:cNvSpPr txBox="1"/>
          <p:nvPr/>
        </p:nvSpPr>
        <p:spPr>
          <a:xfrm>
            <a:off x="1257300" y="7556500"/>
            <a:ext cx="62230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Cooperation and competition
(협동과 경쟁; Deutsch, 1949)</a:t>
            </a: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8902700"/>
            <a:ext cx="6134100" cy="1054100"/>
          </a:xfrm>
          <a:prstGeom prst="rect">
            <a:avLst/>
          </a:prstGeom>
        </p:spPr>
      </p:pic>
      <p:sp>
        <p:nvSpPr>
          <p:cNvPr id="15" name="TextBox 15"/>
          <p:cNvSpPr txBox="1"/>
          <p:nvPr/>
        </p:nvSpPr>
        <p:spPr>
          <a:xfrm>
            <a:off x="1257300" y="8991600"/>
            <a:ext cx="62230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Interdependence Theory
(상호의존이론; Thibaut &amp; Kelley, 1959)</a:t>
            </a:r>
          </a:p>
        </p:txBody>
      </p:sp>
      <p:sp>
        <p:nvSpPr>
          <p:cNvPr id="16" name="TextBox 16"/>
          <p:cNvSpPr txBox="1"/>
          <p:nvPr/>
        </p:nvSpPr>
        <p:spPr>
          <a:xfrm>
            <a:off x="10223500" y="3225800"/>
            <a:ext cx="7645400" cy="863600"/>
          </a:xfrm>
          <a:prstGeom prst="rect">
            <a:avLst/>
          </a:prstGeom>
        </p:spPr>
        <p:txBody>
          <a:bodyPr lIns="0" tIns="0" rIns="0" bIns="0" rtlCol="0" anchor="ctr"/>
          <a:lstStyle/>
          <a:p>
            <a:pPr lvl="0" algn="ctr">
              <a:lnSpc>
                <a:spcPct val="124499"/>
              </a:lnSpc>
            </a:pPr>
            <a:r>
              <a:rPr lang="en-US" sz="2300" b="0" i="0" u="none" strike="noStrike">
                <a:solidFill>
                  <a:srgbClr val="9E9E9E"/>
                </a:solidFill>
                <a:latin typeface="Pretendard Regular"/>
                <a:ea typeface="Pretendard Regular"/>
                <a:cs typeface="Pretendard Regular"/>
              </a:rPr>
              <a:t>1960년대 중반부터 미국 사회심리학은 집단 자체보다</a:t>
            </a:r>
          </a:p>
          <a:p>
            <a:pPr lvl="0" algn="ctr">
              <a:lnSpc>
                <a:spcPct val="124499"/>
              </a:lnSpc>
            </a:pPr>
            <a:r>
              <a:rPr lang="en-US" sz="2300" b="0" i="0" u="none" strike="noStrike">
                <a:solidFill>
                  <a:srgbClr val="9E9E9E"/>
                </a:solidFill>
                <a:latin typeface="Pretendard Regular"/>
                <a:ea typeface="Pretendard Regular"/>
                <a:cs typeface="Pretendard Regular"/>
              </a:rPr>
              <a:t>“집단이 개인에게 미치는 영향”에 초점</a:t>
            </a: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26900" y="4597400"/>
            <a:ext cx="4000500" cy="850900"/>
          </a:xfrm>
          <a:prstGeom prst="rect">
            <a:avLst/>
          </a:prstGeom>
        </p:spPr>
      </p:pic>
      <p:sp>
        <p:nvSpPr>
          <p:cNvPr id="18" name="TextBox 18"/>
          <p:cNvSpPr txBox="1"/>
          <p:nvPr/>
        </p:nvSpPr>
        <p:spPr>
          <a:xfrm>
            <a:off x="11887200" y="4813300"/>
            <a:ext cx="4254500" cy="419100"/>
          </a:xfrm>
          <a:prstGeom prst="rect">
            <a:avLst/>
          </a:prstGeom>
        </p:spPr>
        <p:txBody>
          <a:bodyPr lIns="0" tIns="0" rIns="0" bIns="0" rtlCol="0" anchor="ctr"/>
          <a:lstStyle/>
          <a:p>
            <a:pPr lvl="0" algn="ctr">
              <a:lnSpc>
                <a:spcPct val="124499"/>
              </a:lnSpc>
            </a:pPr>
            <a:r>
              <a:rPr lang="en-US" sz="2199" b="0" i="0" u="none" strike="noStrike">
                <a:solidFill>
                  <a:srgbClr val="9E9E9E"/>
                </a:solidFill>
                <a:latin typeface="Pretendard SemiBold"/>
                <a:ea typeface="Pretendard SemiBold"/>
                <a:cs typeface="Pretendard SemiBold"/>
              </a:rPr>
              <a:t>Risky shift (위험이행 현상)</a:t>
            </a:r>
          </a:p>
        </p:txBody>
      </p:sp>
      <p:sp>
        <p:nvSpPr>
          <p:cNvPr id="19" name="TextBox 19"/>
          <p:cNvSpPr txBox="1"/>
          <p:nvPr/>
        </p:nvSpPr>
        <p:spPr>
          <a:xfrm>
            <a:off x="10680700" y="5626100"/>
            <a:ext cx="7264400" cy="406400"/>
          </a:xfrm>
          <a:prstGeom prst="rect">
            <a:avLst/>
          </a:prstGeom>
        </p:spPr>
        <p:txBody>
          <a:bodyPr lIns="0" tIns="0" rIns="0" bIns="0" rtlCol="0" anchor="ctr"/>
          <a:lstStyle/>
          <a:p>
            <a:pPr marL="266700" lvl="1" indent="-266700" algn="l">
              <a:lnSpc>
                <a:spcPct val="124499"/>
              </a:lnSpc>
              <a:buClr>
                <a:srgbClr val="000000"/>
              </a:buClr>
              <a:buFont typeface="Arial"/>
              <a:buChar char="●"/>
            </a:pPr>
            <a:r>
              <a:rPr lang="en-US" sz="2100" b="0" i="0" u="none" strike="noStrike">
                <a:solidFill>
                  <a:srgbClr val="9E9E9E"/>
                </a:solidFill>
                <a:latin typeface="Pretendard Regular"/>
                <a:ea typeface="Pretendard Regular"/>
                <a:cs typeface="Pretendard Regular"/>
              </a:rPr>
              <a:t>개인이 혼자 결정할 때보다 집단에서 더 위험한 결정을 하는 현상</a:t>
            </a: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912600" y="6451600"/>
            <a:ext cx="4292600" cy="609600"/>
          </a:xfrm>
          <a:prstGeom prst="rect">
            <a:avLst/>
          </a:prstGeom>
        </p:spPr>
      </p:pic>
      <p:sp>
        <p:nvSpPr>
          <p:cNvPr id="21" name="TextBox 21"/>
          <p:cNvSpPr txBox="1"/>
          <p:nvPr/>
        </p:nvSpPr>
        <p:spPr>
          <a:xfrm>
            <a:off x="11899900" y="6540500"/>
            <a:ext cx="4330700" cy="419100"/>
          </a:xfrm>
          <a:prstGeom prst="rect">
            <a:avLst/>
          </a:prstGeom>
        </p:spPr>
        <p:txBody>
          <a:bodyPr lIns="0" tIns="0" rIns="0" bIns="0" rtlCol="0" anchor="ctr"/>
          <a:lstStyle/>
          <a:p>
            <a:pPr lvl="0" algn="ctr">
              <a:lnSpc>
                <a:spcPct val="124499"/>
              </a:lnSpc>
            </a:pPr>
            <a:r>
              <a:rPr lang="en-US" sz="2199" b="0" i="0" u="none" strike="noStrike">
                <a:solidFill>
                  <a:srgbClr val="9E9E9E"/>
                </a:solidFill>
                <a:latin typeface="Pretendard SemiBold"/>
                <a:ea typeface="Pretendard SemiBold"/>
                <a:cs typeface="Pretendard SemiBold"/>
              </a:rPr>
              <a:t>Conformity (동조; Asch, 1956)</a:t>
            </a: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77600" y="9220200"/>
            <a:ext cx="5473700" cy="698500"/>
          </a:xfrm>
          <a:prstGeom prst="rect">
            <a:avLst/>
          </a:prstGeom>
        </p:spPr>
      </p:pic>
      <p:sp>
        <p:nvSpPr>
          <p:cNvPr id="23" name="TextBox 23"/>
          <p:cNvSpPr txBox="1"/>
          <p:nvPr/>
        </p:nvSpPr>
        <p:spPr>
          <a:xfrm>
            <a:off x="11391900" y="9359900"/>
            <a:ext cx="5207000" cy="419100"/>
          </a:xfrm>
          <a:prstGeom prst="rect">
            <a:avLst/>
          </a:prstGeom>
        </p:spPr>
        <p:txBody>
          <a:bodyPr lIns="0" tIns="0" rIns="0" bIns="0" rtlCol="0" anchor="ctr"/>
          <a:lstStyle/>
          <a:p>
            <a:pPr lvl="0" algn="ctr">
              <a:lnSpc>
                <a:spcPct val="124499"/>
              </a:lnSpc>
            </a:pPr>
            <a:r>
              <a:rPr lang="en-US" sz="2199" b="0" i="0" u="none" strike="noStrike">
                <a:solidFill>
                  <a:srgbClr val="9E9E9E"/>
                </a:solidFill>
                <a:latin typeface="Pretendard SemiBold"/>
                <a:ea typeface="Pretendard SemiBold"/>
                <a:cs typeface="Pretendard SemiBold"/>
              </a:rPr>
              <a:t>Obedience (복종; Milgram, 1963, 1965)</a:t>
            </a:r>
          </a:p>
        </p:txBody>
      </p:sp>
      <p:sp>
        <p:nvSpPr>
          <p:cNvPr id="24" name="TextBox 24"/>
          <p:cNvSpPr txBox="1"/>
          <p:nvPr/>
        </p:nvSpPr>
        <p:spPr>
          <a:xfrm>
            <a:off x="10642600" y="7150100"/>
            <a:ext cx="7264400" cy="1600200"/>
          </a:xfrm>
          <a:prstGeom prst="rect">
            <a:avLst/>
          </a:prstGeom>
        </p:spPr>
        <p:txBody>
          <a:bodyPr lIns="0" tIns="0" rIns="0" bIns="0" rtlCol="0" anchor="ctr"/>
          <a:lstStyle/>
          <a:p>
            <a:pPr lvl="0" algn="ctr">
              <a:lnSpc>
                <a:spcPct val="124499"/>
              </a:lnSpc>
            </a:pPr>
            <a:r>
              <a:rPr lang="en-US" sz="2100" b="0" i="0" u="none" strike="noStrike">
                <a:solidFill>
                  <a:srgbClr val="9E9E9E"/>
                </a:solidFill>
                <a:latin typeface="Pretendard Regular"/>
                <a:ea typeface="Pretendard Regular"/>
                <a:cs typeface="Pretendard Regular"/>
              </a:rPr>
              <a:t>Private acceptance / informational conformity
(사적 수용 / 정보적 동조)
Public compliance / normative conformity
(공적 순응 / 규범적 동조)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531600" cy="749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집단역학에서 사회적 영향으로</a:t>
            </a:r>
          </a:p>
        </p:txBody>
      </p:sp>
      <p:sp>
        <p:nvSpPr>
          <p:cNvPr id="3" name="TextBox 3"/>
          <p:cNvSpPr txBox="1"/>
          <p:nvPr/>
        </p:nvSpPr>
        <p:spPr>
          <a:xfrm>
            <a:off x="584200" y="3225800"/>
            <a:ext cx="7645400" cy="863600"/>
          </a:xfrm>
          <a:prstGeom prst="rect">
            <a:avLst/>
          </a:prstGeom>
        </p:spPr>
        <p:txBody>
          <a:bodyPr lIns="0" tIns="0" rIns="0" bIns="0" rtlCol="0" anchor="ctr"/>
          <a:lstStyle/>
          <a:p>
            <a:pPr lvl="0" algn="ctr">
              <a:lnSpc>
                <a:spcPct val="124499"/>
              </a:lnSpc>
            </a:pPr>
            <a:r>
              <a:rPr lang="en-US" sz="2300" b="0" i="0" u="none" strike="noStrike">
                <a:solidFill>
                  <a:srgbClr val="9E9E9E"/>
                </a:solidFill>
                <a:latin typeface="Pretendard Regular"/>
                <a:ea typeface="Pretendard Regular"/>
                <a:cs typeface="Pretendard Regular"/>
              </a:rPr>
              <a:t>초기 전후 연구는 Kurt Lewin과 그의 제자들의 영향을 받아</a:t>
            </a:r>
          </a:p>
          <a:p>
            <a:pPr lvl="0" algn="ctr">
              <a:lnSpc>
                <a:spcPct val="124499"/>
              </a:lnSpc>
            </a:pPr>
            <a:r>
              <a:rPr lang="en-US" sz="2300" b="0" i="0" u="none" strike="noStrike">
                <a:solidFill>
                  <a:srgbClr val="9E9E9E"/>
                </a:solidFill>
                <a:latin typeface="Pretendard Regular"/>
                <a:ea typeface="Pretendard Regular"/>
                <a:cs typeface="Pretendard Regular"/>
              </a:rPr>
              <a:t>집단 내부의 과정을 연구</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4305300"/>
            <a:ext cx="6134100" cy="1054100"/>
          </a:xfrm>
          <a:prstGeom prst="rect">
            <a:avLst/>
          </a:prstGeom>
        </p:spPr>
      </p:pic>
      <p:sp>
        <p:nvSpPr>
          <p:cNvPr id="5" name="TextBox 5"/>
          <p:cNvSpPr txBox="1"/>
          <p:nvPr/>
        </p:nvSpPr>
        <p:spPr>
          <a:xfrm>
            <a:off x="1257300" y="4394200"/>
            <a:ext cx="6223000" cy="838200"/>
          </a:xfrm>
          <a:prstGeom prst="rect">
            <a:avLst/>
          </a:prstGeom>
        </p:spPr>
        <p:txBody>
          <a:bodyPr lIns="0" tIns="0" rIns="0" bIns="0" rtlCol="0" anchor="ctr"/>
          <a:lstStyle/>
          <a:p>
            <a:pPr lvl="0" algn="ctr">
              <a:lnSpc>
                <a:spcPct val="124499"/>
              </a:lnSpc>
            </a:pPr>
            <a:r>
              <a:rPr lang="en-US" sz="2200" b="0" i="0" u="none" strike="noStrike">
                <a:solidFill>
                  <a:srgbClr val="9E9E9E"/>
                </a:solidFill>
                <a:latin typeface="Pretendard SemiBold"/>
                <a:ea typeface="Pretendard SemiBold"/>
                <a:cs typeface="Pretendard SemiBold"/>
              </a:rPr>
              <a:t>Theory of Informal Social Communication
(비공식적 사회적 의사소통 이론; Festinger, 1950)</a:t>
            </a: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67000" y="1676400"/>
            <a:ext cx="3454400" cy="1206500"/>
          </a:xfrm>
          <a:prstGeom prst="rect">
            <a:avLst/>
          </a:prstGeom>
        </p:spPr>
      </p:pic>
      <p:sp>
        <p:nvSpPr>
          <p:cNvPr id="7" name="TextBox 7"/>
          <p:cNvSpPr txBox="1"/>
          <p:nvPr/>
        </p:nvSpPr>
        <p:spPr>
          <a:xfrm>
            <a:off x="2336800" y="1714500"/>
            <a:ext cx="4152900" cy="1079500"/>
          </a:xfrm>
          <a:prstGeom prst="rect">
            <a:avLst/>
          </a:prstGeom>
        </p:spPr>
        <p:txBody>
          <a:bodyPr lIns="0" tIns="0" rIns="0" bIns="0" rtlCol="0" anchor="ctr"/>
          <a:lstStyle/>
          <a:p>
            <a:pPr lvl="0" algn="ctr">
              <a:lnSpc>
                <a:spcPct val="124499"/>
              </a:lnSpc>
            </a:pPr>
            <a:r>
              <a:rPr lang="en-US" sz="2864" b="0" i="0" u="none" strike="noStrike">
                <a:solidFill>
                  <a:srgbClr val="9E9E9E"/>
                </a:solidFill>
                <a:latin typeface="Pretendard SemiBold"/>
                <a:ea typeface="Pretendard SemiBold"/>
                <a:cs typeface="Pretendard SemiBold"/>
              </a:rPr>
              <a:t>Group Dynamics
(집단역학)</a:t>
            </a: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78900" y="5461000"/>
            <a:ext cx="863600" cy="457200"/>
          </a:xfrm>
          <a:prstGeom prst="rect">
            <a:avLst/>
          </a:prstGeom>
        </p:spPr>
      </p:pic>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280900" y="1676400"/>
            <a:ext cx="3454400" cy="1206500"/>
          </a:xfrm>
          <a:prstGeom prst="rect">
            <a:avLst/>
          </a:prstGeom>
        </p:spPr>
      </p:pic>
      <p:sp>
        <p:nvSpPr>
          <p:cNvPr id="10" name="TextBox 10"/>
          <p:cNvSpPr txBox="1"/>
          <p:nvPr/>
        </p:nvSpPr>
        <p:spPr>
          <a:xfrm>
            <a:off x="11938000" y="1739900"/>
            <a:ext cx="4152900" cy="1079500"/>
          </a:xfrm>
          <a:prstGeom prst="rect">
            <a:avLst/>
          </a:prstGeom>
        </p:spPr>
        <p:txBody>
          <a:bodyPr lIns="0" tIns="0" rIns="0" bIns="0"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Social Influence
(사회적 영향)</a:t>
            </a:r>
          </a:p>
        </p:txBody>
      </p:sp>
      <p:sp>
        <p:nvSpPr>
          <p:cNvPr id="11" name="TextBox 11"/>
          <p:cNvSpPr txBox="1"/>
          <p:nvPr/>
        </p:nvSpPr>
        <p:spPr>
          <a:xfrm>
            <a:off x="1003300" y="5486400"/>
            <a:ext cx="7048500" cy="1600200"/>
          </a:xfrm>
          <a:prstGeom prst="rect">
            <a:avLst/>
          </a:prstGeom>
        </p:spPr>
        <p:txBody>
          <a:bodyPr lIns="0" tIns="0" rIns="0" bIns="0" rtlCol="0" anchor="ctr"/>
          <a:lstStyle/>
          <a:p>
            <a:pPr marL="266700" lvl="1" indent="-266700" algn="l">
              <a:lnSpc>
                <a:spcPct val="124499"/>
              </a:lnSpc>
              <a:buClr>
                <a:srgbClr val="000000"/>
              </a:buClr>
              <a:buFont typeface="Arial"/>
              <a:buChar char="●"/>
            </a:pPr>
            <a:r>
              <a:rPr lang="en-US" sz="2100" b="0" i="0" u="none" strike="noStrike">
                <a:solidFill>
                  <a:srgbClr val="9E9E9E"/>
                </a:solidFill>
                <a:latin typeface="Pretendard Regular"/>
                <a:ea typeface="Pretendard Regular"/>
                <a:cs typeface="Pretendard Regular"/>
              </a:rPr>
              <a:t>집단 내 의사소통을 발생시키는 동질성에 대한 압력을 설명</a:t>
            </a:r>
          </a:p>
          <a:p>
            <a:pPr marL="533400" lvl="2" indent="-266700" algn="l">
              <a:lnSpc>
                <a:spcPct val="124499"/>
              </a:lnSpc>
              <a:buClr>
                <a:srgbClr val="000000"/>
              </a:buClr>
              <a:buFont typeface="Arial"/>
              <a:buChar char="○"/>
            </a:pPr>
            <a:r>
              <a:rPr lang="en-US" sz="2100" b="0" i="0" u="none" strike="noStrike">
                <a:solidFill>
                  <a:srgbClr val="9E9E9E"/>
                </a:solidFill>
                <a:latin typeface="Pretendard Regular"/>
                <a:ea typeface="Pretendard Regular"/>
                <a:cs typeface="Pretendard Regular"/>
              </a:rPr>
              <a:t>Establishing social reality (사회적 현실의 확립)</a:t>
            </a:r>
          </a:p>
          <a:p>
            <a:pPr marL="533400" lvl="2" indent="-266700" algn="l">
              <a:lnSpc>
                <a:spcPct val="124499"/>
              </a:lnSpc>
              <a:buClr>
                <a:srgbClr val="000000"/>
              </a:buClr>
              <a:buFont typeface="Arial"/>
              <a:buChar char="○"/>
            </a:pPr>
            <a:r>
              <a:rPr lang="en-US" sz="2100" b="0" i="0" u="none" strike="noStrike">
                <a:solidFill>
                  <a:srgbClr val="9E9E9E"/>
                </a:solidFill>
                <a:latin typeface="Pretendard Regular"/>
                <a:ea typeface="Pretendard Regular"/>
                <a:cs typeface="Pretendard Regular"/>
              </a:rPr>
              <a:t>Movement toward a group goal (집단목표를 향한 이동)</a:t>
            </a:r>
          </a:p>
          <a:p>
            <a:pPr marL="533400" lvl="2" indent="-266700" algn="l">
              <a:lnSpc>
                <a:spcPct val="124499"/>
              </a:lnSpc>
              <a:buClr>
                <a:srgbClr val="000000"/>
              </a:buClr>
              <a:buFont typeface="Arial"/>
              <a:buChar char="○"/>
            </a:pPr>
            <a:r>
              <a:rPr lang="en-US" sz="2100" b="0" i="0" u="none" strike="noStrike">
                <a:solidFill>
                  <a:srgbClr val="9E9E9E"/>
                </a:solidFill>
                <a:latin typeface="Pretendard Regular"/>
                <a:ea typeface="Pretendard Regular"/>
                <a:cs typeface="Pretendard Regular"/>
              </a:rPr>
              <a:t>Expression of emotional states (정서 상태의 표현)</a:t>
            </a: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7467600"/>
            <a:ext cx="6134100" cy="1054100"/>
          </a:xfrm>
          <a:prstGeom prst="rect">
            <a:avLst/>
          </a:prstGeom>
        </p:spPr>
      </p:pic>
      <p:sp>
        <p:nvSpPr>
          <p:cNvPr id="13" name="TextBox 13"/>
          <p:cNvSpPr txBox="1"/>
          <p:nvPr/>
        </p:nvSpPr>
        <p:spPr>
          <a:xfrm>
            <a:off x="1257300" y="7556500"/>
            <a:ext cx="6223000" cy="838200"/>
          </a:xfrm>
          <a:prstGeom prst="rect">
            <a:avLst/>
          </a:prstGeom>
        </p:spPr>
        <p:txBody>
          <a:bodyPr lIns="0" tIns="0" rIns="0" bIns="0" rtlCol="0" anchor="ctr"/>
          <a:lstStyle/>
          <a:p>
            <a:pPr lvl="0" algn="ctr">
              <a:lnSpc>
                <a:spcPct val="124499"/>
              </a:lnSpc>
            </a:pPr>
            <a:r>
              <a:rPr lang="en-US" sz="2199" b="0" i="0" u="none" strike="noStrike">
                <a:solidFill>
                  <a:srgbClr val="9E9E9E"/>
                </a:solidFill>
                <a:latin typeface="Pretendard SemiBold"/>
                <a:ea typeface="Pretendard SemiBold"/>
                <a:cs typeface="Pretendard SemiBold"/>
              </a:rPr>
              <a:t>Cooperation and competition
(협동과 경쟁; Deutsch, 1949)</a:t>
            </a: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8902700"/>
            <a:ext cx="6134100" cy="1054100"/>
          </a:xfrm>
          <a:prstGeom prst="rect">
            <a:avLst/>
          </a:prstGeom>
        </p:spPr>
      </p:pic>
      <p:sp>
        <p:nvSpPr>
          <p:cNvPr id="15" name="TextBox 15"/>
          <p:cNvSpPr txBox="1"/>
          <p:nvPr/>
        </p:nvSpPr>
        <p:spPr>
          <a:xfrm>
            <a:off x="1257300" y="8991600"/>
            <a:ext cx="6223000" cy="838200"/>
          </a:xfrm>
          <a:prstGeom prst="rect">
            <a:avLst/>
          </a:prstGeom>
        </p:spPr>
        <p:txBody>
          <a:bodyPr lIns="0" tIns="0" rIns="0" bIns="0" rtlCol="0" anchor="ctr"/>
          <a:lstStyle/>
          <a:p>
            <a:pPr lvl="0" algn="ctr">
              <a:lnSpc>
                <a:spcPct val="124499"/>
              </a:lnSpc>
            </a:pPr>
            <a:r>
              <a:rPr lang="en-US" sz="2199" b="0" i="0" u="none" strike="noStrike">
                <a:solidFill>
                  <a:srgbClr val="9E9E9E"/>
                </a:solidFill>
                <a:latin typeface="Pretendard SemiBold"/>
                <a:ea typeface="Pretendard SemiBold"/>
                <a:cs typeface="Pretendard SemiBold"/>
              </a:rPr>
              <a:t>Interdependence Theory
(상호의존이론; Thibaut &amp; Kelley, 1959)</a:t>
            </a:r>
          </a:p>
        </p:txBody>
      </p:sp>
      <p:sp>
        <p:nvSpPr>
          <p:cNvPr id="16" name="TextBox 16"/>
          <p:cNvSpPr txBox="1"/>
          <p:nvPr/>
        </p:nvSpPr>
        <p:spPr>
          <a:xfrm>
            <a:off x="10223500" y="3225800"/>
            <a:ext cx="7645400" cy="863600"/>
          </a:xfrm>
          <a:prstGeom prst="rect">
            <a:avLst/>
          </a:prstGeom>
        </p:spPr>
        <p:txBody>
          <a:bodyPr lIns="0" tIns="0" rIns="0" bIns="0" rtlCol="0" anchor="ctr"/>
          <a:lstStyle/>
          <a:p>
            <a:pPr lvl="0" algn="ctr">
              <a:lnSpc>
                <a:spcPct val="124499"/>
              </a:lnSpc>
            </a:pPr>
            <a:r>
              <a:rPr lang="en-US" sz="2300" b="0" i="0" u="none" strike="noStrike">
                <a:solidFill>
                  <a:srgbClr val="000000"/>
                </a:solidFill>
                <a:latin typeface="Pretendard Regular"/>
                <a:ea typeface="Pretendard Regular"/>
                <a:cs typeface="Pretendard Regular"/>
              </a:rPr>
              <a:t>1960년대 중반부터 미국 사회심리학은 집단 자체보다</a:t>
            </a:r>
          </a:p>
          <a:p>
            <a:pPr lvl="0" algn="ctr">
              <a:lnSpc>
                <a:spcPct val="124499"/>
              </a:lnSpc>
            </a:pPr>
            <a:r>
              <a:rPr lang="en-US" sz="2300" b="0" i="0" u="sng" strike="noStrike">
                <a:solidFill>
                  <a:srgbClr val="000000"/>
                </a:solidFill>
                <a:latin typeface="Pretendard Regular"/>
                <a:ea typeface="Pretendard Regular"/>
                <a:cs typeface="Pretendard Regular"/>
              </a:rPr>
              <a:t>집단이 개인에게 미치는 영향</a:t>
            </a:r>
            <a:r>
              <a:rPr lang="en-US" sz="2300" b="0" i="0" u="none" strike="noStrike">
                <a:solidFill>
                  <a:srgbClr val="000000"/>
                </a:solidFill>
                <a:latin typeface="Pretendard Regular"/>
                <a:ea typeface="Pretendard Regular"/>
                <a:cs typeface="Pretendard Regular"/>
              </a:rPr>
              <a:t>에 초점</a:t>
            </a: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01500" y="4597400"/>
            <a:ext cx="4000500" cy="850900"/>
          </a:xfrm>
          <a:prstGeom prst="rect">
            <a:avLst/>
          </a:prstGeom>
        </p:spPr>
      </p:pic>
      <p:sp>
        <p:nvSpPr>
          <p:cNvPr id="18" name="TextBox 18"/>
          <p:cNvSpPr txBox="1"/>
          <p:nvPr/>
        </p:nvSpPr>
        <p:spPr>
          <a:xfrm>
            <a:off x="11861800" y="4813300"/>
            <a:ext cx="42545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Risky shift (위험이행 현상)</a:t>
            </a:r>
          </a:p>
        </p:txBody>
      </p:sp>
      <p:sp>
        <p:nvSpPr>
          <p:cNvPr id="19" name="TextBox 19"/>
          <p:cNvSpPr txBox="1"/>
          <p:nvPr/>
        </p:nvSpPr>
        <p:spPr>
          <a:xfrm>
            <a:off x="10655300" y="5626100"/>
            <a:ext cx="7264400" cy="406400"/>
          </a:xfrm>
          <a:prstGeom prst="rect">
            <a:avLst/>
          </a:prstGeom>
        </p:spPr>
        <p:txBody>
          <a:bodyPr lIns="0" tIns="0" rIns="0" bIns="0" rtlCol="0" anchor="ctr"/>
          <a:lstStyle/>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개인이 혼자 결정할 때보다 집단에서 더 위험한 결정을 하는 현상</a:t>
            </a: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874500" y="6451600"/>
            <a:ext cx="4292600" cy="609600"/>
          </a:xfrm>
          <a:prstGeom prst="rect">
            <a:avLst/>
          </a:prstGeom>
        </p:spPr>
      </p:pic>
      <p:sp>
        <p:nvSpPr>
          <p:cNvPr id="21" name="TextBox 21"/>
          <p:cNvSpPr txBox="1"/>
          <p:nvPr/>
        </p:nvSpPr>
        <p:spPr>
          <a:xfrm>
            <a:off x="11874500" y="6540500"/>
            <a:ext cx="43307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Conformity (동조; Asch, 1956)</a:t>
            </a: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52200" y="9220200"/>
            <a:ext cx="5473700" cy="698500"/>
          </a:xfrm>
          <a:prstGeom prst="rect">
            <a:avLst/>
          </a:prstGeom>
        </p:spPr>
      </p:pic>
      <p:sp>
        <p:nvSpPr>
          <p:cNvPr id="23" name="TextBox 23"/>
          <p:cNvSpPr txBox="1"/>
          <p:nvPr/>
        </p:nvSpPr>
        <p:spPr>
          <a:xfrm>
            <a:off x="11366500" y="9359900"/>
            <a:ext cx="52070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Obedience (복종; Milgram, 1963, 1965)</a:t>
            </a:r>
          </a:p>
        </p:txBody>
      </p:sp>
      <p:sp>
        <p:nvSpPr>
          <p:cNvPr id="24" name="TextBox 24"/>
          <p:cNvSpPr txBox="1"/>
          <p:nvPr/>
        </p:nvSpPr>
        <p:spPr>
          <a:xfrm>
            <a:off x="10604500" y="7150100"/>
            <a:ext cx="7264400" cy="1600200"/>
          </a:xfrm>
          <a:prstGeom prst="rect">
            <a:avLst/>
          </a:prstGeom>
        </p:spPr>
        <p:txBody>
          <a:bodyPr lIns="0" tIns="0" rIns="0" bIns="0" rtlCol="0" anchor="ctr"/>
          <a:lstStyle/>
          <a:p>
            <a:pPr lvl="0" algn="ctr">
              <a:lnSpc>
                <a:spcPct val="124499"/>
              </a:lnSpc>
            </a:pPr>
            <a:r>
              <a:rPr lang="en-US" sz="2100" b="0" i="0" u="none" strike="noStrike">
                <a:solidFill>
                  <a:srgbClr val="000000"/>
                </a:solidFill>
                <a:latin typeface="Pretendard Regular"/>
                <a:ea typeface="Pretendard Regular"/>
                <a:cs typeface="Pretendard Regular"/>
              </a:rPr>
              <a:t>Private acceptance / informational conformity
(사적 수용 / 정보적 동조)
Public compliance / normative conformity
(공적 순응 / 규범적 동조)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531600" cy="1384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Discussion 1.</a:t>
            </a:r>
          </a:p>
          <a:p>
            <a:pPr lvl="0" algn="l">
              <a:lnSpc>
                <a:spcPct val="99600"/>
              </a:lnSpc>
            </a:pPr>
            <a:r>
              <a:rPr lang="en-US" sz="4100" b="0" i="0" u="none" strike="noStrike">
                <a:solidFill>
                  <a:srgbClr val="0063BA"/>
                </a:solidFill>
                <a:latin typeface="Pretendard Bold"/>
                <a:ea typeface="Pretendard Bold"/>
                <a:cs typeface="Pretendard Bold"/>
              </a:rPr>
              <a:t>밀그램 실험은 오늘날 IRB를 통과할 수 있는가?</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2451100"/>
            <a:ext cx="3708400" cy="698500"/>
          </a:xfrm>
          <a:prstGeom prst="rect">
            <a:avLst/>
          </a:prstGeom>
        </p:spPr>
      </p:pic>
      <p:sp>
        <p:nvSpPr>
          <p:cNvPr id="4" name="TextBox 4"/>
          <p:cNvSpPr txBox="1"/>
          <p:nvPr/>
        </p:nvSpPr>
        <p:spPr>
          <a:xfrm>
            <a:off x="977900" y="2590800"/>
            <a:ext cx="35560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Milgram (1963, 1965)</a:t>
            </a:r>
          </a:p>
        </p:txBody>
      </p:sp>
      <p:sp>
        <p:nvSpPr>
          <p:cNvPr id="5" name="TextBox 5"/>
          <p:cNvSpPr txBox="1"/>
          <p:nvPr/>
        </p:nvSpPr>
        <p:spPr>
          <a:xfrm>
            <a:off x="914400" y="3302000"/>
            <a:ext cx="16713200" cy="6438900"/>
          </a:xfrm>
          <a:prstGeom prst="rect">
            <a:avLst/>
          </a:prstGeom>
        </p:spPr>
        <p:txBody>
          <a:bodyPr lIns="0" tIns="0" rIns="0" bIns="0" rtlCol="0" anchor="ctr"/>
          <a:lstStyle/>
          <a:p>
            <a:pPr marL="286512" lvl="1" indent="-286512" algn="l">
              <a:lnSpc>
                <a:spcPct val="124499"/>
              </a:lnSpc>
              <a:buClr>
                <a:srgbClr val="000000"/>
              </a:buClr>
              <a:buFont typeface="Arial"/>
              <a:buChar char="●"/>
            </a:pPr>
            <a:r>
              <a:rPr lang="en-US" sz="2256" b="0" i="0" u="none" strike="noStrike">
                <a:solidFill>
                  <a:srgbClr val="000000"/>
                </a:solidFill>
                <a:latin typeface="Pretendard SemiBold"/>
                <a:ea typeface="Pretendard SemiBold"/>
                <a:cs typeface="Pretendard SemiBold"/>
              </a:rPr>
              <a:t>Original Study</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참가자 40명은 교사 역할을 맡아, 오답이 나올 때마다 15–450 V로 표시된 충격을 한 단계씩 높이라는 지시를 받았다.</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실제 충격은 없었지만 참가자는 학습자가 고통을 받고 있다고 믿었다.</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학습자가 항의하고 응답을 중단한 뒤에도 실험자는 네 단계의 표준화된 계속 지시를 사용했다.</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40명 중 26명, 즉 65%가 마지막 450 V까지 진행했으며, 일부 참가자는 땀·떨림·신경성 웃음 등을 보였다(Milgram, 1963).</a:t>
            </a:r>
          </a:p>
          <a:p>
            <a:pPr lvl="0" algn="l">
              <a:lnSpc>
                <a:spcPct val="124499"/>
              </a:lnSpc>
            </a:pPr>
            <a:endParaRPr lang="en-US" sz="2256" b="0" i="0" u="none" strike="noStrike">
              <a:solidFill>
                <a:srgbClr val="000000"/>
              </a:solidFill>
              <a:latin typeface="Pretendard Regular"/>
              <a:ea typeface="Pretendard Regular"/>
              <a:cs typeface="Pretendard Regular"/>
            </a:endParaRPr>
          </a:p>
          <a:p>
            <a:pPr marL="286512" lvl="1" indent="-286512" algn="l">
              <a:lnSpc>
                <a:spcPct val="124499"/>
              </a:lnSpc>
              <a:buClr>
                <a:srgbClr val="000000"/>
              </a:buClr>
              <a:buFont typeface="Arial"/>
              <a:buChar char="●"/>
            </a:pPr>
            <a:r>
              <a:rPr lang="en-US" sz="2256" b="0" i="0" u="none" strike="noStrike">
                <a:solidFill>
                  <a:srgbClr val="000000"/>
                </a:solidFill>
                <a:latin typeface="Pretendard SemiBold"/>
                <a:ea typeface="Pretendard SemiBold"/>
                <a:cs typeface="Pretendard SemiBold"/>
              </a:rPr>
              <a:t>이 연구의 가치는 무엇이었는가?</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권위자의 거리, 피해자와의 거리, 동료의 불복종 등 어떤 조건에서 복종이 증가하거나 감소하는지를 통제된 실험으로 규명</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“사람들은 원래 악하다”가 아니라 상황적 조절요인이 평범한 사람의 행동을 크게 변화시킨다는 점</a:t>
            </a:r>
          </a:p>
          <a:p>
            <a:pPr marL="286512" lvl="1" indent="-286512" algn="l">
              <a:lnSpc>
                <a:spcPct val="124499"/>
              </a:lnSpc>
              <a:buClr>
                <a:srgbClr val="000000"/>
              </a:buClr>
              <a:buFont typeface="Arial"/>
              <a:buChar char="●"/>
            </a:pPr>
            <a:endParaRPr lang="en-US" sz="2256" b="0" i="0" u="none" strike="noStrike">
              <a:solidFill>
                <a:srgbClr val="000000"/>
              </a:solidFill>
              <a:latin typeface="Pretendard Regular"/>
              <a:ea typeface="Pretendard Regular"/>
              <a:cs typeface="Pretendard Regular"/>
            </a:endParaRPr>
          </a:p>
          <a:p>
            <a:pPr marL="286512" lvl="1" indent="-286512" algn="l">
              <a:lnSpc>
                <a:spcPct val="124499"/>
              </a:lnSpc>
              <a:buClr>
                <a:srgbClr val="000000"/>
              </a:buClr>
              <a:buFont typeface="Arial"/>
              <a:buChar char="●"/>
            </a:pPr>
            <a:r>
              <a:rPr lang="en-US" sz="2256" b="0" i="0" u="none" strike="noStrike">
                <a:solidFill>
                  <a:srgbClr val="000000"/>
                </a:solidFill>
                <a:latin typeface="Pretendard SemiBold"/>
                <a:ea typeface="Pretendard SemiBold"/>
                <a:cs typeface="Pretendard SemiBold"/>
              </a:rPr>
              <a:t>IRB가 느낄 딜레마</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과학적 가치: 실제로 해를 가한다고 믿는 상황이라면 권위와 양심이 충돌하는 행동을 관찰할 수 있다.</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생태학적 타당도: 연구의 진짜 목적을 알려주면 요구 특성이 발생해 같은 현상을 측정하기 어렵다.</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인간 존중: 참가자는 연구의 본질을 알지 못했고, “계속해야 한다”는 지시는 철회권을 약화시킬 수 있다.</a:t>
            </a:r>
          </a:p>
          <a:p>
            <a:pPr marL="573024" lvl="2" indent="-286512" algn="l">
              <a:lnSpc>
                <a:spcPct val="124499"/>
              </a:lnSpc>
              <a:buClr>
                <a:srgbClr val="000000"/>
              </a:buClr>
              <a:buFont typeface="Arial"/>
              <a:buChar char="○"/>
            </a:pPr>
            <a:r>
              <a:rPr lang="en-US" sz="2256" b="0" i="0" u="none" strike="noStrike">
                <a:solidFill>
                  <a:srgbClr val="000000"/>
                </a:solidFill>
                <a:latin typeface="Pretendard Regular"/>
                <a:ea typeface="Pretendard Regular"/>
                <a:cs typeface="Pretendard Regular"/>
              </a:rPr>
              <a:t>선행·위해 최소화: 실제 충격이 없더라도 자신이 다른 사람에게 심각한 위해를 가했다고 믿는 경험 자체가 심리적 위해가 될 수 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531600" cy="1384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Discussion 1.</a:t>
            </a:r>
          </a:p>
          <a:p>
            <a:pPr lvl="0" algn="l">
              <a:lnSpc>
                <a:spcPct val="99600"/>
              </a:lnSpc>
            </a:pPr>
            <a:r>
              <a:rPr lang="en-US" sz="4100" b="0" i="0" u="none" strike="noStrike">
                <a:solidFill>
                  <a:srgbClr val="0063BA"/>
                </a:solidFill>
                <a:latin typeface="Pretendard Bold"/>
                <a:ea typeface="Pretendard Bold"/>
                <a:cs typeface="Pretendard Bold"/>
              </a:rPr>
              <a:t>밀그램 실험은 오늘날 IRB를 통과할 수 있는가?</a:t>
            </a:r>
          </a:p>
        </p:txBody>
      </p:sp>
      <p:sp>
        <p:nvSpPr>
          <p:cNvPr id="3" name="TextBox 3"/>
          <p:cNvSpPr txBox="1"/>
          <p:nvPr/>
        </p:nvSpPr>
        <p:spPr>
          <a:xfrm>
            <a:off x="1168400" y="2590800"/>
            <a:ext cx="16027400" cy="6807200"/>
          </a:xfrm>
          <a:prstGeom prst="rect">
            <a:avLst/>
          </a:prstGeom>
        </p:spPr>
        <p:txBody>
          <a:bodyPr lIns="0" tIns="0" rIns="0" bIns="0" rtlCol="0" anchor="ctr"/>
          <a:lstStyle/>
          <a:p>
            <a:pPr marL="324866" lvl="1" indent="-324866" algn="l">
              <a:lnSpc>
                <a:spcPct val="124499"/>
              </a:lnSpc>
              <a:buClr>
                <a:srgbClr val="000000"/>
              </a:buClr>
              <a:buFont typeface="Arial"/>
              <a:buChar char="●"/>
            </a:pPr>
            <a:r>
              <a:rPr lang="en-US" sz="2558" b="0" i="0" u="none" strike="noStrike">
                <a:solidFill>
                  <a:srgbClr val="000000"/>
                </a:solidFill>
                <a:latin typeface="Pretendard SemiBold"/>
                <a:ea typeface="Pretendard SemiBold"/>
                <a:cs typeface="Pretendard SemiBold"/>
              </a:rPr>
              <a:t>Burger (2009)</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전체 절차를 450 V가 아니라 학습자가 처음 강하게 항의하는 150 V에서 중단</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불안·우울 척도와 임상심리학자 면담을 통한 다단계 참가자 선별</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참가자가 언제든 중단하고도 보상을 받을 수 있다는 점을 반복적으로 고지</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실험 직후 실제 충격이 없었다는 사실을 즉시 설명</a:t>
            </a:r>
          </a:p>
          <a:p>
            <a:pPr marL="649732" lvl="2" indent="-324866" algn="l">
              <a:lnSpc>
                <a:spcPct val="124499"/>
              </a:lnSpc>
              <a:buClr>
                <a:srgbClr val="000000"/>
              </a:buClr>
              <a:buFont typeface="Arial"/>
              <a:buChar char="○"/>
            </a:pPr>
            <a:r>
              <a:rPr lang="en-US" sz="2558" b="0" i="0" u="sng" strike="noStrike">
                <a:solidFill>
                  <a:srgbClr val="000000"/>
                </a:solidFill>
                <a:latin typeface="Pretendard Regular"/>
                <a:ea typeface="Pretendard Regular"/>
                <a:cs typeface="Pretendard Regular"/>
              </a:rPr>
              <a:t>기본 조건 참가자의 약 70%가 150 V 이후에도 계속하려 했음</a:t>
            </a:r>
          </a:p>
          <a:p>
            <a:pPr lvl="0" algn="l">
              <a:lnSpc>
                <a:spcPct val="124499"/>
              </a:lnSpc>
            </a:pPr>
            <a:endParaRPr lang="en-US" sz="2558" b="0" i="0" u="sng" strike="noStrike">
              <a:solidFill>
                <a:srgbClr val="000000"/>
              </a:solidFill>
              <a:latin typeface="Pretendard Regular"/>
              <a:ea typeface="Pretendard Regular"/>
              <a:cs typeface="Pretendard Regular"/>
            </a:endParaRPr>
          </a:p>
          <a:p>
            <a:pPr marL="324866" lvl="1" indent="-324866" algn="l">
              <a:lnSpc>
                <a:spcPct val="124499"/>
              </a:lnSpc>
              <a:buClr>
                <a:srgbClr val="000000"/>
              </a:buClr>
              <a:buFont typeface="Arial"/>
              <a:buChar char="●"/>
            </a:pPr>
            <a:r>
              <a:rPr lang="en-US" sz="2558" b="0" i="0" u="none" strike="noStrike">
                <a:solidFill>
                  <a:srgbClr val="000000"/>
                </a:solidFill>
                <a:latin typeface="Pretendard SemiBold"/>
                <a:ea typeface="Pretendard SemiBold"/>
                <a:cs typeface="Pretendard SemiBold"/>
              </a:rPr>
              <a:t>원 실험과의 괴리</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이 설계의 종속변수는 150 V 이후 계속하려는 행동 (</a:t>
            </a:r>
            <a:r>
              <a:rPr lang="en-US" sz="2558" b="0" i="0" u="sng" strike="noStrike">
                <a:solidFill>
                  <a:srgbClr val="000000"/>
                </a:solidFill>
                <a:latin typeface="Pretendard Regular"/>
                <a:ea typeface="Pretendard Regular"/>
                <a:cs typeface="Pretendard Regular"/>
              </a:rPr>
              <a:t>어디까지 가는지는 보지 않음</a:t>
            </a:r>
            <a:r>
              <a:rPr lang="en-US" sz="2558" b="0" i="0" u="none" strike="noStrike">
                <a:solidFill>
                  <a:srgbClr val="000000"/>
                </a:solidFill>
                <a:latin typeface="Pretendard Regular"/>
                <a:ea typeface="Pretendard Regular"/>
                <a:cs typeface="Pretendard Regular"/>
              </a:rPr>
              <a:t>)</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참가자 보호는 개선되지만, 원 실험과 완전히 같은 현상을 측정했다고 볼 수 없다.</a:t>
            </a:r>
          </a:p>
          <a:p>
            <a:pPr marL="324866" lvl="1" indent="-324866" algn="l">
              <a:lnSpc>
                <a:spcPct val="124499"/>
              </a:lnSpc>
              <a:buClr>
                <a:srgbClr val="000000"/>
              </a:buClr>
              <a:buFont typeface="Arial"/>
              <a:buChar char="●"/>
            </a:pPr>
            <a:endParaRPr lang="en-US" sz="2558" b="0" i="0" u="none" strike="noStrike">
              <a:solidFill>
                <a:srgbClr val="000000"/>
              </a:solidFill>
              <a:latin typeface="Pretendard Regular"/>
              <a:ea typeface="Pretendard Regular"/>
              <a:cs typeface="Pretendard Regular"/>
            </a:endParaRPr>
          </a:p>
          <a:p>
            <a:pPr marL="324866" lvl="1" indent="-324866" algn="l">
              <a:lnSpc>
                <a:spcPct val="124499"/>
              </a:lnSpc>
              <a:buClr>
                <a:srgbClr val="000000"/>
              </a:buClr>
              <a:buFont typeface="Arial"/>
              <a:buChar char="●"/>
            </a:pPr>
            <a:r>
              <a:rPr lang="en-US" sz="2558" b="0" i="0" u="none" strike="noStrike">
                <a:solidFill>
                  <a:srgbClr val="000000"/>
                </a:solidFill>
                <a:latin typeface="Pretendard SemiBold"/>
                <a:ea typeface="Pretendard SemiBold"/>
                <a:cs typeface="Pretendard SemiBold"/>
              </a:rPr>
              <a:t>토론 질문</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권위자의 압력, 위해에 대한 믿음, 450 V까지의 진행 중 무엇이 제거되면 더 이상 같은 복종 연구가 아니게 되는가?</a:t>
            </a:r>
          </a:p>
          <a:p>
            <a:pPr marL="649732" lvl="2" indent="-324866" algn="l">
              <a:lnSpc>
                <a:spcPct val="124499"/>
              </a:lnSpc>
              <a:buClr>
                <a:srgbClr val="000000"/>
              </a:buClr>
              <a:buFont typeface="Arial"/>
              <a:buChar char="○"/>
            </a:pPr>
            <a:r>
              <a:rPr lang="en-US" sz="2558" b="0" i="0" u="none" strike="noStrike">
                <a:solidFill>
                  <a:srgbClr val="000000"/>
                </a:solidFill>
                <a:latin typeface="Pretendard Regular"/>
                <a:ea typeface="Pretendard Regular"/>
                <a:cs typeface="Pretendard Regular"/>
              </a:rPr>
              <a:t>어떻게 설계해야 통과할 수 있을까요..?</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1282700" y="3111500"/>
            <a:ext cx="15709900" cy="1181100"/>
          </a:xfrm>
          <a:prstGeom prst="rect">
            <a:avLst/>
          </a:prstGeom>
        </p:spPr>
        <p:txBody>
          <a:bodyPr lIns="0" tIns="82550" rIns="0" bIns="82550" rtlCol="0" anchor="ctr"/>
          <a:lstStyle/>
          <a:p>
            <a:pPr lvl="0" algn="ctr">
              <a:lnSpc>
                <a:spcPct val="99600"/>
              </a:lnSpc>
            </a:pPr>
            <a:r>
              <a:rPr lang="en-US" sz="6498" b="0" i="0" u="none" strike="noStrike">
                <a:solidFill>
                  <a:srgbClr val="0063BA"/>
                </a:solidFill>
                <a:latin typeface="Pretendard Bold"/>
                <a:ea typeface="Pretendard Bold"/>
                <a:cs typeface="Pretendard Bold"/>
              </a:rPr>
              <a:t>연구 범위 확대</a:t>
            </a:r>
          </a:p>
        </p:txBody>
      </p:sp>
      <p:sp>
        <p:nvSpPr>
          <p:cNvPr id="3" name="TextBox 3"/>
          <p:cNvSpPr txBox="1"/>
          <p:nvPr/>
        </p:nvSpPr>
        <p:spPr>
          <a:xfrm>
            <a:off x="6019800" y="6324600"/>
            <a:ext cx="6362700" cy="2273300"/>
          </a:xfrm>
          <a:prstGeom prst="rect">
            <a:avLst/>
          </a:prstGeom>
        </p:spPr>
        <p:txBody>
          <a:bodyPr lIns="0" tIns="0" rIns="0" bIns="0" rtlCol="0" anchor="ctr"/>
          <a:lstStyle/>
          <a:p>
            <a:pPr marL="381000" lvl="1" indent="-381000" algn="l">
              <a:lnSpc>
                <a:spcPct val="124499"/>
              </a:lnSpc>
              <a:buAutoNum type="arabicPeriod"/>
            </a:pPr>
            <a:r>
              <a:rPr lang="en-US" sz="3000" b="0" i="0" u="none" strike="noStrike">
                <a:solidFill>
                  <a:srgbClr val="000000"/>
                </a:solidFill>
                <a:latin typeface="Pretendard Medium"/>
                <a:ea typeface="Pretendard Medium"/>
                <a:cs typeface="Pretendard Medium"/>
              </a:rPr>
              <a:t>Attitudes and Social Comparison</a:t>
            </a:r>
          </a:p>
          <a:p>
            <a:pPr marL="381000" lvl="1" indent="-381000" algn="l">
              <a:lnSpc>
                <a:spcPct val="124499"/>
              </a:lnSpc>
              <a:buAutoNum type="arabicPeriod"/>
            </a:pPr>
            <a:r>
              <a:rPr lang="en-US" sz="3000" b="0" i="0" u="none" strike="noStrike">
                <a:solidFill>
                  <a:srgbClr val="000000"/>
                </a:solidFill>
                <a:latin typeface="Pretendard Medium"/>
                <a:ea typeface="Pretendard Medium"/>
                <a:cs typeface="Pretendard Medium"/>
              </a:rPr>
              <a:t>Person Perception</a:t>
            </a:r>
          </a:p>
          <a:p>
            <a:pPr marL="381000" lvl="1" indent="-381000" algn="l">
              <a:lnSpc>
                <a:spcPct val="124499"/>
              </a:lnSpc>
              <a:buAutoNum type="arabicPeriod"/>
            </a:pPr>
            <a:r>
              <a:rPr lang="en-US" sz="3000" b="0" i="0" u="none" strike="noStrike">
                <a:solidFill>
                  <a:srgbClr val="000000"/>
                </a:solidFill>
                <a:latin typeface="Pretendard Medium"/>
                <a:ea typeface="Pretendard Medium"/>
                <a:cs typeface="Pretendard Medium"/>
              </a:rPr>
              <a:t>Cognitive Dissonance</a:t>
            </a:r>
          </a:p>
          <a:p>
            <a:pPr marL="381000" lvl="1" indent="-381000" algn="l">
              <a:lnSpc>
                <a:spcPct val="124499"/>
              </a:lnSpc>
              <a:buAutoNum type="arabicPeriod"/>
            </a:pPr>
            <a:r>
              <a:rPr lang="en-US" sz="3000" b="0" i="0" u="none" strike="noStrike">
                <a:solidFill>
                  <a:srgbClr val="000000"/>
                </a:solidFill>
                <a:latin typeface="Pretendard Medium"/>
                <a:ea typeface="Pretendard Medium"/>
                <a:cs typeface="Pretendard Medium"/>
              </a:rPr>
              <a:t>etc...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연구 범위 확대:</a:t>
            </a:r>
          </a:p>
          <a:p>
            <a:pPr lvl="0" algn="l">
              <a:lnSpc>
                <a:spcPct val="99600"/>
              </a:lnSpc>
            </a:pPr>
            <a:r>
              <a:rPr lang="en-US" sz="3500" b="0" i="0" u="none" strike="noStrike">
                <a:solidFill>
                  <a:srgbClr val="0063BA"/>
                </a:solidFill>
                <a:latin typeface="Pretendard Bold"/>
                <a:ea typeface="Pretendard Bold"/>
                <a:cs typeface="Pretendard Bold"/>
              </a:rPr>
              <a:t>Attitudes and Social Comparison</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603500"/>
            <a:ext cx="6959600" cy="1054100"/>
          </a:xfrm>
          <a:prstGeom prst="rect">
            <a:avLst/>
          </a:prstGeom>
        </p:spPr>
      </p:pic>
      <p:sp>
        <p:nvSpPr>
          <p:cNvPr id="4" name="TextBox 4"/>
          <p:cNvSpPr txBox="1"/>
          <p:nvPr/>
        </p:nvSpPr>
        <p:spPr>
          <a:xfrm>
            <a:off x="800100" y="2717800"/>
            <a:ext cx="70485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Yale Communication and Attitude Change Program
(예일 의사소통 및 태도변화 프로그램; Hovland)</a:t>
            </a:r>
          </a:p>
        </p:txBody>
      </p:sp>
      <p:sp>
        <p:nvSpPr>
          <p:cNvPr id="5" name="TextBox 5"/>
          <p:cNvSpPr txBox="1"/>
          <p:nvPr/>
        </p:nvSpPr>
        <p:spPr>
          <a:xfrm>
            <a:off x="1117600" y="3835400"/>
            <a:ext cx="6629400" cy="8001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sng" strike="noStrike">
                <a:solidFill>
                  <a:srgbClr val="000000"/>
                </a:solidFill>
                <a:latin typeface="Pretendard Regular"/>
                <a:ea typeface="Pretendard Regular"/>
                <a:cs typeface="Pretendard Regular"/>
              </a:rPr>
              <a:t>Who</a:t>
            </a:r>
            <a:r>
              <a:rPr lang="en-US" sz="2100" b="0" i="0" u="none" strike="noStrike">
                <a:solidFill>
                  <a:srgbClr val="000000"/>
                </a:solidFill>
                <a:latin typeface="Pretendard Regular"/>
                <a:ea typeface="Pretendard Regular"/>
                <a:cs typeface="Pretendard Regular"/>
              </a:rPr>
              <a:t> says </a:t>
            </a:r>
            <a:r>
              <a:rPr lang="en-US" sz="2100" b="0" i="0" u="sng" strike="noStrike">
                <a:solidFill>
                  <a:srgbClr val="000000"/>
                </a:solidFill>
                <a:latin typeface="Pretendard Regular"/>
                <a:ea typeface="Pretendard Regular"/>
                <a:cs typeface="Pretendard Regular"/>
              </a:rPr>
              <a:t>what</a:t>
            </a:r>
            <a:r>
              <a:rPr lang="en-US" sz="2100" b="0" i="0" u="none" strike="noStrike">
                <a:solidFill>
                  <a:srgbClr val="000000"/>
                </a:solidFill>
                <a:latin typeface="Pretendard Regular"/>
                <a:ea typeface="Pretendard Regular"/>
                <a:cs typeface="Pretendard Regular"/>
              </a:rPr>
              <a:t> to </a:t>
            </a:r>
            <a:r>
              <a:rPr lang="en-US" sz="2100" b="0" i="0" u="sng" strike="noStrike">
                <a:solidFill>
                  <a:srgbClr val="000000"/>
                </a:solidFill>
                <a:latin typeface="Pretendard Regular"/>
                <a:ea typeface="Pretendard Regular"/>
                <a:cs typeface="Pretendard Regular"/>
              </a:rPr>
              <a:t>whom</a:t>
            </a:r>
            <a:r>
              <a:rPr lang="en-US" sz="2100" b="0" i="0" u="none" strike="noStrike">
                <a:solidFill>
                  <a:srgbClr val="000000"/>
                </a:solidFill>
                <a:latin typeface="Pretendard Regular"/>
                <a:ea typeface="Pretendard Regular"/>
                <a:cs typeface="Pretendard Regular"/>
              </a:rPr>
              <a:t> and with what effect?</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정보원, 메시지, 수용자의 특성이 태도변화를 예측</a:t>
            </a: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79600" y="7086600"/>
            <a:ext cx="4724400" cy="1054100"/>
          </a:xfrm>
          <a:prstGeom prst="rect">
            <a:avLst/>
          </a:prstGeom>
        </p:spPr>
      </p:pic>
      <p:sp>
        <p:nvSpPr>
          <p:cNvPr id="7" name="TextBox 7"/>
          <p:cNvSpPr txBox="1"/>
          <p:nvPr/>
        </p:nvSpPr>
        <p:spPr>
          <a:xfrm>
            <a:off x="1841500" y="7175500"/>
            <a:ext cx="48133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Social Comparison Theory
(사회비교이론; Festinger, 1954)</a:t>
            </a:r>
          </a:p>
        </p:txBody>
      </p:sp>
      <p:sp>
        <p:nvSpPr>
          <p:cNvPr id="8" name="TextBox 8"/>
          <p:cNvSpPr txBox="1"/>
          <p:nvPr/>
        </p:nvSpPr>
        <p:spPr>
          <a:xfrm>
            <a:off x="927100" y="8420100"/>
            <a:ext cx="6629400" cy="8001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사람들은 유사한 타인과 능력과 의견을 비교하여</a:t>
            </a:r>
          </a:p>
          <a:p>
            <a:pPr marL="266700" lvl="1" algn="ctr">
              <a:lnSpc>
                <a:spcPct val="124499"/>
              </a:lnSpc>
            </a:pPr>
            <a:r>
              <a:rPr lang="en-US" sz="2100" b="0" i="0" u="sng" strike="noStrike">
                <a:solidFill>
                  <a:srgbClr val="000000"/>
                </a:solidFill>
                <a:latin typeface="Pretendard Regular"/>
                <a:ea typeface="Pretendard Regular"/>
                <a:cs typeface="Pretendard Regular"/>
              </a:rPr>
              <a:t>social reality(사회적 현실)</a:t>
            </a:r>
            <a:r>
              <a:rPr lang="en-US" sz="2100" b="0" i="0" u="none" strike="noStrike">
                <a:solidFill>
                  <a:srgbClr val="000000"/>
                </a:solidFill>
                <a:latin typeface="Pretendard Regular"/>
                <a:ea typeface="Pretendard Regular"/>
                <a:cs typeface="Pretendard Regular"/>
              </a:rPr>
              <a:t>와 </a:t>
            </a:r>
            <a:r>
              <a:rPr lang="en-US" sz="2100" b="0" i="0" u="sng" strike="noStrike">
                <a:solidFill>
                  <a:srgbClr val="000000"/>
                </a:solidFill>
                <a:latin typeface="Pretendard Regular"/>
                <a:ea typeface="Pretendard Regular"/>
                <a:cs typeface="Pretendard Regular"/>
              </a:rPr>
              <a:t>자신의 위치</a:t>
            </a:r>
            <a:r>
              <a:rPr lang="en-US" sz="2100" b="0" i="0" u="none" strike="noStrike">
                <a:solidFill>
                  <a:srgbClr val="000000"/>
                </a:solidFill>
                <a:latin typeface="Pretendard Regular"/>
                <a:ea typeface="Pretendard Regular"/>
                <a:cs typeface="Pretendard Regular"/>
              </a:rPr>
              <a:t>를 판단</a:t>
            </a:r>
          </a:p>
        </p:txBody>
      </p:sp>
      <p:sp>
        <p:nvSpPr>
          <p:cNvPr id="9" name="TextBox 9"/>
          <p:cNvSpPr txBox="1"/>
          <p:nvPr/>
        </p:nvSpPr>
        <p:spPr>
          <a:xfrm>
            <a:off x="9283700" y="2603500"/>
            <a:ext cx="8724900" cy="3429000"/>
          </a:xfrm>
          <a:prstGeom prst="rect">
            <a:avLst/>
          </a:prstGeom>
        </p:spPr>
        <p:txBody>
          <a:bodyPr lIns="0" tIns="0" rIns="0" bIns="0" rtlCol="0" anchor="ctr"/>
          <a:lstStyle/>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Who / Source</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신뢰성과 전문성이 높을수록 설득력이 커짐.</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발신자가 매력적이거나 호감이 갈 때 태도 변화가 더 잘 일어남.</a:t>
            </a:r>
          </a:p>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What / Message</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지나친 공포심보다는 적당한 공포감을 주는 메시지가 효과적</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똑똑한 청중에게는 한쪽 주장만 하는 것보다 양쪽 입장을 모두 제시하는 편이 좋음.</a:t>
            </a:r>
          </a:p>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Whom / Audience</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청중의 지능, 연령, 성향에 따라 설득되는 정도가 다름.</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지능이 너무 낮거나 너무 높은 청중보다 중간 수준의 청중이 가장 설득되기 쉬움.</a:t>
            </a:r>
          </a:p>
        </p:txBody>
      </p:sp>
      <p:sp>
        <p:nvSpPr>
          <p:cNvPr id="10" name="TextBox 10"/>
          <p:cNvSpPr txBox="1"/>
          <p:nvPr/>
        </p:nvSpPr>
        <p:spPr>
          <a:xfrm>
            <a:off x="9283700" y="7086600"/>
            <a:ext cx="8724900" cy="2286000"/>
          </a:xfrm>
          <a:prstGeom prst="rect">
            <a:avLst/>
          </a:prstGeom>
        </p:spPr>
        <p:txBody>
          <a:bodyPr lIns="0" tIns="0" rIns="0" bIns="0" rtlCol="0" anchor="ctr"/>
          <a:lstStyle/>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Festinger(1954)</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자신의 능력과 의견을 평가하려는 내적 동기가 존재</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객관적/비사회적 기준이 부재할 때 타인과 비교함(Social Reality 구축).</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비교 대상은 자신과 유사한 타인을 선택함.</a:t>
            </a:r>
          </a:p>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Thorton &amp; Arrowood(1966)</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확장: </a:t>
            </a:r>
            <a:r>
              <a:rPr lang="en-US" sz="2000" b="0" i="0" u="sng" strike="noStrike">
                <a:solidFill>
                  <a:srgbClr val="000000"/>
                </a:solidFill>
                <a:latin typeface="Pretendard Regular"/>
                <a:ea typeface="Pretendard Regular"/>
                <a:cs typeface="Pretendard Regular"/>
              </a:rPr>
              <a:t>상향비교(자기개선 동기) vs 하향비교(자존감 보호 동기)</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800" y="6515100"/>
            <a:ext cx="17284700" cy="38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연구 범위 확대:</a:t>
            </a:r>
          </a:p>
          <a:p>
            <a:pPr lvl="0" algn="l">
              <a:lnSpc>
                <a:spcPct val="99600"/>
              </a:lnSpc>
            </a:pPr>
            <a:r>
              <a:rPr lang="en-US" sz="3500" b="0" i="0" u="none" strike="noStrike">
                <a:solidFill>
                  <a:srgbClr val="0063BA"/>
                </a:solidFill>
                <a:latin typeface="Pretendard Bold"/>
                <a:ea typeface="Pretendard Bold"/>
                <a:cs typeface="Pretendard Bold"/>
              </a:rPr>
              <a:t>Person Perception</a:t>
            </a:r>
          </a:p>
        </p:txBody>
      </p:sp>
      <p:sp>
        <p:nvSpPr>
          <p:cNvPr id="3" name="TextBox 3"/>
          <p:cNvSpPr txBox="1"/>
          <p:nvPr/>
        </p:nvSpPr>
        <p:spPr>
          <a:xfrm>
            <a:off x="546100" y="3543300"/>
            <a:ext cx="7772400" cy="12065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중심 특성(Central trait)이 전체 인상 형성을 규정</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동일한 특성 목록에 warm 또는 cold를 추가하면 전체 인상이 달라짐.</a:t>
            </a:r>
          </a:p>
          <a:p>
            <a:pPr marL="266700" lvl="1" indent="-266700" algn="ctr">
              <a:lnSpc>
                <a:spcPct val="124499"/>
              </a:lnSpc>
              <a:buClr>
                <a:srgbClr val="000000"/>
              </a:buClr>
              <a:buFont typeface="Arial"/>
              <a:buChar char="●"/>
            </a:pPr>
            <a:r>
              <a:rPr lang="en-US" sz="2100" b="0" i="0" u="sng" strike="noStrike">
                <a:solidFill>
                  <a:srgbClr val="000000"/>
                </a:solidFill>
                <a:latin typeface="Pretendard Regular"/>
                <a:ea typeface="Pretendard Regular"/>
                <a:cs typeface="Pretendard Regular"/>
              </a:rPr>
              <a:t>인상형성은 능동적인 조직화 과정</a:t>
            </a:r>
          </a:p>
        </p:txBody>
      </p:sp>
      <p:sp>
        <p:nvSpPr>
          <p:cNvPr id="4" name="TextBox 4"/>
          <p:cNvSpPr txBox="1"/>
          <p:nvPr/>
        </p:nvSpPr>
        <p:spPr>
          <a:xfrm>
            <a:off x="10109200" y="3517900"/>
            <a:ext cx="6629400" cy="12065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Princeton과 Dartmouth 학생들이 동일한 경기를 관람</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각 집단은 상대 학교가 더 거칠게 경기했다고 평가</a:t>
            </a:r>
          </a:p>
          <a:p>
            <a:pPr marL="266700" lvl="1" indent="-266700" algn="ctr">
              <a:lnSpc>
                <a:spcPct val="124499"/>
              </a:lnSpc>
              <a:buClr>
                <a:srgbClr val="000000"/>
              </a:buClr>
              <a:buFont typeface="Arial"/>
              <a:buChar char="●"/>
            </a:pPr>
            <a:r>
              <a:rPr lang="en-US" sz="2100" b="0" i="0" u="sng" strike="noStrike">
                <a:solidFill>
                  <a:srgbClr val="000000"/>
                </a:solidFill>
                <a:latin typeface="Pretendard Regular"/>
                <a:ea typeface="Pretendard Regular"/>
                <a:cs typeface="Pretendard Regular"/>
              </a:rPr>
              <a:t>집단 소속이 동일한 사건에 대한 지각과 기억을 변화</a:t>
            </a:r>
          </a:p>
        </p:txBody>
      </p:sp>
      <p:sp>
        <p:nvSpPr>
          <p:cNvPr id="5" name="TextBox 5"/>
          <p:cNvSpPr txBox="1"/>
          <p:nvPr/>
        </p:nvSpPr>
        <p:spPr>
          <a:xfrm>
            <a:off x="4826000" y="7543800"/>
            <a:ext cx="7632700" cy="1905000"/>
          </a:xfrm>
          <a:prstGeom prst="rect">
            <a:avLst/>
          </a:prstGeom>
        </p:spPr>
        <p:txBody>
          <a:bodyPr lIns="0" tIns="0" rIns="0" bIns="0" rtlCol="0" anchor="ctr"/>
          <a:lstStyle/>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New Look</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지각은 자극의 수동적으로 반응하는 것이 아닌 욕구/가치/기대의 산물</a:t>
            </a:r>
          </a:p>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Cronbach (1955)</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단순 특성 평정의 정확도는 지각자/대상/관계 성분을 혼합함.</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대인지각을 분해해 분석할 필요성을 제기</a:t>
            </a: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 y="5765800"/>
            <a:ext cx="17284700" cy="38100"/>
          </a:xfrm>
          <a:prstGeom prst="rect">
            <a:avLst/>
          </a:prstGeom>
        </p:spPr>
      </p:pic>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39400" y="2603500"/>
            <a:ext cx="5981700" cy="698500"/>
          </a:xfrm>
          <a:prstGeom prst="rect">
            <a:avLst/>
          </a:prstGeom>
        </p:spPr>
      </p:pic>
      <p:sp>
        <p:nvSpPr>
          <p:cNvPr id="8" name="TextBox 8"/>
          <p:cNvSpPr txBox="1"/>
          <p:nvPr/>
        </p:nvSpPr>
        <p:spPr>
          <a:xfrm>
            <a:off x="10464800" y="2743200"/>
            <a:ext cx="5918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They Saw a Game (Hastorf &amp; Cantril, 1954)</a:t>
            </a: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09800" y="2603500"/>
            <a:ext cx="4445000" cy="698500"/>
          </a:xfrm>
          <a:prstGeom prst="rect">
            <a:avLst/>
          </a:prstGeom>
        </p:spPr>
      </p:pic>
      <p:sp>
        <p:nvSpPr>
          <p:cNvPr id="10" name="TextBox 10"/>
          <p:cNvSpPr txBox="1"/>
          <p:nvPr/>
        </p:nvSpPr>
        <p:spPr>
          <a:xfrm>
            <a:off x="2171700" y="2743200"/>
            <a:ext cx="4521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Warm–cold effect (Asch, 1946)</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88100" y="6578600"/>
            <a:ext cx="4445000" cy="698500"/>
          </a:xfrm>
          <a:prstGeom prst="rect">
            <a:avLst/>
          </a:prstGeom>
        </p:spPr>
      </p:pic>
      <p:sp>
        <p:nvSpPr>
          <p:cNvPr id="12" name="TextBox 12"/>
          <p:cNvSpPr txBox="1"/>
          <p:nvPr/>
        </p:nvSpPr>
        <p:spPr>
          <a:xfrm>
            <a:off x="6337300" y="6718300"/>
            <a:ext cx="4521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New Look 접근과 방법론 비판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연구 범위 확대:</a:t>
            </a:r>
          </a:p>
          <a:p>
            <a:pPr lvl="0" algn="l">
              <a:lnSpc>
                <a:spcPct val="99600"/>
              </a:lnSpc>
            </a:pPr>
            <a:r>
              <a:rPr lang="en-US" sz="3500" b="0" i="0" u="none" strike="noStrike">
                <a:solidFill>
                  <a:srgbClr val="0063BA"/>
                </a:solidFill>
                <a:latin typeface="Pretendard Bold"/>
                <a:ea typeface="Pretendard Bold"/>
                <a:cs typeface="Pretendard Bold"/>
              </a:rPr>
              <a:t>Cognitive dissonance</a:t>
            </a:r>
          </a:p>
        </p:txBody>
      </p:sp>
      <p:sp>
        <p:nvSpPr>
          <p:cNvPr id="3" name="TextBox 3"/>
          <p:cNvSpPr txBox="1"/>
          <p:nvPr/>
        </p:nvSpPr>
        <p:spPr>
          <a:xfrm>
            <a:off x="774700" y="4216400"/>
            <a:ext cx="8432800" cy="863600"/>
          </a:xfrm>
          <a:prstGeom prst="rect">
            <a:avLst/>
          </a:prstGeom>
        </p:spPr>
        <p:txBody>
          <a:bodyPr lIns="0" tIns="0" rIns="0" bIns="0" rtlCol="0" anchor="ctr"/>
          <a:lstStyle/>
          <a:p>
            <a:pPr marL="289179" lvl="1" indent="-289179" algn="l">
              <a:lnSpc>
                <a:spcPct val="124499"/>
              </a:lnSpc>
              <a:buClr>
                <a:srgbClr val="000000"/>
              </a:buClr>
              <a:buFont typeface="Arial"/>
              <a:buChar char="●"/>
            </a:pPr>
            <a:r>
              <a:rPr lang="en-US" sz="2277" b="0" i="0" u="none" strike="noStrike">
                <a:solidFill>
                  <a:srgbClr val="000000"/>
                </a:solidFill>
                <a:latin typeface="Pretendard Regular"/>
                <a:ea typeface="Pretendard Regular"/>
                <a:cs typeface="Pretendard Regular"/>
              </a:rPr>
              <a:t>서로 맞지 않는 인지들이 함께 존재할 때 발생하는 심리적 긴장 상태.</a:t>
            </a:r>
          </a:p>
          <a:p>
            <a:pPr marL="289179" lvl="1" indent="-289179" algn="l">
              <a:lnSpc>
                <a:spcPct val="124499"/>
              </a:lnSpc>
              <a:buClr>
                <a:srgbClr val="000000"/>
              </a:buClr>
              <a:buFont typeface="Arial"/>
              <a:buChar char="●"/>
            </a:pPr>
            <a:r>
              <a:rPr lang="en-US" sz="2277" b="0" i="0" u="none" strike="noStrike">
                <a:solidFill>
                  <a:srgbClr val="000000"/>
                </a:solidFill>
                <a:latin typeface="Pretendard Regular"/>
                <a:ea typeface="Pretendard Regular"/>
                <a:cs typeface="Pretendard Regular"/>
              </a:rPr>
              <a:t>인지 간 일관성을 회복하려는 강한 압력을 생성함.</a:t>
            </a:r>
          </a:p>
        </p:txBody>
      </p:sp>
      <p:sp>
        <p:nvSpPr>
          <p:cNvPr id="4" name="TextBox 4"/>
          <p:cNvSpPr txBox="1"/>
          <p:nvPr/>
        </p:nvSpPr>
        <p:spPr>
          <a:xfrm>
            <a:off x="774700" y="5575300"/>
            <a:ext cx="10756900" cy="2070100"/>
          </a:xfrm>
          <a:prstGeom prst="rect">
            <a:avLst/>
          </a:prstGeom>
        </p:spPr>
        <p:txBody>
          <a:bodyPr lIns="0" tIns="0" rIns="0" bIns="0" rtlCol="0" anchor="ctr"/>
          <a:lstStyle/>
          <a:p>
            <a:pPr marL="275463" lvl="1" indent="-275463" algn="l">
              <a:lnSpc>
                <a:spcPct val="124499"/>
              </a:lnSpc>
              <a:buClr>
                <a:srgbClr val="000000"/>
              </a:buClr>
              <a:buFont typeface="Arial"/>
              <a:buChar char="●"/>
            </a:pPr>
            <a:r>
              <a:rPr lang="en-US" sz="2169" b="0" i="0" u="none" strike="noStrike">
                <a:solidFill>
                  <a:srgbClr val="000000"/>
                </a:solidFill>
                <a:latin typeface="Pretendard SemiBold"/>
                <a:ea typeface="Pretendard SemiBold"/>
                <a:cs typeface="Pretendard SemiBold"/>
              </a:rPr>
              <a:t>행동과 태도의 관계 역전</a:t>
            </a:r>
          </a:p>
          <a:p>
            <a:pPr marL="550926" lvl="2" indent="-275463" algn="l">
              <a:lnSpc>
                <a:spcPct val="124499"/>
              </a:lnSpc>
              <a:buClr>
                <a:srgbClr val="000000"/>
              </a:buClr>
              <a:buFont typeface="Arial"/>
              <a:buChar char="○"/>
            </a:pPr>
            <a:r>
              <a:rPr lang="en-US" sz="2169" b="0" i="0" u="none" strike="noStrike">
                <a:solidFill>
                  <a:srgbClr val="000000"/>
                </a:solidFill>
                <a:latin typeface="Pretendard Regular"/>
                <a:ea typeface="Pretendard Regular"/>
                <a:cs typeface="Pretendard Regular"/>
              </a:rPr>
              <a:t>이미 수행한 행동을 취소할 수 없을 때,</a:t>
            </a:r>
          </a:p>
          <a:p>
            <a:pPr marL="550926" lvl="2" indent="-275463" algn="l">
              <a:lnSpc>
                <a:spcPct val="124499"/>
              </a:lnSpc>
              <a:buClr>
                <a:srgbClr val="000000"/>
              </a:buClr>
              <a:buFont typeface="Arial"/>
              <a:buChar char="○"/>
            </a:pPr>
            <a:r>
              <a:rPr lang="en-US" sz="2169" b="0" i="0" u="none" strike="noStrike">
                <a:solidFill>
                  <a:srgbClr val="000000"/>
                </a:solidFill>
                <a:latin typeface="Pretendard Regular"/>
                <a:ea typeface="Pretendard Regular"/>
                <a:cs typeface="Pretendard Regular"/>
              </a:rPr>
              <a:t>사람은 </a:t>
            </a:r>
            <a:r>
              <a:rPr lang="en-US" sz="2169" b="0" i="0" u="sng" strike="noStrike">
                <a:solidFill>
                  <a:srgbClr val="000000"/>
                </a:solidFill>
                <a:latin typeface="Pretendard Regular"/>
                <a:ea typeface="Pretendard Regular"/>
                <a:cs typeface="Pretendard Regular"/>
              </a:rPr>
              <a:t>행동을 정당화하기 위해 태도와 해석을 사후적으로 변경</a:t>
            </a:r>
            <a:r>
              <a:rPr lang="en-US" sz="2169" b="0" i="0" u="none" strike="noStrike">
                <a:solidFill>
                  <a:srgbClr val="000000"/>
                </a:solidFill>
                <a:latin typeface="Pretendard Regular"/>
                <a:ea typeface="Pretendard Regular"/>
                <a:cs typeface="Pretendard Regular"/>
              </a:rPr>
              <a:t>함.</a:t>
            </a:r>
          </a:p>
          <a:p>
            <a:pPr marL="275463" lvl="1" indent="-275463" algn="l">
              <a:lnSpc>
                <a:spcPct val="124499"/>
              </a:lnSpc>
              <a:buClr>
                <a:srgbClr val="000000"/>
              </a:buClr>
              <a:buFont typeface="Arial"/>
              <a:buChar char="●"/>
            </a:pPr>
            <a:r>
              <a:rPr lang="en-US" sz="2169" b="0" i="0" u="none" strike="noStrike">
                <a:solidFill>
                  <a:srgbClr val="000000"/>
                </a:solidFill>
                <a:latin typeface="Pretendard SemiBold"/>
                <a:ea typeface="Pretendard SemiBold"/>
                <a:cs typeface="Pretendard SemiBold"/>
              </a:rPr>
              <a:t>의의</a:t>
            </a:r>
          </a:p>
          <a:p>
            <a:pPr marL="550926" lvl="2" indent="-275463" algn="l">
              <a:lnSpc>
                <a:spcPct val="124499"/>
              </a:lnSpc>
              <a:buClr>
                <a:srgbClr val="000000"/>
              </a:buClr>
              <a:buFont typeface="Arial"/>
              <a:buChar char="○"/>
            </a:pPr>
            <a:r>
              <a:rPr lang="en-US" sz="2169" b="0" i="0" u="none" strike="noStrike">
                <a:solidFill>
                  <a:srgbClr val="000000"/>
                </a:solidFill>
                <a:latin typeface="Pretendard Regular"/>
                <a:ea typeface="Pretendard Regular"/>
                <a:cs typeface="Pretendard Regular"/>
              </a:rPr>
              <a:t>개인을 수동적인 사회적 영향의 대상이 아니라, 자신의 인지 체계를 조절하는 행위자로 제시</a:t>
            </a: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4700" y="3251200"/>
            <a:ext cx="4813300" cy="749300"/>
          </a:xfrm>
          <a:prstGeom prst="rect">
            <a:avLst/>
          </a:prstGeom>
        </p:spPr>
      </p:pic>
      <p:sp>
        <p:nvSpPr>
          <p:cNvPr id="6" name="TextBox 6"/>
          <p:cNvSpPr txBox="1"/>
          <p:nvPr/>
        </p:nvSpPr>
        <p:spPr>
          <a:xfrm>
            <a:off x="723900" y="3403600"/>
            <a:ext cx="4902200" cy="444500"/>
          </a:xfrm>
          <a:prstGeom prst="rect">
            <a:avLst/>
          </a:prstGeom>
        </p:spPr>
        <p:txBody>
          <a:bodyPr lIns="0" tIns="0" rIns="0" bIns="0" rtlCol="0" anchor="ctr"/>
          <a:lstStyle/>
          <a:p>
            <a:pPr lvl="0" algn="ctr">
              <a:lnSpc>
                <a:spcPct val="124499"/>
              </a:lnSpc>
            </a:pPr>
            <a:r>
              <a:rPr lang="en-US" sz="2386" b="0" i="0" u="none" strike="noStrike">
                <a:solidFill>
                  <a:srgbClr val="000000"/>
                </a:solidFill>
                <a:latin typeface="Pretendard SemiBold"/>
                <a:ea typeface="Pretendard SemiBold"/>
                <a:cs typeface="Pretendard SemiBold"/>
              </a:rPr>
              <a:t>인지부조화 (Festinger, 1957)</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280900" y="4064000"/>
            <a:ext cx="4864100" cy="698500"/>
          </a:xfrm>
          <a:prstGeom prst="rect">
            <a:avLst/>
          </a:prstGeom>
        </p:spPr>
      </p:pic>
      <p:sp>
        <p:nvSpPr>
          <p:cNvPr id="8" name="TextBox 8"/>
          <p:cNvSpPr txBox="1"/>
          <p:nvPr/>
        </p:nvSpPr>
        <p:spPr>
          <a:xfrm>
            <a:off x="12230100" y="4203700"/>
            <a:ext cx="49530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self-perception theory (자기지각이론)</a:t>
            </a: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68200" y="4978400"/>
            <a:ext cx="4648200" cy="698500"/>
          </a:xfrm>
          <a:prstGeom prst="rect">
            <a:avLst/>
          </a:prstGeom>
        </p:spPr>
      </p:pic>
      <p:sp>
        <p:nvSpPr>
          <p:cNvPr id="10" name="TextBox 10"/>
          <p:cNvSpPr txBox="1"/>
          <p:nvPr/>
        </p:nvSpPr>
        <p:spPr>
          <a:xfrm>
            <a:off x="12230100" y="5118100"/>
            <a:ext cx="47371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reactance theory (심리적 반발이론)</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280900" y="5905500"/>
            <a:ext cx="4864100" cy="698500"/>
          </a:xfrm>
          <a:prstGeom prst="rect">
            <a:avLst/>
          </a:prstGeom>
        </p:spPr>
      </p:pic>
      <p:sp>
        <p:nvSpPr>
          <p:cNvPr id="12" name="TextBox 12"/>
          <p:cNvSpPr txBox="1"/>
          <p:nvPr/>
        </p:nvSpPr>
        <p:spPr>
          <a:xfrm>
            <a:off x="12230100" y="6045200"/>
            <a:ext cx="49530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self-affirmation theory (자기긍정이론)</a:t>
            </a: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268200" y="6819900"/>
            <a:ext cx="5549900" cy="698500"/>
          </a:xfrm>
          <a:prstGeom prst="rect">
            <a:avLst/>
          </a:prstGeom>
        </p:spPr>
      </p:pic>
      <p:sp>
        <p:nvSpPr>
          <p:cNvPr id="14" name="TextBox 14"/>
          <p:cNvSpPr txBox="1"/>
          <p:nvPr/>
        </p:nvSpPr>
        <p:spPr>
          <a:xfrm>
            <a:off x="12230100" y="6959600"/>
            <a:ext cx="56261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cognitive evaluation theory (인지평가이론)</a:t>
            </a: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0" y="5562600"/>
            <a:ext cx="86360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연구 범위 확대:</a:t>
            </a:r>
          </a:p>
          <a:p>
            <a:pPr lvl="0" algn="l">
              <a:lnSpc>
                <a:spcPct val="99600"/>
              </a:lnSpc>
            </a:pPr>
            <a:r>
              <a:rPr lang="en-US" sz="3500" b="0" i="0" u="none" strike="noStrike">
                <a:solidFill>
                  <a:srgbClr val="0063BA"/>
                </a:solidFill>
                <a:latin typeface="Pretendard Bold"/>
                <a:ea typeface="Pretendard Bold"/>
                <a:cs typeface="Pretendard Bold"/>
              </a:rPr>
              <a:t>Two-Factor Theory of Emotion</a:t>
            </a:r>
          </a:p>
        </p:txBody>
      </p:sp>
      <p:sp>
        <p:nvSpPr>
          <p:cNvPr id="3" name="TextBox 3"/>
          <p:cNvSpPr txBox="1"/>
          <p:nvPr/>
        </p:nvSpPr>
        <p:spPr>
          <a:xfrm>
            <a:off x="114300" y="3898900"/>
            <a:ext cx="8267700" cy="8001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정서를 생리적 각성과 그 각성에 대한 상황적 해석의 상호작용으로 봄.</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이에 따라 각성의 귀인과 오귀인이 중요한 연구주제가 됨.</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1800" y="2667000"/>
            <a:ext cx="4724400" cy="1054100"/>
          </a:xfrm>
          <a:prstGeom prst="rect">
            <a:avLst/>
          </a:prstGeom>
        </p:spPr>
      </p:pic>
      <p:sp>
        <p:nvSpPr>
          <p:cNvPr id="5" name="TextBox 5"/>
          <p:cNvSpPr txBox="1"/>
          <p:nvPr/>
        </p:nvSpPr>
        <p:spPr>
          <a:xfrm>
            <a:off x="1651000" y="2755900"/>
            <a:ext cx="48133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Two-factor theory of emotion</a:t>
            </a:r>
          </a:p>
          <a:p>
            <a:pPr lvl="0" algn="ctr">
              <a:lnSpc>
                <a:spcPct val="124499"/>
              </a:lnSpc>
            </a:pPr>
            <a:r>
              <a:rPr lang="en-US" sz="2199" b="0" i="0" u="none" strike="noStrike">
                <a:solidFill>
                  <a:srgbClr val="000000"/>
                </a:solidFill>
                <a:latin typeface="Pretendard SemiBold"/>
                <a:ea typeface="Pretendard SemiBold"/>
                <a:cs typeface="Pretendard SemiBold"/>
              </a:rPr>
              <a:t>(정서 이요인 이론)</a:t>
            </a:r>
          </a:p>
        </p:txBody>
      </p:sp>
      <p:graphicFrame>
        <p:nvGraphicFramePr>
          <p:cNvPr id="6" name="Table 6"/>
          <p:cNvGraphicFramePr>
            <a:graphicFrameLocks noGrp="1"/>
          </p:cNvGraphicFramePr>
          <p:nvPr/>
        </p:nvGraphicFramePr>
        <p:xfrm>
          <a:off x="8788400" y="2959100"/>
          <a:ext cx="9280585" cy="4444027"/>
        </p:xfrm>
        <a:graphic>
          <a:graphicData uri="http://schemas.openxmlformats.org/drawingml/2006/table">
            <a:tbl>
              <a:tblPr/>
              <a:tblGrid>
                <a:gridCol w="1300197">
                  <a:extLst>
                    <a:ext uri="{9D8B030D-6E8A-4147-A177-3AD203B41FA5}">
                      <a16:colId xmlns:a16="http://schemas.microsoft.com/office/drawing/2014/main" val="20000"/>
                    </a:ext>
                  </a:extLst>
                </a:gridCol>
                <a:gridCol w="7980388">
                  <a:extLst>
                    <a:ext uri="{9D8B030D-6E8A-4147-A177-3AD203B41FA5}">
                      <a16:colId xmlns:a16="http://schemas.microsoft.com/office/drawing/2014/main" val="20001"/>
                    </a:ext>
                  </a:extLst>
                </a:gridCol>
              </a:tblGrid>
              <a:tr h="893433">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연구문제</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생리적 각성의 원인이 모호할 때 사람은 상황 단서를 이용해 자신의 정서를 해석하는가?</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8130">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표본</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University of Minnesota 남자 심리학 수강생 184명</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11993">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생리적 조작</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비타민제 “Suproxin”이라고 설명하고 실제로는 epinephrine 또는 placebo를 주사</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4873">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정보 조작</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각성 증상을 정확히 알려줌, 설명하지 않음, 또는 잘못된 증상을 알려줌</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6313">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상황 단서</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실험협조자가 euphoria (행복감) 또는 anger (분노) 행동을 보임</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9285">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종속변인</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799" b="0" i="0" u="none" strike="noStrike">
                          <a:solidFill>
                            <a:srgbClr val="000000"/>
                          </a:solidFill>
                          <a:latin typeface="Pretendard Regular"/>
                          <a:ea typeface="Pretendard Regular"/>
                          <a:cs typeface="Pretendard Regular"/>
                        </a:rPr>
                        <a:t>관찰된 행동과 자기보고 정서</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Box 7"/>
          <p:cNvSpPr txBox="1"/>
          <p:nvPr/>
        </p:nvSpPr>
        <p:spPr>
          <a:xfrm>
            <a:off x="8788400" y="2590800"/>
            <a:ext cx="3416300" cy="406400"/>
          </a:xfrm>
          <a:prstGeom prst="rect">
            <a:avLst/>
          </a:prstGeom>
        </p:spPr>
        <p:txBody>
          <a:bodyPr lIns="0" tIns="0" rIns="0" bIns="0" rtlCol="0" anchor="ctr"/>
          <a:lstStyle/>
          <a:p>
            <a:pPr lvl="0" algn="l">
              <a:lnSpc>
                <a:spcPct val="124499"/>
              </a:lnSpc>
            </a:pPr>
            <a:r>
              <a:rPr lang="en-US" sz="2100" b="0" i="0" u="none" strike="noStrike">
                <a:solidFill>
                  <a:srgbClr val="000000"/>
                </a:solidFill>
                <a:latin typeface="Pretendard Regular"/>
                <a:ea typeface="Pretendard Regular"/>
                <a:cs typeface="Pretendard Regular"/>
              </a:rPr>
              <a:t>Schachter &amp; Singer (1962)</a:t>
            </a:r>
          </a:p>
        </p:txBody>
      </p:sp>
      <p:pic>
        <p:nvPicPr>
          <p:cNvPr id="8" name="Picture 8"/>
          <p:cNvPicPr>
            <a:picLocks noChangeAspect="1"/>
          </p:cNvPicPr>
          <p:nvPr/>
        </p:nvPicPr>
        <p:blipFill>
          <a:blip r:embed="rId4"/>
          <a:stretch>
            <a:fillRect/>
          </a:stretch>
        </p:blipFill>
        <p:spPr>
          <a:xfrm>
            <a:off x="622300" y="5207000"/>
            <a:ext cx="7264400" cy="2235200"/>
          </a:xfrm>
          <a:prstGeom prst="rect">
            <a:avLst/>
          </a:prstGeom>
        </p:spPr>
      </p:pic>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13423900" y="7899400"/>
            <a:ext cx="863600" cy="457200"/>
          </a:xfrm>
          <a:prstGeom prst="rect">
            <a:avLst/>
          </a:prstGeom>
        </p:spPr>
      </p:pic>
      <p:sp>
        <p:nvSpPr>
          <p:cNvPr id="10" name="TextBox 10"/>
          <p:cNvSpPr txBox="1"/>
          <p:nvPr/>
        </p:nvSpPr>
        <p:spPr>
          <a:xfrm>
            <a:off x="9207500" y="8877300"/>
            <a:ext cx="9042400" cy="723900"/>
          </a:xfrm>
          <a:prstGeom prst="rect">
            <a:avLst/>
          </a:prstGeom>
        </p:spPr>
        <p:txBody>
          <a:bodyPr lIns="0" tIns="0" rIns="0" bIns="0" rtlCol="0" anchor="ctr"/>
          <a:lstStyle/>
          <a:p>
            <a:pPr marL="241173" lvl="1" indent="-241173" algn="ctr">
              <a:lnSpc>
                <a:spcPct val="124499"/>
              </a:lnSpc>
              <a:buClr>
                <a:srgbClr val="000000"/>
              </a:buClr>
              <a:buFont typeface="Arial"/>
              <a:buChar char="●"/>
            </a:pPr>
            <a:r>
              <a:rPr lang="en-US" sz="1899" b="0" i="0" u="none" strike="noStrike">
                <a:solidFill>
                  <a:srgbClr val="000000"/>
                </a:solidFill>
                <a:latin typeface="Pretendard Regular"/>
                <a:ea typeface="Pretendard Regular"/>
                <a:cs typeface="Pretendard Regular"/>
              </a:rPr>
              <a:t>적절한 생리적 설명이 없는 참가자는 협조자의 정서적 행동에 더 영향을 받음.</a:t>
            </a:r>
          </a:p>
          <a:p>
            <a:pPr marL="241173" lvl="1" indent="-241173" algn="ctr">
              <a:lnSpc>
                <a:spcPct val="124499"/>
              </a:lnSpc>
              <a:buClr>
                <a:srgbClr val="000000"/>
              </a:buClr>
              <a:buFont typeface="Arial"/>
              <a:buChar char="●"/>
            </a:pPr>
            <a:r>
              <a:rPr lang="en-US" sz="1899" b="0" i="0" u="none" strike="noStrike">
                <a:solidFill>
                  <a:srgbClr val="000000"/>
                </a:solidFill>
                <a:latin typeface="Pretendard Regular"/>
                <a:ea typeface="Pretendard Regular"/>
                <a:cs typeface="Pretendard Regular"/>
              </a:rPr>
              <a:t>하지만 모든 조건과 측정치가 이론을 지지한 것은 아님.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연구 범위 확대:</a:t>
            </a:r>
          </a:p>
          <a:p>
            <a:pPr lvl="0" algn="l">
              <a:lnSpc>
                <a:spcPct val="99600"/>
              </a:lnSpc>
            </a:pPr>
            <a:r>
              <a:rPr lang="en-US" sz="3500" b="0" i="0" u="none" strike="noStrike">
                <a:solidFill>
                  <a:srgbClr val="0063BA"/>
                </a:solidFill>
                <a:latin typeface="Pretendard Bold"/>
                <a:ea typeface="Pretendard Bold"/>
                <a:cs typeface="Pretendard Bold"/>
              </a:rPr>
              <a:t>The Emergence of Relationship Science</a:t>
            </a:r>
          </a:p>
        </p:txBody>
      </p:sp>
      <p:sp>
        <p:nvSpPr>
          <p:cNvPr id="3" name="TextBox 3"/>
          <p:cNvSpPr txBox="1"/>
          <p:nvPr/>
        </p:nvSpPr>
        <p:spPr>
          <a:xfrm>
            <a:off x="825500" y="4140200"/>
            <a:ext cx="12166600" cy="2006600"/>
          </a:xfrm>
          <a:prstGeom prst="rect">
            <a:avLst/>
          </a:prstGeom>
        </p:spPr>
        <p:txBody>
          <a:bodyPr lIns="0" tIns="0" rIns="0" bIns="0" rtlCol="0" anchor="ctr"/>
          <a:lstStyle/>
          <a:p>
            <a:pPr marL="337058" lvl="1" indent="-337058" algn="l">
              <a:lnSpc>
                <a:spcPct val="124499"/>
              </a:lnSpc>
              <a:buClr>
                <a:srgbClr val="000000"/>
              </a:buClr>
              <a:buFont typeface="Arial"/>
              <a:buChar char="●"/>
            </a:pPr>
            <a:r>
              <a:rPr lang="en-US" sz="2654" b="0" i="0" u="none" strike="noStrike">
                <a:solidFill>
                  <a:srgbClr val="000000"/>
                </a:solidFill>
                <a:latin typeface="Pretendard Medium"/>
                <a:ea typeface="Pretendard Medium"/>
                <a:cs typeface="Pretendard Medium"/>
              </a:rPr>
              <a:t>Similarity–attraction effect (유사성–매력 효과)</a:t>
            </a:r>
          </a:p>
          <a:p>
            <a:pPr marL="337058" lvl="1" indent="-337058" algn="l">
              <a:lnSpc>
                <a:spcPct val="124499"/>
              </a:lnSpc>
              <a:buClr>
                <a:srgbClr val="000000"/>
              </a:buClr>
              <a:buFont typeface="Arial"/>
              <a:buChar char="●"/>
            </a:pPr>
            <a:r>
              <a:rPr lang="en-US" sz="2654" b="0" i="0" u="none" strike="noStrike">
                <a:solidFill>
                  <a:srgbClr val="000000"/>
                </a:solidFill>
                <a:latin typeface="Pretendard Medium"/>
                <a:ea typeface="Pretendard Medium"/>
                <a:cs typeface="Pretendard Medium"/>
              </a:rPr>
              <a:t>Social exchange theory (사회교환이론)</a:t>
            </a:r>
          </a:p>
          <a:p>
            <a:pPr marL="337058" lvl="1" indent="-337058" algn="l">
              <a:lnSpc>
                <a:spcPct val="124499"/>
              </a:lnSpc>
              <a:buClr>
                <a:srgbClr val="000000"/>
              </a:buClr>
              <a:buFont typeface="Arial"/>
              <a:buChar char="●"/>
            </a:pPr>
            <a:r>
              <a:rPr lang="en-US" sz="2654" b="0" i="0" u="none" strike="noStrike">
                <a:solidFill>
                  <a:srgbClr val="000000"/>
                </a:solidFill>
                <a:latin typeface="Pretendard Medium"/>
                <a:ea typeface="Pretendard Medium"/>
                <a:cs typeface="Pretendard Medium"/>
              </a:rPr>
              <a:t>Comparison level (비교수준)과 comparison level for alternatives (대안 비교수준)</a:t>
            </a:r>
          </a:p>
          <a:p>
            <a:pPr marL="337058" lvl="1" indent="-337058" algn="l">
              <a:lnSpc>
                <a:spcPct val="124499"/>
              </a:lnSpc>
              <a:buClr>
                <a:srgbClr val="000000"/>
              </a:buClr>
              <a:buFont typeface="Arial"/>
              <a:buChar char="●"/>
            </a:pPr>
            <a:r>
              <a:rPr lang="en-US" sz="2654" b="0" i="0" u="none" strike="noStrike">
                <a:solidFill>
                  <a:srgbClr val="000000"/>
                </a:solidFill>
                <a:latin typeface="Pretendard Medium"/>
                <a:ea typeface="Pretendard Medium"/>
                <a:cs typeface="Pretendard Medium"/>
              </a:rPr>
              <a:t>Social penetration (사회적 침투): 관계가 발전할수록 자기개방의 폭과 깊이가 확대됨.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연구 범위 확대:</a:t>
            </a:r>
          </a:p>
          <a:p>
            <a:pPr lvl="0" algn="l">
              <a:lnSpc>
                <a:spcPct val="99600"/>
              </a:lnSpc>
            </a:pPr>
            <a:r>
              <a:rPr lang="en-US" sz="3500" b="0" i="0" u="none" strike="noStrike">
                <a:solidFill>
                  <a:srgbClr val="0063BA"/>
                </a:solidFill>
                <a:latin typeface="Pretendard Bold"/>
                <a:ea typeface="Pretendard Bold"/>
                <a:cs typeface="Pretendard Bold"/>
              </a:rPr>
              <a:t>The Person–Situation Debate</a:t>
            </a:r>
          </a:p>
        </p:txBody>
      </p:sp>
      <p:sp>
        <p:nvSpPr>
          <p:cNvPr id="3" name="TextBox 3"/>
          <p:cNvSpPr txBox="1"/>
          <p:nvPr/>
        </p:nvSpPr>
        <p:spPr>
          <a:xfrm>
            <a:off x="685800" y="2489200"/>
            <a:ext cx="10007600" cy="1600200"/>
          </a:xfrm>
          <a:prstGeom prst="rect">
            <a:avLst/>
          </a:prstGeom>
        </p:spPr>
        <p:txBody>
          <a:bodyPr lIns="0" tIns="0" rIns="0" bIns="0" rtlCol="0" anchor="ctr"/>
          <a:lstStyle/>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특성의 일관성에 대한 의문</a:t>
            </a:r>
          </a:p>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동일한 사람이 서로 다른 상황에서 얼마나 일관되게 행동하는가?</a:t>
            </a:r>
          </a:p>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Mischel은 단일한 성격특성이 여러 상황의 행동을 강하게 예측한다는 가정을 비판함.</a:t>
            </a:r>
          </a:p>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이후 논의는 개인과 상황 중 하나를 선택하기보다 상호작용론으로 이동</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660900" y="4826000"/>
            <a:ext cx="863600" cy="457200"/>
          </a:xfrm>
          <a:prstGeom prst="rect">
            <a:avLst/>
          </a:prstGeom>
        </p:spPr>
      </p:pic>
      <p:sp>
        <p:nvSpPr>
          <p:cNvPr id="5" name="TextBox 5"/>
          <p:cNvSpPr txBox="1"/>
          <p:nvPr/>
        </p:nvSpPr>
        <p:spPr>
          <a:xfrm>
            <a:off x="10388600" y="7175500"/>
            <a:ext cx="7823200" cy="1816100"/>
          </a:xfrm>
          <a:prstGeom prst="rect">
            <a:avLst/>
          </a:prstGeom>
        </p:spPr>
        <p:txBody>
          <a:bodyPr lIns="0" tIns="0" rIns="0" bIns="0" rtlCol="0" anchor="ctr"/>
          <a:lstStyle/>
          <a:p>
            <a:pPr marL="241173" lvl="1" indent="-241173" algn="l">
              <a:lnSpc>
                <a:spcPct val="124499"/>
              </a:lnSpc>
              <a:buClr>
                <a:srgbClr val="000000"/>
              </a:buClr>
              <a:buFont typeface="Arial"/>
              <a:buChar char="●"/>
            </a:pPr>
            <a:r>
              <a:rPr lang="en-US" sz="1899" b="0" i="0" u="none" strike="noStrike">
                <a:solidFill>
                  <a:srgbClr val="000000"/>
                </a:solidFill>
                <a:latin typeface="Pretendard Regular"/>
                <a:ea typeface="Pretendard Regular"/>
                <a:cs typeface="Pretendard Regular"/>
              </a:rPr>
              <a:t>평균 신고시간은 대략 52초, 93초, 166초로 집단이 커질수록 길어짐.</a:t>
            </a:r>
          </a:p>
          <a:p>
            <a:pPr marL="241173" lvl="1" indent="-241173" algn="l">
              <a:lnSpc>
                <a:spcPct val="124499"/>
              </a:lnSpc>
              <a:buClr>
                <a:srgbClr val="000000"/>
              </a:buClr>
              <a:buFont typeface="Arial"/>
              <a:buChar char="●"/>
            </a:pPr>
            <a:r>
              <a:rPr lang="en-US" sz="1899" b="0" i="0" u="none" strike="noStrike">
                <a:solidFill>
                  <a:srgbClr val="000000"/>
                </a:solidFill>
                <a:latin typeface="Pretendard Regular"/>
                <a:ea typeface="Pretendard Regular"/>
                <a:cs typeface="Pretendard Regular"/>
              </a:rPr>
              <a:t>이를 </a:t>
            </a:r>
            <a:r>
              <a:rPr lang="en-US" sz="1899" b="0" i="0" u="sng" strike="noStrike">
                <a:solidFill>
                  <a:srgbClr val="000000"/>
                </a:solidFill>
                <a:latin typeface="Pretendard Regular"/>
                <a:ea typeface="Pretendard Regular"/>
                <a:cs typeface="Pretendard Regular"/>
              </a:rPr>
              <a:t>diffusion of responsibility (책임의 분산)</a:t>
            </a:r>
            <a:r>
              <a:rPr lang="en-US" sz="1899" b="0" i="0" u="none" strike="noStrike">
                <a:solidFill>
                  <a:srgbClr val="000000"/>
                </a:solidFill>
                <a:latin typeface="Pretendard Regular"/>
                <a:ea typeface="Pretendard Regular"/>
                <a:cs typeface="Pretendard Regular"/>
              </a:rPr>
              <a:t>로 설명</a:t>
            </a:r>
          </a:p>
          <a:p>
            <a:pPr marL="241173" lvl="1" indent="-241173" algn="l">
              <a:lnSpc>
                <a:spcPct val="124499"/>
              </a:lnSpc>
              <a:buClr>
                <a:srgbClr val="000000"/>
              </a:buClr>
              <a:buFont typeface="Arial"/>
              <a:buChar char="●"/>
            </a:pPr>
            <a:r>
              <a:rPr lang="en-US" sz="1899" b="0" i="0" u="sng" strike="noStrike">
                <a:solidFill>
                  <a:srgbClr val="000000"/>
                </a:solidFill>
                <a:latin typeface="Pretendard Regular"/>
                <a:ea typeface="Pretendard Regular"/>
                <a:cs typeface="Pretendard Regular"/>
              </a:rPr>
              <a:t>성격검사보다 참가자가 지각한 목격자 수가 도움 행동을 더 잘 예측</a:t>
            </a:r>
          </a:p>
          <a:p>
            <a:pPr marL="241173" lvl="1" indent="-241173" algn="l">
              <a:lnSpc>
                <a:spcPct val="124499"/>
              </a:lnSpc>
              <a:buClr>
                <a:srgbClr val="000000"/>
              </a:buClr>
              <a:buFont typeface="Arial"/>
              <a:buChar char="●"/>
            </a:pPr>
            <a:r>
              <a:rPr lang="en-US" sz="1899" b="0" i="0" u="none" strike="noStrike">
                <a:solidFill>
                  <a:srgbClr val="000000"/>
                </a:solidFill>
                <a:latin typeface="Pretendard Regular"/>
                <a:ea typeface="Pretendard Regular"/>
                <a:cs typeface="Pretendard Regular"/>
              </a:rPr>
              <a:t>후속 메타분석에서도 방관자 효과는 확인되었지만,</a:t>
            </a:r>
          </a:p>
          <a:p>
            <a:pPr marL="241173" lvl="1" algn="l">
              <a:lnSpc>
                <a:spcPct val="124499"/>
              </a:lnSpc>
            </a:pPr>
            <a:r>
              <a:rPr lang="en-US" sz="1899" b="0" i="0" u="sng" strike="noStrike">
                <a:solidFill>
                  <a:srgbClr val="000000"/>
                </a:solidFill>
                <a:latin typeface="Pretendard Regular"/>
                <a:ea typeface="Pretendard Regular"/>
                <a:cs typeface="Pretendard Regular"/>
              </a:rPr>
              <a:t>위험이 명확하거나 가해자가 존재하는 상황에서는 효과가 약해짐.</a:t>
            </a:r>
          </a:p>
        </p:txBody>
      </p:sp>
      <p:sp>
        <p:nvSpPr>
          <p:cNvPr id="6" name="TextBox 6"/>
          <p:cNvSpPr txBox="1"/>
          <p:nvPr/>
        </p:nvSpPr>
        <p:spPr>
          <a:xfrm>
            <a:off x="800100" y="6019800"/>
            <a:ext cx="6172200" cy="406400"/>
          </a:xfrm>
          <a:prstGeom prst="rect">
            <a:avLst/>
          </a:prstGeom>
        </p:spPr>
        <p:txBody>
          <a:bodyPr lIns="0" tIns="0" rIns="0" bIns="0" rtlCol="0" anchor="ctr"/>
          <a:lstStyle/>
          <a:p>
            <a:pPr lvl="0" algn="l">
              <a:lnSpc>
                <a:spcPct val="124499"/>
              </a:lnSpc>
            </a:pPr>
            <a:r>
              <a:rPr lang="en-US" sz="2100" b="0" i="0" u="none" strike="noStrike">
                <a:solidFill>
                  <a:srgbClr val="000000"/>
                </a:solidFill>
                <a:latin typeface="Pretendard Regular"/>
                <a:ea typeface="Pretendard Regular"/>
                <a:cs typeface="Pretendard Regular"/>
              </a:rPr>
              <a:t>Darley &amp; Latané (1968)의 방관자 개입 실험</a:t>
            </a:r>
          </a:p>
        </p:txBody>
      </p:sp>
      <p:graphicFrame>
        <p:nvGraphicFramePr>
          <p:cNvPr id="7" name="Table 7"/>
          <p:cNvGraphicFramePr>
            <a:graphicFrameLocks noGrp="1"/>
          </p:cNvGraphicFramePr>
          <p:nvPr/>
        </p:nvGraphicFramePr>
        <p:xfrm>
          <a:off x="787400" y="6515100"/>
          <a:ext cx="8563747" cy="2801621"/>
        </p:xfrm>
        <a:graphic>
          <a:graphicData uri="http://schemas.openxmlformats.org/drawingml/2006/table">
            <a:tbl>
              <a:tblPr/>
              <a:tblGrid>
                <a:gridCol w="1472042">
                  <a:extLst>
                    <a:ext uri="{9D8B030D-6E8A-4147-A177-3AD203B41FA5}">
                      <a16:colId xmlns:a16="http://schemas.microsoft.com/office/drawing/2014/main" val="20000"/>
                    </a:ext>
                  </a:extLst>
                </a:gridCol>
                <a:gridCol w="7091705">
                  <a:extLst>
                    <a:ext uri="{9D8B030D-6E8A-4147-A177-3AD203B41FA5}">
                      <a16:colId xmlns:a16="http://schemas.microsoft.com/office/drawing/2014/main" val="20001"/>
                    </a:ext>
                  </a:extLst>
                </a:gridCol>
              </a:tblGrid>
              <a:tr h="416560">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표본</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NYU 심리학 수강생 72명: 여성 59명, 남성 13명</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8821">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위장 설명</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700" b="0" i="0" u="none" strike="noStrike">
                          <a:solidFill>
                            <a:srgbClr val="000000"/>
                          </a:solidFill>
                          <a:latin typeface="Pretendard Regular"/>
                          <a:ea typeface="Pretendard Regular"/>
                          <a:cs typeface="Pretendard Regular"/>
                        </a:rPr>
                        <a:t>대학생활의 어려움을 인터폰으로 토론한다고 설명</a:t>
                      </a:r>
                      <a:endParaRPr lang="en-US" sz="1100"/>
                    </a:p>
                    <a:p>
                      <a:pPr lvl="0" algn="ctr">
                        <a:lnSpc>
                          <a:spcPct val="116199"/>
                        </a:lnSpc>
                      </a:pPr>
                      <a:r>
                        <a:rPr lang="en-US" sz="1700" b="0" i="0" u="none" strike="noStrike">
                          <a:solidFill>
                            <a:srgbClr val="000000"/>
                          </a:solidFill>
                          <a:latin typeface="Pretendard Regular"/>
                          <a:ea typeface="Pretendard Regular"/>
                          <a:cs typeface="Pretendard Regular"/>
                        </a:rPr>
                        <a:t>참가자들은 서로 다른 칸막이 방에 배치</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6560">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응급상황</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녹음된 참가자 중 한 명이 발작을 일으키는 것처럼 말하고 도움을 요청함.</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6560">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독립변인</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참가자가 알고 있는 토론집단 크기: 2명, 3명 또는 6명</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6560">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종속변인</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도움을 요청했는지 여부와 실험조교에게 알리기까지 걸린 시간</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6560">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결과</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699" b="0" i="0" u="none" strike="noStrike">
                          <a:solidFill>
                            <a:srgbClr val="000000"/>
                          </a:solidFill>
                          <a:latin typeface="Pretendard Regular"/>
                          <a:ea typeface="Pretendard Regular"/>
                          <a:cs typeface="Pretendard Regular"/>
                        </a:rPr>
                        <a:t>발작이 끝날 때까지 신고한 비율: 2인 조건 85%, 3인 조건 62%, 6인 조건 31%</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736600"/>
            <a:ext cx="11442700" cy="609600"/>
          </a:xfrm>
          <a:prstGeom prst="rect">
            <a:avLst/>
          </a:prstGeom>
        </p:spPr>
        <p:txBody>
          <a:bodyPr lIns="0" tIns="41910" rIns="0" bIns="0" rtlCol="0" anchor="t"/>
          <a:lstStyle/>
          <a:p>
            <a:pPr lvl="0" algn="l">
              <a:lnSpc>
                <a:spcPct val="99600"/>
              </a:lnSpc>
            </a:pPr>
            <a:r>
              <a:rPr lang="en-US" sz="3300" b="0" i="0" u="none" strike="noStrike">
                <a:solidFill>
                  <a:srgbClr val="0063BA"/>
                </a:solidFill>
                <a:latin typeface="Pretendard Bold"/>
                <a:ea typeface="Pretendard Bold"/>
                <a:cs typeface="Pretendard Bold"/>
              </a:rPr>
              <a:t>사회심리학과 사회변화</a:t>
            </a:r>
          </a:p>
        </p:txBody>
      </p:sp>
      <p:sp>
        <p:nvSpPr>
          <p:cNvPr id="3" name="TextBox 3"/>
          <p:cNvSpPr txBox="1"/>
          <p:nvPr/>
        </p:nvSpPr>
        <p:spPr>
          <a:xfrm>
            <a:off x="685800" y="2387600"/>
            <a:ext cx="12496800" cy="3200400"/>
          </a:xfrm>
          <a:prstGeom prst="rect">
            <a:avLst/>
          </a:prstGeom>
        </p:spPr>
        <p:txBody>
          <a:bodyPr lIns="0" tIns="0" rIns="0" bIns="0" rtlCol="0" anchor="ctr"/>
          <a:lstStyle/>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Civil Rights Movement (민권운동)</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편견·차별·인종관계 연구를 확대시킴.</a:t>
            </a:r>
          </a:p>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Brown v. Board of  Education에서 Kenneth Clark의 doll studies</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사회심리학 지식이 교육·법·정책 영역과 연결됨.</a:t>
            </a:r>
          </a:p>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Jisaw Classroom (Aronson et al.,)</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1971년 학교 통합 과정의 갈등을 줄이기 위해 상호의존적 학습구조를 설계, 이론이 현장 개입으로 이동한 사례</a:t>
            </a:r>
          </a:p>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Antiwar Movement와 권위 비판</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복종, 공격, 갈등 연구가 당대 정치적 문제와 맞물림.</a:t>
            </a:r>
          </a:p>
        </p:txBody>
      </p:sp>
      <p:pic>
        <p:nvPicPr>
          <p:cNvPr id="4" name="Picture 4"/>
          <p:cNvPicPr>
            <a:picLocks noChangeAspect="1"/>
          </p:cNvPicPr>
          <p:nvPr/>
        </p:nvPicPr>
        <p:blipFill>
          <a:blip r:embed="rId3"/>
          <a:stretch>
            <a:fillRect/>
          </a:stretch>
        </p:blipFill>
        <p:spPr>
          <a:xfrm>
            <a:off x="1968500" y="5880100"/>
            <a:ext cx="6248400" cy="4178300"/>
          </a:xfrm>
          <a:prstGeom prst="rect">
            <a:avLst/>
          </a:prstGeom>
        </p:spPr>
      </p:pic>
      <p:pic>
        <p:nvPicPr>
          <p:cNvPr id="5" name="Picture 5"/>
          <p:cNvPicPr>
            <a:picLocks noChangeAspect="1"/>
          </p:cNvPicPr>
          <p:nvPr/>
        </p:nvPicPr>
        <p:blipFill>
          <a:blip r:embed="rId4"/>
          <a:stretch>
            <a:fillRect/>
          </a:stretch>
        </p:blipFill>
        <p:spPr>
          <a:xfrm>
            <a:off x="10642600" y="5880100"/>
            <a:ext cx="5270500" cy="4178300"/>
          </a:xfrm>
          <a:prstGeom prst="rect">
            <a:avLst/>
          </a:prstGeom>
        </p:spPr>
      </p:pic>
      <p:sp>
        <p:nvSpPr>
          <p:cNvPr id="6" name="TextBox 6"/>
          <p:cNvSpPr txBox="1"/>
          <p:nvPr/>
        </p:nvSpPr>
        <p:spPr>
          <a:xfrm>
            <a:off x="673100" y="1651000"/>
            <a:ext cx="11620500" cy="520700"/>
          </a:xfrm>
          <a:prstGeom prst="rect">
            <a:avLst/>
          </a:prstGeom>
        </p:spPr>
        <p:txBody>
          <a:bodyPr lIns="0" tIns="0" rIns="0" bIns="0" rtlCol="0" anchor="ctr"/>
          <a:lstStyle/>
          <a:p>
            <a:pPr marL="347218" lvl="1" indent="-347218" algn="l">
              <a:lnSpc>
                <a:spcPct val="124499"/>
              </a:lnSpc>
              <a:buClr>
                <a:srgbClr val="000000"/>
              </a:buClr>
              <a:buFont typeface="Arial"/>
              <a:buChar char="●"/>
            </a:pPr>
            <a:r>
              <a:rPr lang="en-US" sz="2734" b="0" i="0" u="none" strike="noStrike">
                <a:solidFill>
                  <a:srgbClr val="000000"/>
                </a:solidFill>
                <a:latin typeface="Pretendard Regular"/>
                <a:ea typeface="Pretendard Regular"/>
                <a:cs typeface="Pretendard Regular"/>
              </a:rPr>
              <a:t>사회심리학의 연구주제는 사회가 무엇을 문제로 인식하는지와 분리될 수 없음!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96900"/>
            <a:ext cx="11531600" cy="749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제도적인 성장과 연구자 구성의 변화</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90100" y="2324100"/>
            <a:ext cx="5829300" cy="1739900"/>
          </a:xfrm>
          <a:prstGeom prst="rect">
            <a:avLst/>
          </a:prstGeom>
          <a:effectLst>
            <a:outerShdw blurRad="69723" dist="160899" dir="2700000">
              <a:srgbClr val="000000">
                <a:alpha val="50000"/>
              </a:srgbClr>
            </a:outerShdw>
          </a:effectLst>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15500" y="2311400"/>
            <a:ext cx="5778500" cy="38100"/>
          </a:xfrm>
          <a:prstGeom prst="rect">
            <a:avLst/>
          </a:prstGeom>
        </p:spPr>
      </p:pic>
      <p:sp>
        <p:nvSpPr>
          <p:cNvPr id="5" name="TextBox 5"/>
          <p:cNvSpPr txBox="1"/>
          <p:nvPr/>
        </p:nvSpPr>
        <p:spPr>
          <a:xfrm>
            <a:off x="9969500" y="3111500"/>
            <a:ext cx="54229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APA Divison 8 (1947)</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SESP (1965) </a:t>
            </a:r>
          </a:p>
        </p:txBody>
      </p:sp>
      <p:sp>
        <p:nvSpPr>
          <p:cNvPr id="6" name="TextBox 6"/>
          <p:cNvSpPr txBox="1"/>
          <p:nvPr/>
        </p:nvSpPr>
        <p:spPr>
          <a:xfrm>
            <a:off x="9969500" y="2552700"/>
            <a:ext cx="3733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Professional Infrastucture</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9300" y="2324100"/>
            <a:ext cx="5829300" cy="1739900"/>
          </a:xfrm>
          <a:prstGeom prst="rect">
            <a:avLst/>
          </a:prstGeom>
          <a:effectLst>
            <a:outerShdw blurRad="69723" dist="160899" dir="2700000">
              <a:srgbClr val="000000">
                <a:alpha val="50000"/>
              </a:srgbClr>
            </a:outerShdw>
          </a:effectLst>
        </p:spPr>
      </p:pic>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44700" y="2311400"/>
            <a:ext cx="5778500" cy="38100"/>
          </a:xfrm>
          <a:prstGeom prst="rect">
            <a:avLst/>
          </a:prstGeom>
        </p:spPr>
      </p:pic>
      <p:sp>
        <p:nvSpPr>
          <p:cNvPr id="9" name="TextBox 9"/>
          <p:cNvSpPr txBox="1"/>
          <p:nvPr/>
        </p:nvSpPr>
        <p:spPr>
          <a:xfrm>
            <a:off x="2298700" y="3111500"/>
            <a:ext cx="54229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JPSP와 JESP 창간 (1965)</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연구량, 전문 영역, 출판 경로가 분화</a:t>
            </a:r>
          </a:p>
        </p:txBody>
      </p:sp>
      <p:sp>
        <p:nvSpPr>
          <p:cNvPr id="10" name="TextBox 10"/>
          <p:cNvSpPr txBox="1"/>
          <p:nvPr/>
        </p:nvSpPr>
        <p:spPr>
          <a:xfrm>
            <a:off x="2286000" y="2552700"/>
            <a:ext cx="50927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Journals</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19300" y="5156200"/>
            <a:ext cx="5943600" cy="1727200"/>
          </a:xfrm>
          <a:prstGeom prst="rect">
            <a:avLst/>
          </a:prstGeom>
          <a:effectLst>
            <a:outerShdw blurRad="68961" dist="159141" dir="2700000">
              <a:srgbClr val="000000">
                <a:alpha val="50000"/>
              </a:srgbClr>
            </a:outerShdw>
          </a:effectLst>
        </p:spPr>
      </p:pic>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700" y="5130800"/>
            <a:ext cx="5930900" cy="38100"/>
          </a:xfrm>
          <a:prstGeom prst="rect">
            <a:avLst/>
          </a:prstGeom>
        </p:spPr>
      </p:pic>
      <p:sp>
        <p:nvSpPr>
          <p:cNvPr id="13" name="TextBox 13"/>
          <p:cNvSpPr txBox="1"/>
          <p:nvPr/>
        </p:nvSpPr>
        <p:spPr>
          <a:xfrm>
            <a:off x="2286000" y="5943600"/>
            <a:ext cx="54864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SPSP 출범 (1974)</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사회 및 성격심리학의 공동 기반을 제도화</a:t>
            </a:r>
          </a:p>
        </p:txBody>
      </p:sp>
      <p:sp>
        <p:nvSpPr>
          <p:cNvPr id="14" name="TextBox 14"/>
          <p:cNvSpPr txBox="1"/>
          <p:nvPr/>
        </p:nvSpPr>
        <p:spPr>
          <a:xfrm>
            <a:off x="2286000" y="5346700"/>
            <a:ext cx="5638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SPSP and Field Identity</a:t>
            </a: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02800" y="5168900"/>
            <a:ext cx="5943600" cy="1727200"/>
          </a:xfrm>
          <a:prstGeom prst="rect">
            <a:avLst/>
          </a:prstGeom>
          <a:effectLst>
            <a:outerShdw blurRad="68961" dist="159141" dir="2700000">
              <a:srgbClr val="000000">
                <a:alpha val="50000"/>
              </a:srgbClr>
            </a:outerShdw>
          </a:effectLst>
        </p:spPr>
      </p:pic>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599999">
            <a:off x="9715500" y="5156200"/>
            <a:ext cx="5905500" cy="38100"/>
          </a:xfrm>
          <a:prstGeom prst="rect">
            <a:avLst/>
          </a:prstGeom>
        </p:spPr>
      </p:pic>
      <p:sp>
        <p:nvSpPr>
          <p:cNvPr id="17" name="TextBox 17"/>
          <p:cNvSpPr txBox="1"/>
          <p:nvPr/>
        </p:nvSpPr>
        <p:spPr>
          <a:xfrm>
            <a:off x="9969500" y="5930900"/>
            <a:ext cx="56007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1967~ 1992 여성 연구자의 유입이 학계를 변화</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비백인 관점의 제도적인 반영은 더 느리게 진행</a:t>
            </a:r>
          </a:p>
        </p:txBody>
      </p:sp>
      <p:sp>
        <p:nvSpPr>
          <p:cNvPr id="18" name="TextBox 18"/>
          <p:cNvSpPr txBox="1"/>
          <p:nvPr/>
        </p:nvSpPr>
        <p:spPr>
          <a:xfrm>
            <a:off x="9969500" y="5359400"/>
            <a:ext cx="3733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Personnel (인적 구성)</a:t>
            </a:r>
          </a:p>
        </p:txBody>
      </p:sp>
      <p:sp>
        <p:nvSpPr>
          <p:cNvPr id="19" name="TextBox 19"/>
          <p:cNvSpPr txBox="1"/>
          <p:nvPr/>
        </p:nvSpPr>
        <p:spPr>
          <a:xfrm>
            <a:off x="1473200" y="1727200"/>
            <a:ext cx="3238500" cy="4826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학문 제도의 형성</a:t>
            </a:r>
          </a:p>
        </p:txBody>
      </p:sp>
      <p:sp>
        <p:nvSpPr>
          <p:cNvPr id="20" name="TextBox 20"/>
          <p:cNvSpPr txBox="1"/>
          <p:nvPr/>
        </p:nvSpPr>
        <p:spPr>
          <a:xfrm>
            <a:off x="1473200" y="4597400"/>
            <a:ext cx="3238500" cy="4826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학계 구성 변화</a:t>
            </a:r>
          </a:p>
        </p:txBody>
      </p:sp>
      <p:sp>
        <p:nvSpPr>
          <p:cNvPr id="21" name="TextBox 21"/>
          <p:cNvSpPr txBox="1"/>
          <p:nvPr/>
        </p:nvSpPr>
        <p:spPr>
          <a:xfrm>
            <a:off x="6083300" y="9093200"/>
            <a:ext cx="6299200" cy="876300"/>
          </a:xfrm>
          <a:prstGeom prst="rect">
            <a:avLst/>
          </a:prstGeom>
        </p:spPr>
        <p:txBody>
          <a:bodyPr lIns="0" tIns="0" rIns="0" bIns="0" rtlCol="0" anchor="ctr"/>
          <a:lstStyle/>
          <a:p>
            <a:pPr marL="304800" lvl="1" indent="-304800" algn="l">
              <a:lnSpc>
                <a:spcPct val="116199"/>
              </a:lnSpc>
              <a:buClr>
                <a:srgbClr val="000000"/>
              </a:buClr>
              <a:buFont typeface="Arial"/>
              <a:buChar char="●"/>
            </a:pPr>
            <a:r>
              <a:rPr lang="en-US" sz="2400" b="0" i="0" u="none" strike="noStrike">
                <a:solidFill>
                  <a:srgbClr val="000000"/>
                </a:solidFill>
                <a:latin typeface="Pretendard Regular"/>
                <a:ea typeface="Pretendard Regular"/>
                <a:cs typeface="Pretendard Regular"/>
              </a:rPr>
              <a:t>성장 속도 둔화와 연구비 경쟁 심화</a:t>
            </a:r>
          </a:p>
          <a:p>
            <a:pPr marL="304800" lvl="1" indent="-304800" algn="l">
              <a:lnSpc>
                <a:spcPct val="116199"/>
              </a:lnSpc>
              <a:buClr>
                <a:srgbClr val="000000"/>
              </a:buClr>
              <a:buFont typeface="Arial"/>
              <a:buChar char="●"/>
            </a:pPr>
            <a:r>
              <a:rPr lang="en-US" sz="2400" b="0" i="0" u="none" strike="noStrike">
                <a:solidFill>
                  <a:srgbClr val="000000"/>
                </a:solidFill>
                <a:latin typeface="Pretendard Regular"/>
                <a:ea typeface="Pretendard Regular"/>
                <a:cs typeface="Pretendard Regular"/>
              </a:rPr>
              <a:t>방법 / 이론 / 윤리에 대한 비판에 대한 조건 형성</a:t>
            </a:r>
          </a:p>
        </p:txBody>
      </p:sp>
      <p:sp>
        <p:nvSpPr>
          <p:cNvPr id="22" name="TextBox 22"/>
          <p:cNvSpPr txBox="1"/>
          <p:nvPr/>
        </p:nvSpPr>
        <p:spPr>
          <a:xfrm>
            <a:off x="6299200" y="8331200"/>
            <a:ext cx="5346700" cy="482600"/>
          </a:xfrm>
          <a:prstGeom prst="rect">
            <a:avLst/>
          </a:prstGeom>
        </p:spPr>
        <p:txBody>
          <a:bodyPr lIns="0" tIns="0" rIns="0" bIns="0" rtlCol="0" anchor="ctr"/>
          <a:lstStyle/>
          <a:p>
            <a:pPr lvl="0" algn="ctr">
              <a:lnSpc>
                <a:spcPct val="116199"/>
              </a:lnSpc>
            </a:pPr>
            <a:r>
              <a:rPr lang="en-US" sz="2600" b="0" i="0" u="none" strike="noStrike">
                <a:solidFill>
                  <a:srgbClr val="000000"/>
                </a:solidFill>
                <a:latin typeface="Pretendard SemiBold"/>
                <a:ea typeface="Pretendard SemiBold"/>
                <a:cs typeface="Pretendard SemiBold"/>
              </a:rPr>
              <a:t>팽창 단계에서 성숙 단계로</a:t>
            </a: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5399999">
            <a:off x="8547100" y="7391400"/>
            <a:ext cx="863600" cy="457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736600"/>
            <a:ext cx="11442700" cy="609600"/>
          </a:xfrm>
          <a:prstGeom prst="rect">
            <a:avLst/>
          </a:prstGeom>
        </p:spPr>
        <p:txBody>
          <a:bodyPr lIns="0" tIns="41910" rIns="0" bIns="0" rtlCol="0" anchor="t"/>
          <a:lstStyle/>
          <a:p>
            <a:pPr lvl="0" algn="l">
              <a:lnSpc>
                <a:spcPct val="99600"/>
              </a:lnSpc>
            </a:pPr>
            <a:r>
              <a:rPr lang="en-US" sz="3300" b="0" i="0" u="none" strike="noStrike">
                <a:solidFill>
                  <a:srgbClr val="0063BA"/>
                </a:solidFill>
                <a:latin typeface="Pretendard Bold"/>
                <a:ea typeface="Pretendard Bold"/>
                <a:cs typeface="Pretendard Bold"/>
              </a:rPr>
              <a:t>1970년대 첫 번째 신뢰의 위기와 사회인지의 부상</a:t>
            </a:r>
          </a:p>
        </p:txBody>
      </p:sp>
      <p:sp>
        <p:nvSpPr>
          <p:cNvPr id="3" name="TextBox 3"/>
          <p:cNvSpPr txBox="1"/>
          <p:nvPr/>
        </p:nvSpPr>
        <p:spPr>
          <a:xfrm>
            <a:off x="1422400" y="2501900"/>
            <a:ext cx="8216900" cy="4089400"/>
          </a:xfrm>
          <a:prstGeom prst="rect">
            <a:avLst/>
          </a:prstGeom>
        </p:spPr>
        <p:txBody>
          <a:bodyPr lIns="0" tIns="0" rIns="0" bIns="0" rtlCol="0" anchor="ctr"/>
          <a:lstStyle/>
          <a:p>
            <a:pPr marL="288925" lvl="1" indent="-288925" algn="l">
              <a:lnSpc>
                <a:spcPct val="124499"/>
              </a:lnSpc>
              <a:buClr>
                <a:srgbClr val="000000"/>
              </a:buClr>
              <a:buFont typeface="Arial"/>
              <a:buChar char="●"/>
            </a:pPr>
            <a:r>
              <a:rPr lang="en-US" sz="2275" b="0" i="0" u="none" strike="noStrike">
                <a:solidFill>
                  <a:srgbClr val="000000"/>
                </a:solidFill>
                <a:latin typeface="Pretendard SemiBold"/>
                <a:ea typeface="Pretendard SemiBold"/>
                <a:cs typeface="Pretendard SemiBold"/>
              </a:rPr>
              <a:t>윤리적 비판</a:t>
            </a:r>
          </a:p>
          <a:p>
            <a:pPr marL="577850" lvl="2" indent="-288925" algn="l">
              <a:lnSpc>
                <a:spcPct val="124499"/>
              </a:lnSpc>
              <a:buClr>
                <a:srgbClr val="000000"/>
              </a:buClr>
              <a:buFont typeface="Arial"/>
              <a:buChar char="○"/>
            </a:pPr>
            <a:r>
              <a:rPr lang="en-US" sz="2275" b="0" i="0" u="none" strike="noStrike">
                <a:solidFill>
                  <a:srgbClr val="000000"/>
                </a:solidFill>
                <a:latin typeface="Pretendard Regular"/>
                <a:ea typeface="Pretendard Regular"/>
                <a:cs typeface="Pretendard Regular"/>
              </a:rPr>
              <a:t>강한 기만과 참가자 스트레스</a:t>
            </a:r>
          </a:p>
          <a:p>
            <a:pPr lvl="0" algn="l">
              <a:lnSpc>
                <a:spcPct val="124499"/>
              </a:lnSpc>
            </a:pPr>
            <a:endParaRPr lang="en-US" sz="2275" b="0" i="0" u="none" strike="noStrike">
              <a:solidFill>
                <a:srgbClr val="000000"/>
              </a:solidFill>
              <a:latin typeface="Pretendard Regular"/>
              <a:ea typeface="Pretendard Regular"/>
              <a:cs typeface="Pretendard Regular"/>
            </a:endParaRPr>
          </a:p>
          <a:p>
            <a:pPr marL="288925" lvl="1" indent="-288925" algn="l">
              <a:lnSpc>
                <a:spcPct val="124499"/>
              </a:lnSpc>
              <a:buClr>
                <a:srgbClr val="000000"/>
              </a:buClr>
              <a:buFont typeface="Arial"/>
              <a:buChar char="●"/>
            </a:pPr>
            <a:r>
              <a:rPr lang="en-US" sz="2275" b="0" i="0" u="none" strike="noStrike">
                <a:solidFill>
                  <a:srgbClr val="000000"/>
                </a:solidFill>
                <a:latin typeface="Pretendard SemiBold"/>
                <a:ea typeface="Pretendard SemiBold"/>
                <a:cs typeface="Pretendard SemiBold"/>
              </a:rPr>
              <a:t>생태학적 타당도</a:t>
            </a:r>
          </a:p>
          <a:p>
            <a:pPr marL="577850" lvl="2" indent="-288925" algn="l">
              <a:lnSpc>
                <a:spcPct val="124499"/>
              </a:lnSpc>
              <a:buClr>
                <a:srgbClr val="000000"/>
              </a:buClr>
              <a:buFont typeface="Arial"/>
              <a:buChar char="○"/>
            </a:pPr>
            <a:r>
              <a:rPr lang="en-US" sz="2275" b="0" i="0" u="none" strike="noStrike">
                <a:solidFill>
                  <a:srgbClr val="000000"/>
                </a:solidFill>
                <a:latin typeface="Pretendard Regular"/>
                <a:ea typeface="Pretendard Regular"/>
                <a:cs typeface="Pretendard Regular"/>
              </a:rPr>
              <a:t>실험실 행동이 현실에서도 나타나는가?</a:t>
            </a:r>
          </a:p>
          <a:p>
            <a:pPr lvl="0" algn="l">
              <a:lnSpc>
                <a:spcPct val="124499"/>
              </a:lnSpc>
            </a:pPr>
            <a:endParaRPr lang="en-US" sz="2275" b="0" i="0" u="none" strike="noStrike">
              <a:solidFill>
                <a:srgbClr val="000000"/>
              </a:solidFill>
              <a:latin typeface="Pretendard Regular"/>
              <a:ea typeface="Pretendard Regular"/>
              <a:cs typeface="Pretendard Regular"/>
            </a:endParaRPr>
          </a:p>
          <a:p>
            <a:pPr marL="288925" lvl="1" indent="-288925" algn="l">
              <a:lnSpc>
                <a:spcPct val="124499"/>
              </a:lnSpc>
              <a:buClr>
                <a:srgbClr val="000000"/>
              </a:buClr>
              <a:buFont typeface="Arial"/>
              <a:buChar char="●"/>
            </a:pPr>
            <a:r>
              <a:rPr lang="en-US" sz="2275" b="0" i="0" u="none" strike="noStrike">
                <a:solidFill>
                  <a:srgbClr val="000000"/>
                </a:solidFill>
                <a:latin typeface="Pretendard SemiBold"/>
                <a:ea typeface="Pretendard SemiBold"/>
                <a:cs typeface="Pretendard SemiBold"/>
              </a:rPr>
              <a:t>역사적 의존성</a:t>
            </a:r>
          </a:p>
          <a:p>
            <a:pPr marL="577850" lvl="2" indent="-288925" algn="l">
              <a:lnSpc>
                <a:spcPct val="124499"/>
              </a:lnSpc>
              <a:buClr>
                <a:srgbClr val="000000"/>
              </a:buClr>
              <a:buFont typeface="Arial"/>
              <a:buChar char="○"/>
            </a:pPr>
            <a:r>
              <a:rPr lang="en-US" sz="2275" b="0" i="0" u="none" strike="noStrike">
                <a:solidFill>
                  <a:srgbClr val="000000"/>
                </a:solidFill>
                <a:latin typeface="Pretendard Regular"/>
                <a:ea typeface="Pretendard Regular"/>
                <a:cs typeface="Pretendard Regular"/>
              </a:rPr>
              <a:t>연구결과가 시대와 문화에 따라 달라질 수 있는가?</a:t>
            </a:r>
          </a:p>
          <a:p>
            <a:pPr lvl="0" algn="l">
              <a:lnSpc>
                <a:spcPct val="124499"/>
              </a:lnSpc>
            </a:pPr>
            <a:endParaRPr lang="en-US" sz="2275" b="0" i="0" u="none" strike="noStrike">
              <a:solidFill>
                <a:srgbClr val="000000"/>
              </a:solidFill>
              <a:latin typeface="Pretendard Regular"/>
              <a:ea typeface="Pretendard Regular"/>
              <a:cs typeface="Pretendard Regular"/>
            </a:endParaRPr>
          </a:p>
          <a:p>
            <a:pPr marL="288925" lvl="1" indent="-288925" algn="l">
              <a:lnSpc>
                <a:spcPct val="124499"/>
              </a:lnSpc>
              <a:buClr>
                <a:srgbClr val="000000"/>
              </a:buClr>
              <a:buFont typeface="Arial"/>
              <a:buChar char="●"/>
            </a:pPr>
            <a:r>
              <a:rPr lang="en-US" sz="2275" b="0" i="0" u="none" strike="noStrike">
                <a:solidFill>
                  <a:srgbClr val="000000"/>
                </a:solidFill>
                <a:latin typeface="Pretendard SemiBold"/>
                <a:ea typeface="Pretendard SemiBold"/>
                <a:cs typeface="Pretendard SemiBold"/>
              </a:rPr>
              <a:t>Experimenter effects (실험자 효과)와 참가자의 가설 추측 문제</a:t>
            </a:r>
          </a:p>
          <a:p>
            <a:pPr lvl="0" algn="l">
              <a:lnSpc>
                <a:spcPct val="124499"/>
              </a:lnSpc>
            </a:pPr>
            <a:endParaRPr lang="en-US" sz="2275" b="0" i="0" u="none" strike="noStrike">
              <a:solidFill>
                <a:srgbClr val="000000"/>
              </a:solidFill>
              <a:latin typeface="Pretendard SemiBold"/>
              <a:ea typeface="Pretendard SemiBold"/>
              <a:cs typeface="Pretendard SemiBold"/>
            </a:endParaRPr>
          </a:p>
          <a:p>
            <a:pPr marL="288925" lvl="1" indent="-288925" algn="l">
              <a:lnSpc>
                <a:spcPct val="124499"/>
              </a:lnSpc>
              <a:buClr>
                <a:srgbClr val="000000"/>
              </a:buClr>
              <a:buFont typeface="Arial"/>
              <a:buChar char="●"/>
            </a:pPr>
            <a:r>
              <a:rPr lang="en-US" sz="2275" b="0" i="0" u="none" strike="noStrike">
                <a:solidFill>
                  <a:srgbClr val="000000"/>
                </a:solidFill>
                <a:latin typeface="Pretendard SemiBold"/>
                <a:ea typeface="Pretendard SemiBold"/>
                <a:cs typeface="Pretendard SemiBold"/>
              </a:rPr>
              <a:t>단일 변수와 단방향 인과관계에 의존하는 실험 방식</a:t>
            </a:r>
          </a:p>
        </p:txBody>
      </p:sp>
      <p:sp>
        <p:nvSpPr>
          <p:cNvPr id="4" name="TextBox 4"/>
          <p:cNvSpPr txBox="1"/>
          <p:nvPr/>
        </p:nvSpPr>
        <p:spPr>
          <a:xfrm>
            <a:off x="863600" y="1981200"/>
            <a:ext cx="4711700" cy="508000"/>
          </a:xfrm>
          <a:prstGeom prst="rect">
            <a:avLst/>
          </a:prstGeom>
        </p:spPr>
        <p:txBody>
          <a:bodyPr lIns="0" tIns="0" rIns="0" bIns="0" rtlCol="0" anchor="ctr"/>
          <a:lstStyle/>
          <a:p>
            <a:pPr lvl="0" algn="l">
              <a:lnSpc>
                <a:spcPct val="124499"/>
              </a:lnSpc>
            </a:pPr>
            <a:r>
              <a:rPr lang="en-US" sz="2703" b="0" i="0" u="none" strike="noStrike">
                <a:solidFill>
                  <a:srgbClr val="000000"/>
                </a:solidFill>
                <a:latin typeface="Pretendard SemiBold"/>
                <a:ea typeface="Pretendard SemiBold"/>
                <a:cs typeface="Pretendard SemiBold"/>
              </a:rPr>
              <a:t>Gergen &amp; Mcguire의 비판</a:t>
            </a:r>
          </a:p>
        </p:txBody>
      </p:sp>
      <p:sp>
        <p:nvSpPr>
          <p:cNvPr id="5" name="TextBox 5"/>
          <p:cNvSpPr txBox="1"/>
          <p:nvPr/>
        </p:nvSpPr>
        <p:spPr>
          <a:xfrm>
            <a:off x="10388600" y="5092700"/>
            <a:ext cx="2717800" cy="508000"/>
          </a:xfrm>
          <a:prstGeom prst="rect">
            <a:avLst/>
          </a:prstGeom>
        </p:spPr>
        <p:txBody>
          <a:bodyPr lIns="0" tIns="0" rIns="0" bIns="0" rtlCol="0" anchor="ctr"/>
          <a:lstStyle/>
          <a:p>
            <a:pPr lvl="0" algn="l">
              <a:lnSpc>
                <a:spcPct val="124499"/>
              </a:lnSpc>
            </a:pPr>
            <a:r>
              <a:rPr lang="en-US" sz="2703" b="0" i="0" u="none" strike="noStrike">
                <a:solidFill>
                  <a:srgbClr val="000000"/>
                </a:solidFill>
                <a:latin typeface="Pretendard SemiBold"/>
                <a:ea typeface="Pretendard SemiBold"/>
                <a:cs typeface="Pretendard SemiBold"/>
              </a:rPr>
              <a:t>Mcguire</a:t>
            </a:r>
          </a:p>
        </p:txBody>
      </p:sp>
      <p:sp>
        <p:nvSpPr>
          <p:cNvPr id="6" name="TextBox 6"/>
          <p:cNvSpPr txBox="1"/>
          <p:nvPr/>
        </p:nvSpPr>
        <p:spPr>
          <a:xfrm>
            <a:off x="10388600" y="5715000"/>
            <a:ext cx="7112000" cy="863600"/>
          </a:xfrm>
          <a:prstGeom prst="rect">
            <a:avLst/>
          </a:prstGeom>
        </p:spPr>
        <p:txBody>
          <a:bodyPr lIns="0" tIns="0" rIns="0" bIns="0" rtlCol="0" anchor="ctr"/>
          <a:lstStyle/>
          <a:p>
            <a:pPr marL="288925" lvl="1" indent="-288925" algn="l">
              <a:lnSpc>
                <a:spcPct val="124499"/>
              </a:lnSpc>
              <a:buClr>
                <a:srgbClr val="000000"/>
              </a:buClr>
              <a:buFont typeface="Arial"/>
              <a:buChar char="●"/>
            </a:pPr>
            <a:r>
              <a:rPr lang="en-US" sz="2275" b="0" i="0" u="none" strike="noStrike">
                <a:solidFill>
                  <a:srgbClr val="000000"/>
                </a:solidFill>
                <a:latin typeface="Pretendard Regular"/>
                <a:ea typeface="Pretendard Regular"/>
                <a:cs typeface="Pretendard Regular"/>
              </a:rPr>
              <a:t>다중적이고 양방향적인 인과성</a:t>
            </a:r>
          </a:p>
          <a:p>
            <a:pPr marL="288925" lvl="1" indent="-288925" algn="l">
              <a:lnSpc>
                <a:spcPct val="124499"/>
              </a:lnSpc>
              <a:buClr>
                <a:srgbClr val="000000"/>
              </a:buClr>
              <a:buFont typeface="Arial"/>
              <a:buChar char="●"/>
            </a:pPr>
            <a:r>
              <a:rPr lang="en-US" sz="2275" b="0" i="0" u="none" strike="noStrike">
                <a:solidFill>
                  <a:srgbClr val="000000"/>
                </a:solidFill>
                <a:latin typeface="Pretendard Regular"/>
                <a:ea typeface="Pretendard Regular"/>
                <a:cs typeface="Pretendard Regular"/>
              </a:rPr>
              <a:t>사회적·인지적 변수들이 이루는 복잡한 체계로 진행해야</a:t>
            </a:r>
          </a:p>
        </p:txBody>
      </p:sp>
      <p:sp>
        <p:nvSpPr>
          <p:cNvPr id="7" name="TextBox 7"/>
          <p:cNvSpPr txBox="1"/>
          <p:nvPr/>
        </p:nvSpPr>
        <p:spPr>
          <a:xfrm>
            <a:off x="10388600" y="2971800"/>
            <a:ext cx="2717800" cy="508000"/>
          </a:xfrm>
          <a:prstGeom prst="rect">
            <a:avLst/>
          </a:prstGeom>
        </p:spPr>
        <p:txBody>
          <a:bodyPr lIns="0" tIns="0" rIns="0" bIns="0" rtlCol="0" anchor="ctr"/>
          <a:lstStyle/>
          <a:p>
            <a:pPr lvl="0" algn="l">
              <a:lnSpc>
                <a:spcPct val="124499"/>
              </a:lnSpc>
            </a:pPr>
            <a:r>
              <a:rPr lang="en-US" sz="2703" b="0" i="0" u="none" strike="noStrike">
                <a:solidFill>
                  <a:srgbClr val="000000"/>
                </a:solidFill>
                <a:latin typeface="Pretendard SemiBold"/>
                <a:ea typeface="Pretendard SemiBold"/>
                <a:cs typeface="Pretendard SemiBold"/>
              </a:rPr>
              <a:t>Gergen</a:t>
            </a:r>
          </a:p>
        </p:txBody>
      </p:sp>
      <p:sp>
        <p:nvSpPr>
          <p:cNvPr id="8" name="TextBox 8"/>
          <p:cNvSpPr txBox="1"/>
          <p:nvPr/>
        </p:nvSpPr>
        <p:spPr>
          <a:xfrm>
            <a:off x="10388600" y="3606800"/>
            <a:ext cx="7112000" cy="431800"/>
          </a:xfrm>
          <a:prstGeom prst="rect">
            <a:avLst/>
          </a:prstGeom>
        </p:spPr>
        <p:txBody>
          <a:bodyPr lIns="0" tIns="0" rIns="0" bIns="0" rtlCol="0" anchor="ctr"/>
          <a:lstStyle/>
          <a:p>
            <a:pPr marL="288925" lvl="1" indent="-288925" algn="l">
              <a:lnSpc>
                <a:spcPct val="124499"/>
              </a:lnSpc>
              <a:buClr>
                <a:srgbClr val="000000"/>
              </a:buClr>
              <a:buFont typeface="Arial"/>
              <a:buChar char="●"/>
            </a:pPr>
            <a:r>
              <a:rPr lang="en-US" sz="2275" b="0" i="0" u="none" strike="noStrike">
                <a:solidFill>
                  <a:srgbClr val="000000"/>
                </a:solidFill>
                <a:latin typeface="Pretendard Regular"/>
                <a:ea typeface="Pretendard Regular"/>
                <a:cs typeface="Pretendard Regular"/>
              </a:rPr>
              <a:t>기존 패러다임 자체가 근본적으로 문제</a:t>
            </a:r>
          </a:p>
        </p:txBody>
      </p:sp>
      <p:sp>
        <p:nvSpPr>
          <p:cNvPr id="9" name="TextBox 9"/>
          <p:cNvSpPr txBox="1"/>
          <p:nvPr/>
        </p:nvSpPr>
        <p:spPr>
          <a:xfrm>
            <a:off x="6946900" y="8864600"/>
            <a:ext cx="5791200" cy="1028700"/>
          </a:xfrm>
          <a:prstGeom prst="rect">
            <a:avLst/>
          </a:prstGeom>
        </p:spPr>
        <p:txBody>
          <a:bodyPr lIns="0" tIns="0" rIns="0" bIns="0" rtlCol="0" anchor="ctr"/>
          <a:lstStyle/>
          <a:p>
            <a:pPr lvl="0" algn="ctr">
              <a:lnSpc>
                <a:spcPct val="116199"/>
              </a:lnSpc>
            </a:pPr>
            <a:r>
              <a:rPr lang="en-US" sz="2817" b="0" i="0" u="none" strike="noStrike">
                <a:solidFill>
                  <a:srgbClr val="000000"/>
                </a:solidFill>
                <a:latin typeface="Pretendard SemiBold"/>
                <a:ea typeface="Pretendard SemiBold"/>
                <a:cs typeface="Pretendard SemiBold"/>
              </a:rPr>
              <a:t>사회인지:</a:t>
            </a:r>
          </a:p>
          <a:p>
            <a:pPr lvl="0" algn="ctr">
              <a:lnSpc>
                <a:spcPct val="116199"/>
              </a:lnSpc>
            </a:pPr>
            <a:r>
              <a:rPr lang="en-US" sz="2817" b="0" i="0" u="none" strike="noStrike">
                <a:solidFill>
                  <a:srgbClr val="000000"/>
                </a:solidFill>
                <a:latin typeface="Pretendard SemiBold"/>
                <a:ea typeface="Pretendard SemiBold"/>
                <a:cs typeface="Pretendard SemiBold"/>
              </a:rPr>
              <a:t>개인이 상황을 어떻게 해석하는가?</a:t>
            </a: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399999">
            <a:off x="9385300" y="7835900"/>
            <a:ext cx="927100" cy="4953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사회인지의 부상:</a:t>
            </a:r>
          </a:p>
          <a:p>
            <a:pPr lvl="0" algn="l">
              <a:lnSpc>
                <a:spcPct val="99600"/>
              </a:lnSpc>
            </a:pPr>
            <a:r>
              <a:rPr lang="en-US" sz="3500" b="0" i="0" u="none" strike="noStrike">
                <a:solidFill>
                  <a:srgbClr val="0063BA"/>
                </a:solidFill>
                <a:latin typeface="Pretendard Bold"/>
                <a:ea typeface="Pretendard Bold"/>
                <a:cs typeface="Pretendard Bold"/>
              </a:rPr>
              <a:t>귀인과 상황의 구성</a:t>
            </a:r>
          </a:p>
        </p:txBody>
      </p:sp>
      <p:sp>
        <p:nvSpPr>
          <p:cNvPr id="3" name="TextBox 3"/>
          <p:cNvSpPr txBox="1"/>
          <p:nvPr/>
        </p:nvSpPr>
        <p:spPr>
          <a:xfrm>
            <a:off x="10109200" y="5778500"/>
            <a:ext cx="6629400" cy="12065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행동이 사회적 규범에서 벗어날수록,</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그리고 자유롭게 선택된 것일수록</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그 행동으로부터 개인의 성향을 더 강하게 추론</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39400" y="4724400"/>
            <a:ext cx="5981700" cy="698500"/>
          </a:xfrm>
          <a:prstGeom prst="rect">
            <a:avLst/>
          </a:prstGeom>
        </p:spPr>
      </p:pic>
      <p:sp>
        <p:nvSpPr>
          <p:cNvPr id="5" name="TextBox 5"/>
          <p:cNvSpPr txBox="1"/>
          <p:nvPr/>
        </p:nvSpPr>
        <p:spPr>
          <a:xfrm>
            <a:off x="10464800" y="4864100"/>
            <a:ext cx="5918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Jones &amp; Davis: Correspondent Inference</a:t>
            </a:r>
          </a:p>
        </p:txBody>
      </p:sp>
      <p:sp>
        <p:nvSpPr>
          <p:cNvPr id="6" name="TextBox 6"/>
          <p:cNvSpPr txBox="1"/>
          <p:nvPr/>
        </p:nvSpPr>
        <p:spPr>
          <a:xfrm>
            <a:off x="9537700" y="3314700"/>
            <a:ext cx="7772400" cy="8001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행동의 원인을 개인 또는 환경에 귀인</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행위자는 사회세계를 있는 그대로 받기보다 원인과 의미를 구성</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09300" y="2273300"/>
            <a:ext cx="5016500" cy="698500"/>
          </a:xfrm>
          <a:prstGeom prst="rect">
            <a:avLst/>
          </a:prstGeom>
        </p:spPr>
      </p:pic>
      <p:sp>
        <p:nvSpPr>
          <p:cNvPr id="8" name="TextBox 8"/>
          <p:cNvSpPr txBox="1"/>
          <p:nvPr/>
        </p:nvSpPr>
        <p:spPr>
          <a:xfrm>
            <a:off x="10871200" y="2413000"/>
            <a:ext cx="51054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Heider's Common-sense Psychology</a:t>
            </a:r>
          </a:p>
        </p:txBody>
      </p:sp>
      <p:sp>
        <p:nvSpPr>
          <p:cNvPr id="9" name="TextBox 9"/>
          <p:cNvSpPr txBox="1"/>
          <p:nvPr/>
        </p:nvSpPr>
        <p:spPr>
          <a:xfrm>
            <a:off x="9906000" y="8674100"/>
            <a:ext cx="7112000" cy="381000"/>
          </a:xfrm>
          <a:prstGeom prst="rect">
            <a:avLst/>
          </a:prstGeom>
        </p:spPr>
        <p:txBody>
          <a:bodyPr lIns="0" tIns="0" rIns="0" bIns="0" rtlCol="0" anchor="ctr"/>
          <a:lstStyle/>
          <a:p>
            <a:pPr marL="254000" lvl="1"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일관성, 특이성, 합의성이라는 세 정보를 비교해서 귀인이 이루어짐</a:t>
            </a: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01400" y="7721600"/>
            <a:ext cx="4445000" cy="698500"/>
          </a:xfrm>
          <a:prstGeom prst="rect">
            <a:avLst/>
          </a:prstGeom>
        </p:spPr>
      </p:pic>
      <p:sp>
        <p:nvSpPr>
          <p:cNvPr id="11" name="TextBox 11"/>
          <p:cNvSpPr txBox="1"/>
          <p:nvPr/>
        </p:nvSpPr>
        <p:spPr>
          <a:xfrm>
            <a:off x="11163300" y="7861300"/>
            <a:ext cx="4521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Kelley's Covariation Model</a:t>
            </a:r>
          </a:p>
        </p:txBody>
      </p:sp>
      <p:sp>
        <p:nvSpPr>
          <p:cNvPr id="12" name="TextBox 12"/>
          <p:cNvSpPr txBox="1"/>
          <p:nvPr/>
        </p:nvSpPr>
        <p:spPr>
          <a:xfrm>
            <a:off x="1028700" y="5905500"/>
            <a:ext cx="6007100" cy="1409700"/>
          </a:xfrm>
          <a:prstGeom prst="rect">
            <a:avLst/>
          </a:prstGeom>
        </p:spPr>
        <p:txBody>
          <a:bodyPr lIns="0" tIns="0" rIns="0" bIns="0" rtlCol="0" anchor="ctr"/>
          <a:lstStyle/>
          <a:p>
            <a:pPr lvl="0" algn="ctr">
              <a:lnSpc>
                <a:spcPct val="116199"/>
              </a:lnSpc>
            </a:pPr>
            <a:r>
              <a:rPr lang="en-US" sz="2600" b="0" i="0" u="none" strike="noStrike">
                <a:solidFill>
                  <a:srgbClr val="000000"/>
                </a:solidFill>
                <a:latin typeface="Pretendard SemiBold"/>
                <a:ea typeface="Pretendard SemiBold"/>
                <a:cs typeface="Pretendard SemiBold"/>
              </a:rPr>
              <a:t>사회인지:</a:t>
            </a:r>
          </a:p>
          <a:p>
            <a:pPr lvl="0" algn="ctr">
              <a:lnSpc>
                <a:spcPct val="116199"/>
              </a:lnSpc>
            </a:pPr>
            <a:r>
              <a:rPr lang="en-US" sz="2600" b="0" i="0" u="none" strike="noStrike">
                <a:solidFill>
                  <a:srgbClr val="000000"/>
                </a:solidFill>
                <a:latin typeface="Pretendard SemiBold"/>
                <a:ea typeface="Pretendard SemiBold"/>
                <a:cs typeface="Pretendard SemiBold"/>
              </a:rPr>
              <a:t>개인이 상황을 어떻게 해석하는가?</a:t>
            </a:r>
          </a:p>
          <a:p>
            <a:pPr lvl="0" algn="ctr">
              <a:lnSpc>
                <a:spcPct val="116199"/>
              </a:lnSpc>
            </a:pPr>
            <a:r>
              <a:rPr lang="en-US" sz="2600" b="0" i="0" u="none" strike="noStrike">
                <a:solidFill>
                  <a:srgbClr val="000000"/>
                </a:solidFill>
                <a:latin typeface="Pretendard SemiBold"/>
                <a:ea typeface="Pretendard SemiBold"/>
                <a:cs typeface="Pretendard SemiBold"/>
              </a:rPr>
              <a:t>그리고 그것이 행동에 어떤 영향을 미치는가?</a:t>
            </a: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5399999">
            <a:off x="3606800" y="4762500"/>
            <a:ext cx="863600" cy="457200"/>
          </a:xfrm>
          <a:prstGeom prst="rect">
            <a:avLst/>
          </a:prstGeom>
        </p:spPr>
      </p:pic>
      <p:sp>
        <p:nvSpPr>
          <p:cNvPr id="14" name="TextBox 14"/>
          <p:cNvSpPr txBox="1"/>
          <p:nvPr/>
        </p:nvSpPr>
        <p:spPr>
          <a:xfrm>
            <a:off x="1358900" y="2882900"/>
            <a:ext cx="5346700" cy="952500"/>
          </a:xfrm>
          <a:prstGeom prst="rect">
            <a:avLst/>
          </a:prstGeom>
        </p:spPr>
        <p:txBody>
          <a:bodyPr lIns="0" tIns="0" rIns="0" bIns="0" rtlCol="0" anchor="ctr"/>
          <a:lstStyle/>
          <a:p>
            <a:pPr lvl="0" algn="ctr">
              <a:lnSpc>
                <a:spcPct val="116199"/>
              </a:lnSpc>
            </a:pPr>
            <a:r>
              <a:rPr lang="en-US" sz="2600" b="0" i="0" u="none" strike="noStrike">
                <a:solidFill>
                  <a:srgbClr val="000000"/>
                </a:solidFill>
                <a:latin typeface="Pretendard SemiBold"/>
                <a:ea typeface="Pretendard SemiBold"/>
                <a:cs typeface="Pretendard SemiBold"/>
              </a:rPr>
              <a:t>이전 흐름:</a:t>
            </a:r>
          </a:p>
          <a:p>
            <a:pPr lvl="0" algn="ctr">
              <a:lnSpc>
                <a:spcPct val="116199"/>
              </a:lnSpc>
            </a:pPr>
            <a:r>
              <a:rPr lang="en-US" sz="2600" b="0" i="0" u="none" strike="noStrike">
                <a:solidFill>
                  <a:srgbClr val="000000"/>
                </a:solidFill>
                <a:latin typeface="Pretendard SemiBold"/>
                <a:ea typeface="Pretendard SemiBold"/>
                <a:cs typeface="Pretendard SemiBold"/>
              </a:rPr>
              <a:t>상황이 행동에 어떤 영향을 미치는가?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1092200"/>
          </a:xfrm>
          <a:prstGeom prst="rect">
            <a:avLst/>
          </a:prstGeom>
        </p:spPr>
        <p:txBody>
          <a:bodyPr lIns="0" tIns="38100" rIns="0" bIns="0" rtlCol="0" anchor="t"/>
          <a:lstStyle/>
          <a:p>
            <a:pPr lvl="0" algn="l">
              <a:lnSpc>
                <a:spcPct val="99600"/>
              </a:lnSpc>
            </a:pPr>
            <a:r>
              <a:rPr lang="en-US" sz="3000" b="0" i="0" u="none" strike="noStrike">
                <a:solidFill>
                  <a:srgbClr val="0063BA"/>
                </a:solidFill>
                <a:latin typeface="Pretendard Bold"/>
                <a:ea typeface="Pretendard Bold"/>
                <a:cs typeface="Pretendard Bold"/>
              </a:rPr>
              <a:t>사회인지의 부상:</a:t>
            </a:r>
          </a:p>
          <a:p>
            <a:pPr lvl="0" algn="l">
              <a:lnSpc>
                <a:spcPct val="99600"/>
              </a:lnSpc>
            </a:pPr>
            <a:r>
              <a:rPr lang="en-US" sz="3500" b="0" i="0" u="none" strike="noStrike">
                <a:solidFill>
                  <a:srgbClr val="0063BA"/>
                </a:solidFill>
                <a:latin typeface="Pretendard Bold"/>
                <a:ea typeface="Pretendard Bold"/>
                <a:cs typeface="Pretendard Bold"/>
              </a:rPr>
              <a:t>사회인지 연구 주제의 확장</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 y="2540000"/>
            <a:ext cx="4292600" cy="698500"/>
          </a:xfrm>
          <a:prstGeom prst="rect">
            <a:avLst/>
          </a:prstGeom>
        </p:spPr>
      </p:pic>
      <p:sp>
        <p:nvSpPr>
          <p:cNvPr id="4" name="TextBox 4"/>
          <p:cNvSpPr txBox="1"/>
          <p:nvPr/>
        </p:nvSpPr>
        <p:spPr>
          <a:xfrm>
            <a:off x="1485900" y="2679700"/>
            <a:ext cx="43688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Judgement &amp; heuristics</a:t>
            </a:r>
          </a:p>
        </p:txBody>
      </p:sp>
      <p:sp>
        <p:nvSpPr>
          <p:cNvPr id="5" name="TextBox 5"/>
          <p:cNvSpPr txBox="1"/>
          <p:nvPr/>
        </p:nvSpPr>
        <p:spPr>
          <a:xfrm>
            <a:off x="9639300" y="3886200"/>
            <a:ext cx="8280400" cy="2806700"/>
          </a:xfrm>
          <a:prstGeom prst="rect">
            <a:avLst/>
          </a:prstGeom>
        </p:spPr>
        <p:txBody>
          <a:bodyPr lIns="0" tIns="0" rIns="0" bIns="0" rtlCol="0" anchor="ctr"/>
          <a:lstStyle/>
          <a:p>
            <a:pPr marL="266700" lvl="1" indent="-266700" algn="l">
              <a:lnSpc>
                <a:spcPct val="124499"/>
              </a:lnSpc>
              <a:buClr>
                <a:srgbClr val="000000"/>
              </a:buClr>
              <a:buFont typeface="Arial"/>
              <a:buChar char="●"/>
            </a:pPr>
            <a:r>
              <a:rPr lang="en-US" sz="2100" b="0" i="0" u="none" strike="noStrike">
                <a:solidFill>
                  <a:srgbClr val="000000"/>
                </a:solidFill>
                <a:latin typeface="Pretendard SemiBold"/>
                <a:ea typeface="Pretendard SemiBold"/>
                <a:cs typeface="Pretendard SemiBold"/>
              </a:rPr>
              <a:t>Kahneman &amp;Tversky (1973)의 기저율 무시 연구</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참가자들에게 기술자:변호사 비율을 30:70 또는 70:30으로 제시 </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그 안의 한 사람에 대한 동일한 성격 묘사를 제공</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개별 묘사가 없을 때는 실제 기저율인 30% vs 70%에 가깝게 판단</a:t>
            </a:r>
          </a:p>
          <a:p>
            <a:pPr marL="533400" lvl="2"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성격 묘사가 주어지자, 판단은 두 조건 모두 약 50% vs 55% 사이로 수렴</a:t>
            </a:r>
          </a:p>
          <a:p>
            <a:pPr lvl="0" algn="l">
              <a:lnSpc>
                <a:spcPct val="124499"/>
              </a:lnSpc>
            </a:pPr>
            <a:endParaRPr lang="en-US" sz="2100" b="0" i="0" u="none" strike="noStrike">
              <a:solidFill>
                <a:srgbClr val="000000"/>
              </a:solidFill>
              <a:latin typeface="Pretendard Regular"/>
              <a:ea typeface="Pretendard Regular"/>
              <a:cs typeface="Pretendard Regular"/>
            </a:endParaRPr>
          </a:p>
          <a:p>
            <a:pPr marL="266700" lvl="1" indent="-266700" algn="l">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즉 대표성 휴리스틱이 기저율 정보보다 훨씬 강하게 판단을 좌우</a:t>
            </a: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 y="7061200"/>
            <a:ext cx="5981700" cy="698500"/>
          </a:xfrm>
          <a:prstGeom prst="rect">
            <a:avLst/>
          </a:prstGeom>
        </p:spPr>
      </p:pic>
      <p:sp>
        <p:nvSpPr>
          <p:cNvPr id="7" name="TextBox 7"/>
          <p:cNvSpPr txBox="1"/>
          <p:nvPr/>
        </p:nvSpPr>
        <p:spPr>
          <a:xfrm>
            <a:off x="711200" y="7200900"/>
            <a:ext cx="5918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Schemas &amp; Person memory (도식과 사람 기억)</a:t>
            </a: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47800" y="3886200"/>
            <a:ext cx="4445000" cy="698500"/>
          </a:xfrm>
          <a:prstGeom prst="rect">
            <a:avLst/>
          </a:prstGeom>
        </p:spPr>
      </p:pic>
      <p:sp>
        <p:nvSpPr>
          <p:cNvPr id="9" name="TextBox 9"/>
          <p:cNvSpPr txBox="1"/>
          <p:nvPr/>
        </p:nvSpPr>
        <p:spPr>
          <a:xfrm>
            <a:off x="1409700" y="4025900"/>
            <a:ext cx="4521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Automaticity (자동성)</a:t>
            </a: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 y="5448300"/>
            <a:ext cx="5981700" cy="698500"/>
          </a:xfrm>
          <a:prstGeom prst="rect">
            <a:avLst/>
          </a:prstGeom>
        </p:spPr>
      </p:pic>
      <p:sp>
        <p:nvSpPr>
          <p:cNvPr id="11" name="TextBox 11"/>
          <p:cNvSpPr txBox="1"/>
          <p:nvPr/>
        </p:nvSpPr>
        <p:spPr>
          <a:xfrm>
            <a:off x="711200" y="5588000"/>
            <a:ext cx="59182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Attitudes &amp; Dual process (태도와 이중과정)</a:t>
            </a: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 y="8458200"/>
            <a:ext cx="5981700" cy="914400"/>
          </a:xfrm>
          <a:prstGeom prst="rect">
            <a:avLst/>
          </a:prstGeom>
        </p:spPr>
      </p:pic>
      <p:sp>
        <p:nvSpPr>
          <p:cNvPr id="13" name="TextBox 13"/>
          <p:cNvSpPr txBox="1"/>
          <p:nvPr/>
        </p:nvSpPr>
        <p:spPr>
          <a:xfrm>
            <a:off x="711200" y="8496300"/>
            <a:ext cx="59182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ELM, reasoned action</a:t>
            </a:r>
          </a:p>
          <a:p>
            <a:pPr lvl="0" algn="ctr">
              <a:lnSpc>
                <a:spcPct val="124499"/>
              </a:lnSpc>
            </a:pPr>
            <a:r>
              <a:rPr lang="en-US" sz="2199" b="0" i="0" u="none" strike="noStrike">
                <a:solidFill>
                  <a:srgbClr val="000000"/>
                </a:solidFill>
                <a:latin typeface="Pretendard SemiBold"/>
                <a:ea typeface="Pretendard SemiBold"/>
                <a:cs typeface="Pretendard SemiBold"/>
              </a:rPr>
              <a:t>priming automatic / controlled prejudice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647700"/>
          </a:xfrm>
          <a:prstGeom prst="rect">
            <a:avLst/>
          </a:prstGeom>
        </p:spPr>
        <p:txBody>
          <a:bodyPr lIns="0" tIns="44450" rIns="0" bIns="0" rtlCol="0" anchor="t"/>
          <a:lstStyle/>
          <a:p>
            <a:pPr lvl="0" algn="l">
              <a:lnSpc>
                <a:spcPct val="99600"/>
              </a:lnSpc>
            </a:pPr>
            <a:r>
              <a:rPr lang="en-US" sz="3500" b="0" i="0" u="none" strike="noStrike">
                <a:solidFill>
                  <a:srgbClr val="0063BA"/>
                </a:solidFill>
                <a:latin typeface="Pretendard Bold"/>
                <a:ea typeface="Pretendard Bold"/>
                <a:cs typeface="Pretendard Bold"/>
              </a:rPr>
              <a:t>사회인지와 더불어 발전한 자기·정서·관계·집단 연구</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27200" y="2438400"/>
            <a:ext cx="4724400" cy="1054100"/>
          </a:xfrm>
          <a:prstGeom prst="rect">
            <a:avLst/>
          </a:prstGeom>
        </p:spPr>
      </p:pic>
      <p:sp>
        <p:nvSpPr>
          <p:cNvPr id="4" name="TextBox 4"/>
          <p:cNvSpPr txBox="1"/>
          <p:nvPr/>
        </p:nvSpPr>
        <p:spPr>
          <a:xfrm>
            <a:off x="1676400" y="2527300"/>
            <a:ext cx="48133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Motivational theories</a:t>
            </a:r>
          </a:p>
          <a:p>
            <a:pPr lvl="0" algn="ctr">
              <a:lnSpc>
                <a:spcPct val="124499"/>
              </a:lnSpc>
            </a:pPr>
            <a:r>
              <a:rPr lang="en-US" sz="2199" b="0" i="0" u="none" strike="noStrike">
                <a:solidFill>
                  <a:srgbClr val="000000"/>
                </a:solidFill>
                <a:latin typeface="Pretendard SemiBold"/>
                <a:ea typeface="Pretendard SemiBold"/>
                <a:cs typeface="Pretendard SemiBold"/>
              </a:rPr>
              <a:t>(동기이론)</a:t>
            </a:r>
          </a:p>
        </p:txBody>
      </p:sp>
      <p:sp>
        <p:nvSpPr>
          <p:cNvPr id="5" name="TextBox 5"/>
          <p:cNvSpPr txBox="1"/>
          <p:nvPr/>
        </p:nvSpPr>
        <p:spPr>
          <a:xfrm>
            <a:off x="774700" y="3975100"/>
            <a:ext cx="6629400" cy="4064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통제이론, 자기결정이론, 자기불일치이론, 공포관리이론</a:t>
            </a:r>
          </a:p>
        </p:txBody>
      </p:sp>
      <p:sp>
        <p:nvSpPr>
          <p:cNvPr id="6" name="TextBox 6"/>
          <p:cNvSpPr txBox="1"/>
          <p:nvPr/>
        </p:nvSpPr>
        <p:spPr>
          <a:xfrm>
            <a:off x="9131300" y="2463800"/>
            <a:ext cx="8724900" cy="2286000"/>
          </a:xfrm>
          <a:prstGeom prst="rect">
            <a:avLst/>
          </a:prstGeom>
        </p:spPr>
        <p:txBody>
          <a:bodyPr lIns="0" tIns="0" rIns="0" bIns="0" rtlCol="0" anchor="ctr"/>
          <a:lstStyle/>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목표, 동기, 정서가 주의와 해석을 편향하는 동기화된 인지로 확장</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정서 연구는 규모가 커지고, 매력 연구는 친밀한 관계(close relationship)로 재편</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북미에서 집단의 구조 및 수행 연구는 감소했지만 유럽에서는 부흥</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집단간 관계 연구는 전반적으로 크게 성장</a:t>
            </a:r>
          </a:p>
          <a:p>
            <a:pPr lvl="0" algn="l">
              <a:lnSpc>
                <a:spcPct val="124499"/>
              </a:lnSpc>
            </a:pPr>
            <a:endParaRPr lang="en-US" sz="2000" b="0" i="0" u="none" strike="noStrike">
              <a:solidFill>
                <a:srgbClr val="000000"/>
              </a:solidFill>
              <a:latin typeface="Pretendard Regular"/>
              <a:ea typeface="Pretendard Regular"/>
              <a:cs typeface="Pretendard Regular"/>
            </a:endParaRPr>
          </a:p>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이러한 양상은 기존의 "Cool" infomation processing과 대비</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 y="5486400"/>
            <a:ext cx="17284700" cy="38100"/>
          </a:xfrm>
          <a:prstGeom prst="rect">
            <a:avLst/>
          </a:prstGeom>
        </p:spPr>
      </p:pic>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6600" y="6350000"/>
            <a:ext cx="6959600" cy="1054100"/>
          </a:xfrm>
          <a:prstGeom prst="rect">
            <a:avLst/>
          </a:prstGeom>
        </p:spPr>
      </p:pic>
      <p:sp>
        <p:nvSpPr>
          <p:cNvPr id="9" name="TextBox 9"/>
          <p:cNvSpPr txBox="1"/>
          <p:nvPr/>
        </p:nvSpPr>
        <p:spPr>
          <a:xfrm>
            <a:off x="685800" y="6464300"/>
            <a:ext cx="70485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Self as object -&gt; Self as agent</a:t>
            </a:r>
          </a:p>
          <a:p>
            <a:pPr lvl="0" algn="ctr">
              <a:lnSpc>
                <a:spcPct val="124499"/>
              </a:lnSpc>
            </a:pPr>
            <a:r>
              <a:rPr lang="en-US" sz="2199" b="0" i="0" u="none" strike="noStrike">
                <a:solidFill>
                  <a:srgbClr val="000000"/>
                </a:solidFill>
                <a:latin typeface="Pretendard SemiBold"/>
                <a:ea typeface="Pretendard SemiBold"/>
                <a:cs typeface="Pretendard SemiBold"/>
              </a:rPr>
              <a:t>(대상으로서의 자기 -&gt; 행위자로서의 자기)</a:t>
            </a:r>
          </a:p>
        </p:txBody>
      </p:sp>
      <p:sp>
        <p:nvSpPr>
          <p:cNvPr id="10" name="TextBox 10"/>
          <p:cNvSpPr txBox="1"/>
          <p:nvPr/>
        </p:nvSpPr>
        <p:spPr>
          <a:xfrm>
            <a:off x="1016000" y="7594600"/>
            <a:ext cx="6629400" cy="8001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sng" strike="noStrike">
                <a:solidFill>
                  <a:srgbClr val="000000"/>
                </a:solidFill>
                <a:latin typeface="Pretendard Regular"/>
                <a:ea typeface="Pretendard Regular"/>
                <a:cs typeface="Pretendard Regular"/>
              </a:rPr>
              <a:t>자기를 평가되고 기억되는 표상으로만 보지 않고,</a:t>
            </a:r>
          </a:p>
          <a:p>
            <a:pPr marL="266700" lvl="1" indent="-266700" algn="ctr">
              <a:lnSpc>
                <a:spcPct val="124499"/>
              </a:lnSpc>
              <a:buClr>
                <a:srgbClr val="000000"/>
              </a:buClr>
              <a:buFont typeface="Arial"/>
              <a:buChar char="●"/>
            </a:pPr>
            <a:r>
              <a:rPr lang="en-US" sz="2100" b="0" i="0" u="sng" strike="noStrike">
                <a:solidFill>
                  <a:srgbClr val="000000"/>
                </a:solidFill>
                <a:latin typeface="Pretendard Regular"/>
                <a:ea typeface="Pretendard Regular"/>
                <a:cs typeface="Pretendard Regular"/>
              </a:rPr>
              <a:t>목표를 설정하고 행동을 조절하는 행위자로 보기 시작</a:t>
            </a:r>
          </a:p>
        </p:txBody>
      </p:sp>
      <p:sp>
        <p:nvSpPr>
          <p:cNvPr id="11" name="TextBox 11"/>
          <p:cNvSpPr txBox="1"/>
          <p:nvPr/>
        </p:nvSpPr>
        <p:spPr>
          <a:xfrm>
            <a:off x="9131300" y="6362700"/>
            <a:ext cx="8724900" cy="2286000"/>
          </a:xfrm>
          <a:prstGeom prst="rect">
            <a:avLst/>
          </a:prstGeom>
        </p:spPr>
        <p:txBody>
          <a:bodyPr lIns="0" tIns="0" rIns="0" bIns="0" rtlCol="0" anchor="ctr"/>
          <a:lstStyle/>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목표, 동기, 정서가 주의와 해석을 편향하는 동기화된 인지로 확장</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자기 관련 연구는 자기를 지식의 대상(자존감, 자기 개념)으로 보는 것에서 나아가</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동기 부여된 행위자로서의 자기를 고려하는 것으로 확장</a:t>
            </a:r>
          </a:p>
          <a:p>
            <a:pPr marL="508000" lvl="2" indent="-254000" algn="l">
              <a:lnSpc>
                <a:spcPct val="124499"/>
              </a:lnSpc>
              <a:buClr>
                <a:srgbClr val="000000"/>
              </a:buClr>
              <a:buFont typeface="Arial"/>
              <a:buChar char="○"/>
            </a:pPr>
            <a:r>
              <a:rPr lang="en-US" sz="2000" b="0" i="0" u="none" strike="noStrike">
                <a:solidFill>
                  <a:srgbClr val="000000"/>
                </a:solidFill>
                <a:latin typeface="Pretendard Regular"/>
                <a:ea typeface="Pretendard Regular"/>
                <a:cs typeface="Pretendard Regular"/>
              </a:rPr>
              <a:t>자기평가, 자기고양, 자기검증, 자기평가와 같은 수많은 자기 관련 과정들이 인기</a:t>
            </a:r>
          </a:p>
          <a:p>
            <a:pPr lvl="0" algn="l">
              <a:lnSpc>
                <a:spcPct val="124499"/>
              </a:lnSpc>
            </a:pPr>
            <a:endParaRPr lang="en-US" sz="2000" b="0" i="0" u="none" strike="noStrike">
              <a:solidFill>
                <a:srgbClr val="000000"/>
              </a:solidFill>
              <a:latin typeface="Pretendard Regular"/>
              <a:ea typeface="Pretendard Regular"/>
              <a:cs typeface="Pretendard Regular"/>
            </a:endParaRPr>
          </a:p>
          <a:p>
            <a:pPr marL="254000" lvl="1" indent="-254000" algn="l">
              <a:lnSpc>
                <a:spcPct val="124499"/>
              </a:lnSpc>
              <a:buClr>
                <a:srgbClr val="000000"/>
              </a:buClr>
              <a:buFont typeface="Arial"/>
              <a:buChar char="●"/>
            </a:pPr>
            <a:r>
              <a:rPr lang="en-US" sz="2000" b="0" i="0" u="none" strike="noStrike">
                <a:solidFill>
                  <a:srgbClr val="000000"/>
                </a:solidFill>
                <a:latin typeface="Pretendard SemiBold"/>
                <a:ea typeface="Pretendard SemiBold"/>
                <a:cs typeface="Pretendard SemiBold"/>
              </a:rPr>
              <a:t>결과적으로 "Cool"과 대비되는 “hot” dynamic </a:t>
            </a:r>
          </a:p>
        </p:txBody>
      </p:sp>
      <p:pic>
        <p:nvPicPr>
          <p:cNvPr id="12" name="Picture 12"/>
          <p:cNvPicPr>
            <a:picLocks noChangeAspect="1"/>
          </p:cNvPicPr>
          <p:nvPr/>
        </p:nvPicPr>
        <p:blipFill>
          <a:blip r:embed="rId6">
            <a:alphaModFix amt="39000"/>
          </a:blip>
          <a:stretch>
            <a:fillRect/>
          </a:stretch>
        </p:blipFill>
        <p:spPr>
          <a:xfrm>
            <a:off x="14338300" y="8140700"/>
            <a:ext cx="977900" cy="977900"/>
          </a:xfrm>
          <a:prstGeom prst="rect">
            <a:avLst/>
          </a:prstGeom>
        </p:spPr>
      </p:pic>
      <p:pic>
        <p:nvPicPr>
          <p:cNvPr id="13" name="Picture 13"/>
          <p:cNvPicPr>
            <a:picLocks noChangeAspect="1"/>
          </p:cNvPicPr>
          <p:nvPr/>
        </p:nvPicPr>
        <p:blipFill>
          <a:blip r:embed="rId7">
            <a:alphaModFix amt="45000"/>
          </a:blip>
          <a:stretch>
            <a:fillRect/>
          </a:stretch>
        </p:blipFill>
        <p:spPr>
          <a:xfrm>
            <a:off x="15836900" y="4292600"/>
            <a:ext cx="965200" cy="965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73100" y="482600"/>
            <a:ext cx="16459200" cy="1384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Spreading Tentacles, Deeper Roots, and a Move toward Biology:</a:t>
            </a:r>
          </a:p>
          <a:p>
            <a:pPr lvl="0" algn="l">
              <a:lnSpc>
                <a:spcPct val="99600"/>
              </a:lnSpc>
            </a:pPr>
            <a:r>
              <a:rPr lang="en-US" sz="4100" b="0" i="0" u="none" strike="noStrike">
                <a:solidFill>
                  <a:srgbClr val="0063BA"/>
                </a:solidFill>
                <a:latin typeface="Pretendard Bold"/>
                <a:ea typeface="Pretendard Bold"/>
                <a:cs typeface="Pretendard Bold"/>
              </a:rPr>
              <a:t>학제간 융합을 통한 확장 (1990–2010)</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90100" y="3517900"/>
            <a:ext cx="5829300" cy="1739900"/>
          </a:xfrm>
          <a:prstGeom prst="rect">
            <a:avLst/>
          </a:prstGeom>
          <a:effectLst>
            <a:outerShdw blurRad="69723" dist="160899" dir="2700000">
              <a:srgbClr val="000000">
                <a:alpha val="50000"/>
              </a:srgbClr>
            </a:outerShdw>
          </a:effectLst>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15500" y="3505200"/>
            <a:ext cx="5778500" cy="38100"/>
          </a:xfrm>
          <a:prstGeom prst="rect">
            <a:avLst/>
          </a:prstGeom>
        </p:spPr>
      </p:pic>
      <p:sp>
        <p:nvSpPr>
          <p:cNvPr id="5" name="TextBox 5"/>
          <p:cNvSpPr txBox="1"/>
          <p:nvPr/>
        </p:nvSpPr>
        <p:spPr>
          <a:xfrm>
            <a:off x="9969500" y="4305300"/>
            <a:ext cx="54229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판단과 의사결정, 행동경제학</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조직과 시장 및 소비자 행동 분야에 연결</a:t>
            </a:r>
          </a:p>
        </p:txBody>
      </p:sp>
      <p:sp>
        <p:nvSpPr>
          <p:cNvPr id="6" name="TextBox 6"/>
          <p:cNvSpPr txBox="1"/>
          <p:nvPr/>
        </p:nvSpPr>
        <p:spPr>
          <a:xfrm>
            <a:off x="9969500" y="3746500"/>
            <a:ext cx="3733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경영과 경제</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9300" y="3517900"/>
            <a:ext cx="5829300" cy="1739900"/>
          </a:xfrm>
          <a:prstGeom prst="rect">
            <a:avLst/>
          </a:prstGeom>
          <a:effectLst>
            <a:outerShdw blurRad="69723" dist="160899" dir="2700000">
              <a:srgbClr val="000000">
                <a:alpha val="50000"/>
              </a:srgbClr>
            </a:outerShdw>
          </a:effectLst>
        </p:spPr>
      </p:pic>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44700" y="3505200"/>
            <a:ext cx="5778500" cy="38100"/>
          </a:xfrm>
          <a:prstGeom prst="rect">
            <a:avLst/>
          </a:prstGeom>
        </p:spPr>
      </p:pic>
      <p:sp>
        <p:nvSpPr>
          <p:cNvPr id="9" name="TextBox 9"/>
          <p:cNvSpPr txBox="1"/>
          <p:nvPr/>
        </p:nvSpPr>
        <p:spPr>
          <a:xfrm>
            <a:off x="2298700" y="4305300"/>
            <a:ext cx="54229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목격자 증언과 배심원 판단, 협상, 갈등</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사회인지와 사회영향 연구를 응용</a:t>
            </a:r>
          </a:p>
        </p:txBody>
      </p:sp>
      <p:sp>
        <p:nvSpPr>
          <p:cNvPr id="10" name="TextBox 10"/>
          <p:cNvSpPr txBox="1"/>
          <p:nvPr/>
        </p:nvSpPr>
        <p:spPr>
          <a:xfrm>
            <a:off x="2286000" y="3746500"/>
            <a:ext cx="50927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법학</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19300" y="6350000"/>
            <a:ext cx="5943600" cy="1727200"/>
          </a:xfrm>
          <a:prstGeom prst="rect">
            <a:avLst/>
          </a:prstGeom>
          <a:effectLst>
            <a:outerShdw blurRad="68961" dist="159141" dir="2700000">
              <a:srgbClr val="000000">
                <a:alpha val="50000"/>
              </a:srgbClr>
            </a:outerShdw>
          </a:effectLst>
        </p:spPr>
      </p:pic>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700" y="6337300"/>
            <a:ext cx="5930900" cy="38100"/>
          </a:xfrm>
          <a:prstGeom prst="rect">
            <a:avLst/>
          </a:prstGeom>
        </p:spPr>
      </p:pic>
      <p:sp>
        <p:nvSpPr>
          <p:cNvPr id="13" name="TextBox 13"/>
          <p:cNvSpPr txBox="1"/>
          <p:nvPr/>
        </p:nvSpPr>
        <p:spPr>
          <a:xfrm>
            <a:off x="2286000" y="7188200"/>
            <a:ext cx="54864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스트레스-사회적 지지 간 관계 등</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건강행동과 사회관계가 건강에 미치는 영향</a:t>
            </a:r>
          </a:p>
        </p:txBody>
      </p:sp>
      <p:sp>
        <p:nvSpPr>
          <p:cNvPr id="14" name="TextBox 14"/>
          <p:cNvSpPr txBox="1"/>
          <p:nvPr/>
        </p:nvSpPr>
        <p:spPr>
          <a:xfrm>
            <a:off x="2286000" y="6578600"/>
            <a:ext cx="5638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의학</a:t>
            </a: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02800" y="6362700"/>
            <a:ext cx="5943600" cy="1727200"/>
          </a:xfrm>
          <a:prstGeom prst="rect">
            <a:avLst/>
          </a:prstGeom>
          <a:effectLst>
            <a:outerShdw blurRad="68961" dist="159141" dir="2700000">
              <a:srgbClr val="000000">
                <a:alpha val="50000"/>
              </a:srgbClr>
            </a:outerShdw>
          </a:effectLst>
        </p:spPr>
      </p:pic>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599999">
            <a:off x="9715500" y="6350000"/>
            <a:ext cx="5905500" cy="38100"/>
          </a:xfrm>
          <a:prstGeom prst="rect">
            <a:avLst/>
          </a:prstGeom>
        </p:spPr>
      </p:pic>
      <p:sp>
        <p:nvSpPr>
          <p:cNvPr id="17" name="TextBox 17"/>
          <p:cNvSpPr txBox="1"/>
          <p:nvPr/>
        </p:nvSpPr>
        <p:spPr>
          <a:xfrm>
            <a:off x="9969500" y="7124700"/>
            <a:ext cx="5600700" cy="787400"/>
          </a:xfrm>
          <a:prstGeom prst="rect">
            <a:avLst/>
          </a:prstGeom>
        </p:spPr>
        <p:txBody>
          <a:bodyPr lIns="0" tIns="0" rIns="0" bIns="0" rtlCol="0" anchor="ctr"/>
          <a:lstStyle/>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가족관계의 상호작용, 친밀한 관계</a:t>
            </a:r>
          </a:p>
          <a:p>
            <a:pPr marL="274320" lvl="1" indent="-274320" algn="l">
              <a:lnSpc>
                <a:spcPct val="116199"/>
              </a:lnSpc>
              <a:buClr>
                <a:srgbClr val="000000"/>
              </a:buClr>
              <a:buFont typeface="Arial"/>
              <a:buChar char="●"/>
            </a:pPr>
            <a:r>
              <a:rPr lang="en-US" sz="2160" b="0" i="0" u="none" strike="noStrike">
                <a:solidFill>
                  <a:srgbClr val="000000"/>
                </a:solidFill>
                <a:latin typeface="Pretendard Regular"/>
                <a:ea typeface="Pretendard Regular"/>
                <a:cs typeface="Pretendard Regular"/>
              </a:rPr>
              <a:t>성취동기, 학생-교사 상호작용, 투표행동 등등..</a:t>
            </a:r>
          </a:p>
        </p:txBody>
      </p:sp>
      <p:sp>
        <p:nvSpPr>
          <p:cNvPr id="18" name="TextBox 18"/>
          <p:cNvSpPr txBox="1"/>
          <p:nvPr/>
        </p:nvSpPr>
        <p:spPr>
          <a:xfrm>
            <a:off x="9969500" y="6565900"/>
            <a:ext cx="3733800" cy="406400"/>
          </a:xfrm>
          <a:prstGeom prst="rect">
            <a:avLst/>
          </a:prstGeom>
        </p:spPr>
        <p:txBody>
          <a:bodyPr lIns="0" tIns="0" rIns="0" bIns="0" rtlCol="0" anchor="ctr"/>
          <a:lstStyle/>
          <a:p>
            <a:pPr lvl="0" algn="l">
              <a:lnSpc>
                <a:spcPct val="116199"/>
              </a:lnSpc>
            </a:pPr>
            <a:r>
              <a:rPr lang="en-US" sz="2160" b="0" i="0" u="none" strike="noStrike">
                <a:solidFill>
                  <a:srgbClr val="000000"/>
                </a:solidFill>
                <a:latin typeface="Pretendard SemiBold"/>
                <a:ea typeface="Pretendard SemiBold"/>
                <a:cs typeface="Pretendard SemiBold"/>
              </a:rPr>
              <a:t>가족, 교육, 정치</a:t>
            </a:r>
          </a:p>
        </p:txBody>
      </p:sp>
      <p:sp>
        <p:nvSpPr>
          <p:cNvPr id="19" name="TextBox 19"/>
          <p:cNvSpPr txBox="1"/>
          <p:nvPr/>
        </p:nvSpPr>
        <p:spPr>
          <a:xfrm>
            <a:off x="1473200" y="2921000"/>
            <a:ext cx="3238500" cy="4826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영역의 확장</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647700"/>
          </a:xfrm>
          <a:prstGeom prst="rect">
            <a:avLst/>
          </a:prstGeom>
        </p:spPr>
        <p:txBody>
          <a:bodyPr lIns="0" tIns="44450" rIns="0" bIns="0" rtlCol="0" anchor="t"/>
          <a:lstStyle/>
          <a:p>
            <a:pPr lvl="0" algn="l">
              <a:lnSpc>
                <a:spcPct val="99600"/>
              </a:lnSpc>
            </a:pPr>
            <a:r>
              <a:rPr lang="en-US" sz="3500" b="0" i="0" u="none" strike="noStrike">
                <a:solidFill>
                  <a:srgbClr val="0063BA"/>
                </a:solidFill>
                <a:latin typeface="Pretendard Bold"/>
                <a:ea typeface="Pretendard Bold"/>
                <a:cs typeface="Pretendard Bold"/>
              </a:rPr>
              <a:t>사회인지와 더불어 발전한 자기·정서·관계·집단 연구</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27200" y="1968500"/>
            <a:ext cx="4724400" cy="1054100"/>
          </a:xfrm>
          <a:prstGeom prst="rect">
            <a:avLst/>
          </a:prstGeom>
        </p:spPr>
      </p:pic>
      <p:sp>
        <p:nvSpPr>
          <p:cNvPr id="4" name="TextBox 4"/>
          <p:cNvSpPr txBox="1"/>
          <p:nvPr/>
        </p:nvSpPr>
        <p:spPr>
          <a:xfrm>
            <a:off x="1676400" y="2260600"/>
            <a:ext cx="48133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새로운 실험 도구들의 등장</a:t>
            </a:r>
          </a:p>
        </p:txBody>
      </p:sp>
      <p:sp>
        <p:nvSpPr>
          <p:cNvPr id="5" name="TextBox 5"/>
          <p:cNvSpPr txBox="1"/>
          <p:nvPr/>
        </p:nvSpPr>
        <p:spPr>
          <a:xfrm>
            <a:off x="495300" y="3238500"/>
            <a:ext cx="7188200" cy="20066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E-Prime, MediaLab, DirectRT</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lexical decison, priming, implicit measures</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Internet study, virtual reality, ambulatory assessment</a:t>
            </a:r>
          </a:p>
          <a:p>
            <a:pPr lvl="0" algn="ctr">
              <a:lnSpc>
                <a:spcPct val="124499"/>
              </a:lnSpc>
            </a:pPr>
            <a:endParaRPr lang="en-US" sz="2100" b="0" i="0" u="none" strike="noStrike">
              <a:solidFill>
                <a:srgbClr val="000000"/>
              </a:solidFill>
              <a:latin typeface="Pretendard Regular"/>
              <a:ea typeface="Pretendard Regular"/>
              <a:cs typeface="Pretendard Regular"/>
            </a:endParaRPr>
          </a:p>
          <a:p>
            <a:pPr lvl="0" algn="ctr">
              <a:lnSpc>
                <a:spcPct val="124499"/>
              </a:lnSpc>
            </a:pPr>
            <a:r>
              <a:rPr lang="en-US" sz="2100" b="0" i="0" u="none" strike="noStrike">
                <a:solidFill>
                  <a:srgbClr val="000000"/>
                </a:solidFill>
                <a:latin typeface="Pretendard Regular"/>
                <a:ea typeface="Pretendard Regular"/>
                <a:cs typeface="Pretendard Regular"/>
              </a:rPr>
              <a:t>시간 정밀도, 표준화, 원격수집 확대</a:t>
            </a:r>
          </a:p>
        </p:txBody>
      </p:sp>
      <p:sp>
        <p:nvSpPr>
          <p:cNvPr id="6" name="TextBox 6"/>
          <p:cNvSpPr txBox="1"/>
          <p:nvPr/>
        </p:nvSpPr>
        <p:spPr>
          <a:xfrm>
            <a:off x="9321800" y="3810000"/>
            <a:ext cx="8559800" cy="2311400"/>
          </a:xfrm>
          <a:prstGeom prst="rect">
            <a:avLst/>
          </a:prstGeom>
        </p:spPr>
        <p:txBody>
          <a:bodyPr lIns="0" tIns="0" rIns="0" bIns="0" rtlCol="0" anchor="ctr"/>
          <a:lstStyle/>
          <a:p>
            <a:pPr marL="308864" lvl="1" indent="-308864" algn="l">
              <a:lnSpc>
                <a:spcPct val="124499"/>
              </a:lnSpc>
              <a:buClr>
                <a:srgbClr val="000000"/>
              </a:buClr>
              <a:buFont typeface="Arial"/>
              <a:buChar char="●"/>
            </a:pPr>
            <a:r>
              <a:rPr lang="en-US" sz="2432" b="0" i="0" u="none" strike="noStrike">
                <a:solidFill>
                  <a:srgbClr val="000000"/>
                </a:solidFill>
                <a:latin typeface="Pretendard SemiBold"/>
                <a:ea typeface="Pretendard SemiBold"/>
                <a:cs typeface="Pretendard SemiBold"/>
              </a:rPr>
              <a:t>왜?</a:t>
            </a:r>
          </a:p>
          <a:p>
            <a:pPr marL="617728" lvl="2" indent="-308864" algn="l">
              <a:lnSpc>
                <a:spcPct val="124499"/>
              </a:lnSpc>
              <a:buClr>
                <a:srgbClr val="000000"/>
              </a:buClr>
              <a:buFont typeface="Arial"/>
              <a:buChar char="○"/>
            </a:pPr>
            <a:r>
              <a:rPr lang="en-US" sz="2432" b="0" i="0" u="none" strike="noStrike">
                <a:solidFill>
                  <a:srgbClr val="000000"/>
                </a:solidFill>
                <a:latin typeface="Pretendard Regular"/>
                <a:ea typeface="Pretendard Regular"/>
                <a:cs typeface="Pretendard Regular"/>
              </a:rPr>
              <a:t>실제 행동은 시간과 돈, 윤리, 표준화 문제</a:t>
            </a:r>
          </a:p>
          <a:p>
            <a:pPr marL="617728" lvl="2" indent="-308864" algn="l">
              <a:lnSpc>
                <a:spcPct val="124499"/>
              </a:lnSpc>
              <a:buClr>
                <a:srgbClr val="000000"/>
              </a:buClr>
              <a:buFont typeface="Arial"/>
              <a:buChar char="○"/>
            </a:pPr>
            <a:r>
              <a:rPr lang="en-US" sz="2432" b="0" i="0" u="none" strike="noStrike">
                <a:solidFill>
                  <a:srgbClr val="000000"/>
                </a:solidFill>
                <a:latin typeface="Pretendard Regular"/>
                <a:ea typeface="Pretendard Regular"/>
                <a:cs typeface="Pretendard Regular"/>
              </a:rPr>
              <a:t>출판 인센티브에도 불리</a:t>
            </a:r>
          </a:p>
          <a:p>
            <a:pPr lvl="0" algn="l">
              <a:lnSpc>
                <a:spcPct val="124499"/>
              </a:lnSpc>
            </a:pPr>
            <a:endParaRPr lang="en-US" sz="2432" b="0" i="0" u="none" strike="noStrike">
              <a:solidFill>
                <a:srgbClr val="000000"/>
              </a:solidFill>
              <a:latin typeface="Pretendard Regular"/>
              <a:ea typeface="Pretendard Regular"/>
              <a:cs typeface="Pretendard Regular"/>
            </a:endParaRPr>
          </a:p>
          <a:p>
            <a:pPr marL="308864" lvl="1" indent="-308864" algn="l">
              <a:lnSpc>
                <a:spcPct val="124499"/>
              </a:lnSpc>
              <a:buClr>
                <a:srgbClr val="000000"/>
              </a:buClr>
              <a:buFont typeface="Arial"/>
              <a:buChar char="●"/>
            </a:pPr>
            <a:r>
              <a:rPr lang="en-US" sz="2432" b="0" i="0" u="none" strike="noStrike">
                <a:solidFill>
                  <a:srgbClr val="000000"/>
                </a:solidFill>
                <a:latin typeface="Pretendard SemiBold"/>
                <a:ea typeface="Pretendard SemiBold"/>
                <a:cs typeface="Pretendard SemiBold"/>
              </a:rPr>
              <a:t>자기보고, 반응시간 등은 실제 행동과 완전히 일치하지는 않음</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5399999">
            <a:off x="6032500" y="5600700"/>
            <a:ext cx="4775200" cy="38100"/>
          </a:xfrm>
          <a:prstGeom prst="rect">
            <a:avLst/>
          </a:prstGeom>
        </p:spPr>
      </p:pic>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6600" y="6210300"/>
            <a:ext cx="4165600" cy="901700"/>
          </a:xfrm>
          <a:prstGeom prst="rect">
            <a:avLst/>
          </a:prstGeom>
        </p:spPr>
      </p:pic>
      <p:sp>
        <p:nvSpPr>
          <p:cNvPr id="9" name="TextBox 9"/>
          <p:cNvSpPr txBox="1"/>
          <p:nvPr/>
        </p:nvSpPr>
        <p:spPr>
          <a:xfrm>
            <a:off x="1968500" y="6451600"/>
            <a:ext cx="42418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하지만 행동 측정은 감소?</a:t>
            </a:r>
          </a:p>
        </p:txBody>
      </p:sp>
      <p:sp>
        <p:nvSpPr>
          <p:cNvPr id="10" name="TextBox 10"/>
          <p:cNvSpPr txBox="1"/>
          <p:nvPr/>
        </p:nvSpPr>
        <p:spPr>
          <a:xfrm>
            <a:off x="1016000" y="7315200"/>
            <a:ext cx="6629400" cy="12065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JPSP 논문 중 실제 행동을 측정한 비율</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약 80% (1976) -&gt; 역 15% (2006)</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자기보고와 "finger movements"가 행동의 대리물이 됨</a:t>
            </a:r>
          </a:p>
        </p:txBody>
      </p:sp>
      <p:sp>
        <p:nvSpPr>
          <p:cNvPr id="11" name="TextBox 11"/>
          <p:cNvSpPr txBox="1"/>
          <p:nvPr/>
        </p:nvSpPr>
        <p:spPr>
          <a:xfrm>
            <a:off x="9271000" y="7061200"/>
            <a:ext cx="8750300" cy="939800"/>
          </a:xfrm>
          <a:prstGeom prst="rect">
            <a:avLst/>
          </a:prstGeom>
        </p:spPr>
        <p:txBody>
          <a:bodyPr lIns="0" tIns="0" rIns="0" bIns="0" rtlCol="0" anchor="ctr"/>
          <a:lstStyle/>
          <a:p>
            <a:pPr lvl="0" algn="ctr">
              <a:lnSpc>
                <a:spcPct val="124499"/>
              </a:lnSpc>
            </a:pPr>
            <a:r>
              <a:rPr lang="en-US" sz="2500" b="0" i="0" u="none" strike="noStrike">
                <a:solidFill>
                  <a:srgbClr val="000000"/>
                </a:solidFill>
                <a:latin typeface="Pretendard SemiBold"/>
                <a:ea typeface="Pretendard SemiBold"/>
                <a:cs typeface="Pretendard SemiBold"/>
              </a:rPr>
              <a:t>새 도구가 흑정을 정교화하는 동시에</a:t>
            </a:r>
          </a:p>
          <a:p>
            <a:pPr lvl="0" algn="ctr">
              <a:lnSpc>
                <a:spcPct val="124499"/>
              </a:lnSpc>
            </a:pPr>
            <a:r>
              <a:rPr lang="en-US" sz="2500" b="0" i="0" u="none" strike="noStrike">
                <a:solidFill>
                  <a:srgbClr val="000000"/>
                </a:solidFill>
                <a:latin typeface="Pretendard SemiBold"/>
                <a:ea typeface="Pretendard SemiBold"/>
                <a:cs typeface="Pretendard SemiBold"/>
              </a:rPr>
              <a:t>연구대상을 화면 속 반응으로 좁힐 수도 있다는 역설이 발생</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455400" cy="647700"/>
          </a:xfrm>
          <a:prstGeom prst="rect">
            <a:avLst/>
          </a:prstGeom>
        </p:spPr>
        <p:txBody>
          <a:bodyPr lIns="0" tIns="44450" rIns="0" bIns="0" rtlCol="0" anchor="t"/>
          <a:lstStyle/>
          <a:p>
            <a:pPr lvl="0" algn="l">
              <a:lnSpc>
                <a:spcPct val="99600"/>
              </a:lnSpc>
            </a:pPr>
            <a:r>
              <a:rPr lang="en-US" sz="3500" b="0" i="0" u="none" strike="noStrike">
                <a:solidFill>
                  <a:srgbClr val="0063BA"/>
                </a:solidFill>
                <a:latin typeface="Pretendard Bold"/>
                <a:ea typeface="Pretendard Bold"/>
                <a:cs typeface="Pretendard Bold"/>
              </a:rPr>
              <a:t>생물학, 신경과학, 문화</a:t>
            </a:r>
          </a:p>
        </p:txBody>
      </p:sp>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74900" y="2451100"/>
            <a:ext cx="4724400" cy="1054100"/>
          </a:xfrm>
          <a:prstGeom prst="rect">
            <a:avLst/>
          </a:prstGeom>
        </p:spPr>
      </p:pic>
      <p:sp>
        <p:nvSpPr>
          <p:cNvPr id="4" name="TextBox 4"/>
          <p:cNvSpPr txBox="1"/>
          <p:nvPr/>
        </p:nvSpPr>
        <p:spPr>
          <a:xfrm>
            <a:off x="2324100" y="2743200"/>
            <a:ext cx="48133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생물학과 사회신경과학</a:t>
            </a:r>
          </a:p>
        </p:txBody>
      </p:sp>
      <p:sp>
        <p:nvSpPr>
          <p:cNvPr id="5" name="TextBox 5"/>
          <p:cNvSpPr txBox="1"/>
          <p:nvPr/>
        </p:nvSpPr>
        <p:spPr>
          <a:xfrm>
            <a:off x="495300" y="3924300"/>
            <a:ext cx="8483600" cy="12065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진화심리학적 접근: 고정된 본능보다 환경에 반응하는 유연한 적응</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fMRI: 사랑이나 공감, 자기평가 같은 개념까지도 생물학적으로 검토되기 시작</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사회심리학 이론을 생물학적으로 가능한 설명과 연결짓는 게 목적</a:t>
            </a: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05100" y="6096000"/>
            <a:ext cx="4165600" cy="901700"/>
          </a:xfrm>
          <a:prstGeom prst="rect">
            <a:avLst/>
          </a:prstGeom>
        </p:spPr>
      </p:pic>
      <p:sp>
        <p:nvSpPr>
          <p:cNvPr id="7" name="TextBox 7"/>
          <p:cNvSpPr txBox="1"/>
          <p:nvPr/>
        </p:nvSpPr>
        <p:spPr>
          <a:xfrm>
            <a:off x="2667000" y="6337300"/>
            <a:ext cx="42418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문화와 맥락</a:t>
            </a:r>
          </a:p>
        </p:txBody>
      </p:sp>
      <p:sp>
        <p:nvSpPr>
          <p:cNvPr id="8" name="TextBox 8"/>
          <p:cNvSpPr txBox="1"/>
          <p:nvPr/>
        </p:nvSpPr>
        <p:spPr>
          <a:xfrm>
            <a:off x="990600" y="7315200"/>
            <a:ext cx="7467600" cy="12065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문화는 보편적인 결과를 찾는 데 방해인 '변산' -&gt; 문화 간 비교 연구</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개인주의 문화 vs 공동체적 문화</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서구 기준 보편적인 개념이 문화에 따라 달라진다는 것이 밝혀짐</a:t>
            </a:r>
          </a:p>
        </p:txBody>
      </p:sp>
      <p:sp>
        <p:nvSpPr>
          <p:cNvPr id="9" name="TextBox 9"/>
          <p:cNvSpPr txBox="1"/>
          <p:nvPr/>
        </p:nvSpPr>
        <p:spPr>
          <a:xfrm>
            <a:off x="11811000" y="3708400"/>
            <a:ext cx="5575300" cy="469900"/>
          </a:xfrm>
          <a:prstGeom prst="rect">
            <a:avLst/>
          </a:prstGeom>
        </p:spPr>
        <p:txBody>
          <a:bodyPr lIns="0" tIns="0" rIns="0" bIns="0" rtlCol="0" anchor="ctr"/>
          <a:lstStyle/>
          <a:p>
            <a:pPr lvl="0" algn="l">
              <a:lnSpc>
                <a:spcPct val="124499"/>
              </a:lnSpc>
            </a:pPr>
            <a:r>
              <a:rPr lang="en-US" sz="2500" b="0" i="0" u="none" strike="noStrike">
                <a:solidFill>
                  <a:srgbClr val="000000"/>
                </a:solidFill>
                <a:latin typeface="Pretendard SemiBold"/>
                <a:ea typeface="Pretendard SemiBold"/>
                <a:cs typeface="Pretendard SemiBold"/>
              </a:rPr>
              <a:t>인간에게 공유된 기반</a:t>
            </a: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9200" y="3683000"/>
            <a:ext cx="863600" cy="457200"/>
          </a:xfrm>
          <a:prstGeom prst="rect">
            <a:avLst/>
          </a:prstGeom>
        </p:spPr>
      </p:pic>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9200" y="7302500"/>
            <a:ext cx="863600" cy="457200"/>
          </a:xfrm>
          <a:prstGeom prst="rect">
            <a:avLst/>
          </a:prstGeom>
        </p:spPr>
      </p:pic>
      <p:sp>
        <p:nvSpPr>
          <p:cNvPr id="12" name="TextBox 12"/>
          <p:cNvSpPr txBox="1"/>
          <p:nvPr/>
        </p:nvSpPr>
        <p:spPr>
          <a:xfrm>
            <a:off x="11811000" y="7086600"/>
            <a:ext cx="6057900" cy="939800"/>
          </a:xfrm>
          <a:prstGeom prst="rect">
            <a:avLst/>
          </a:prstGeom>
        </p:spPr>
        <p:txBody>
          <a:bodyPr lIns="0" tIns="0" rIns="0" bIns="0" rtlCol="0" anchor="ctr"/>
          <a:lstStyle/>
          <a:p>
            <a:pPr lvl="0" algn="l">
              <a:lnSpc>
                <a:spcPct val="124499"/>
              </a:lnSpc>
            </a:pPr>
            <a:r>
              <a:rPr lang="en-US" sz="2500" b="0" i="0" u="none" strike="noStrike">
                <a:solidFill>
                  <a:srgbClr val="000000"/>
                </a:solidFill>
                <a:latin typeface="Pretendard SemiBold"/>
                <a:ea typeface="Pretendard SemiBold"/>
                <a:cs typeface="Pretendard SemiBold"/>
              </a:rPr>
              <a:t>그 기반이 표현되는 방식이</a:t>
            </a:r>
          </a:p>
          <a:p>
            <a:pPr lvl="0" algn="l">
              <a:lnSpc>
                <a:spcPct val="124499"/>
              </a:lnSpc>
            </a:pPr>
            <a:r>
              <a:rPr lang="en-US" sz="2500" b="0" i="0" u="none" strike="noStrike">
                <a:solidFill>
                  <a:srgbClr val="000000"/>
                </a:solidFill>
                <a:latin typeface="Pretendard SemiBold"/>
                <a:ea typeface="Pretendard SemiBold"/>
                <a:cs typeface="Pretendard SemiBold"/>
              </a:rPr>
              <a:t>사회적 맥락에 따라 달라질 수 있음</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10287000" y="2120900"/>
            <a:ext cx="3035300" cy="2006600"/>
          </a:xfrm>
          <a:prstGeom prst="rect">
            <a:avLst/>
          </a:prstGeom>
        </p:spPr>
      </p:pic>
      <p:sp>
        <p:nvSpPr>
          <p:cNvPr id="3" name="TextBox 3"/>
          <p:cNvSpPr txBox="1"/>
          <p:nvPr/>
        </p:nvSpPr>
        <p:spPr>
          <a:xfrm>
            <a:off x="685800" y="558800"/>
            <a:ext cx="11455400" cy="1181100"/>
          </a:xfrm>
          <a:prstGeom prst="rect">
            <a:avLst/>
          </a:prstGeom>
        </p:spPr>
        <p:txBody>
          <a:bodyPr lIns="0" tIns="44450" rIns="0" bIns="0" rtlCol="0" anchor="t"/>
          <a:lstStyle/>
          <a:p>
            <a:pPr lvl="0" algn="l">
              <a:lnSpc>
                <a:spcPct val="99600"/>
              </a:lnSpc>
            </a:pPr>
            <a:r>
              <a:rPr lang="en-US" sz="3500" b="0" i="0" u="none" strike="noStrike">
                <a:solidFill>
                  <a:srgbClr val="0063BA"/>
                </a:solidFill>
                <a:latin typeface="Pretendard Bold"/>
                <a:ea typeface="Pretendard Bold"/>
                <a:cs typeface="Pretendard Bold"/>
              </a:rPr>
              <a:t>The Rise of Big Data:</a:t>
            </a:r>
          </a:p>
          <a:p>
            <a:pPr lvl="0" algn="l">
              <a:lnSpc>
                <a:spcPct val="99600"/>
              </a:lnSpc>
            </a:pPr>
            <a:r>
              <a:rPr lang="en-US" sz="3500" b="0" i="0" u="none" strike="noStrike">
                <a:solidFill>
                  <a:srgbClr val="0063BA"/>
                </a:solidFill>
                <a:latin typeface="Pretendard Bold"/>
                <a:ea typeface="Pretendard Bold"/>
                <a:cs typeface="Pretendard Bold"/>
              </a:rPr>
              <a:t>빅데이터와 재현성 위기 (2010 ~)</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27200" y="2438400"/>
            <a:ext cx="4724400" cy="1054100"/>
          </a:xfrm>
          <a:prstGeom prst="rect">
            <a:avLst/>
          </a:prstGeom>
        </p:spPr>
      </p:pic>
      <p:sp>
        <p:nvSpPr>
          <p:cNvPr id="5" name="TextBox 5"/>
          <p:cNvSpPr txBox="1"/>
          <p:nvPr/>
        </p:nvSpPr>
        <p:spPr>
          <a:xfrm>
            <a:off x="1676400" y="2730500"/>
            <a:ext cx="48133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웹 기반 표본 수집</a:t>
            </a:r>
          </a:p>
        </p:txBody>
      </p:sp>
      <p:sp>
        <p:nvSpPr>
          <p:cNvPr id="6" name="TextBox 6"/>
          <p:cNvSpPr txBox="1"/>
          <p:nvPr/>
        </p:nvSpPr>
        <p:spPr>
          <a:xfrm>
            <a:off x="774700" y="3784600"/>
            <a:ext cx="6629400" cy="8001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편의를 위한 기존의 대학생 표본을 넘어서 다양한 표본 수집</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동일 절차를 여러 문화와 지역에 빠르게 배포</a:t>
            </a: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 y="5486400"/>
            <a:ext cx="17284700" cy="38100"/>
          </a:xfrm>
          <a:prstGeom prst="rect">
            <a:avLst/>
          </a:prstGeom>
        </p:spPr>
      </p:pic>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40000" y="6159500"/>
            <a:ext cx="3098800" cy="1054100"/>
          </a:xfrm>
          <a:prstGeom prst="rect">
            <a:avLst/>
          </a:prstGeom>
        </p:spPr>
      </p:pic>
      <p:sp>
        <p:nvSpPr>
          <p:cNvPr id="9" name="TextBox 9"/>
          <p:cNvSpPr txBox="1"/>
          <p:nvPr/>
        </p:nvSpPr>
        <p:spPr>
          <a:xfrm>
            <a:off x="2501900" y="6273800"/>
            <a:ext cx="3175000" cy="8382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Potential gains</a:t>
            </a:r>
          </a:p>
          <a:p>
            <a:pPr lvl="0" algn="ctr">
              <a:lnSpc>
                <a:spcPct val="124499"/>
              </a:lnSpc>
            </a:pPr>
            <a:r>
              <a:rPr lang="en-US" sz="2199" b="0" i="0" u="none" strike="noStrike">
                <a:solidFill>
                  <a:srgbClr val="000000"/>
                </a:solidFill>
                <a:latin typeface="Pretendard SemiBold"/>
                <a:ea typeface="Pretendard SemiBold"/>
                <a:cs typeface="Pretendard SemiBold"/>
              </a:rPr>
              <a:t>가능성</a:t>
            </a:r>
          </a:p>
        </p:txBody>
      </p:sp>
      <p:sp>
        <p:nvSpPr>
          <p:cNvPr id="10" name="TextBox 10"/>
          <p:cNvSpPr txBox="1"/>
          <p:nvPr/>
        </p:nvSpPr>
        <p:spPr>
          <a:xfrm>
            <a:off x="774700" y="7645400"/>
            <a:ext cx="6629400" cy="20066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높은 통계적 검정력</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직접 재현</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자연발생적인 현장자료</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복잡한 조절효과도 검증 가능</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축적된 자료를 이용해서 종단적 분석</a:t>
            </a:r>
          </a:p>
        </p:txBody>
      </p:sp>
      <p:sp>
        <p:nvSpPr>
          <p:cNvPr id="11" name="TextBox 11"/>
          <p:cNvSpPr txBox="1"/>
          <p:nvPr/>
        </p:nvSpPr>
        <p:spPr>
          <a:xfrm>
            <a:off x="8763000" y="6680200"/>
            <a:ext cx="9093200" cy="2565400"/>
          </a:xfrm>
          <a:prstGeom prst="rect">
            <a:avLst/>
          </a:prstGeom>
        </p:spPr>
        <p:txBody>
          <a:bodyPr lIns="0" tIns="0" rIns="0" bIns="0" rtlCol="0" anchor="ctr"/>
          <a:lstStyle/>
          <a:p>
            <a:pPr marL="284734" lvl="1" indent="-284734" algn="l">
              <a:lnSpc>
                <a:spcPct val="124499"/>
              </a:lnSpc>
              <a:buClr>
                <a:srgbClr val="000000"/>
              </a:buClr>
              <a:buFont typeface="Arial"/>
              <a:buChar char="●"/>
            </a:pPr>
            <a:r>
              <a:rPr lang="en-US" sz="2242" b="0" i="0" u="none" strike="noStrike">
                <a:solidFill>
                  <a:srgbClr val="000000"/>
                </a:solidFill>
                <a:latin typeface="Pretendard SemiBold"/>
                <a:ea typeface="Pretendard SemiBold"/>
                <a:cs typeface="Pretendard SemiBold"/>
              </a:rPr>
              <a:t>새로운 문제들도 나타남</a:t>
            </a:r>
          </a:p>
          <a:p>
            <a:pPr marL="569468" lvl="2" indent="-284734" algn="l">
              <a:lnSpc>
                <a:spcPct val="124499"/>
              </a:lnSpc>
              <a:buClr>
                <a:srgbClr val="000000"/>
              </a:buClr>
              <a:buFont typeface="Arial"/>
              <a:buChar char="○"/>
            </a:pPr>
            <a:r>
              <a:rPr lang="en-US" sz="2242" b="0" i="0" u="none" strike="noStrike">
                <a:solidFill>
                  <a:srgbClr val="000000"/>
                </a:solidFill>
                <a:latin typeface="Pretendard Regular"/>
                <a:ea typeface="Pretendard Regular"/>
                <a:cs typeface="Pretendard Regular"/>
              </a:rPr>
              <a:t>부주의, 중복참여, 참가자 간 정보 공유, 과제 경험, 플랫폼 표본의 비대표성</a:t>
            </a:r>
          </a:p>
          <a:p>
            <a:pPr marL="569468" lvl="2" indent="-284734" algn="l">
              <a:lnSpc>
                <a:spcPct val="124499"/>
              </a:lnSpc>
              <a:buClr>
                <a:srgbClr val="000000"/>
              </a:buClr>
              <a:buFont typeface="Arial"/>
              <a:buChar char="○"/>
            </a:pPr>
            <a:r>
              <a:rPr lang="en-US" sz="2242" b="0" i="0" u="none" strike="noStrike">
                <a:solidFill>
                  <a:srgbClr val="000000"/>
                </a:solidFill>
                <a:latin typeface="Pretendard Regular"/>
                <a:ea typeface="Pretendard Regular"/>
                <a:cs typeface="Pretendard Regular"/>
              </a:rPr>
              <a:t>최근 드러나고 있는 AI들의 활동 흔적까지</a:t>
            </a:r>
          </a:p>
          <a:p>
            <a:pPr lvl="0" algn="l">
              <a:lnSpc>
                <a:spcPct val="124499"/>
              </a:lnSpc>
            </a:pPr>
            <a:endParaRPr lang="en-US" sz="2242" b="0" i="0" u="none" strike="noStrike">
              <a:solidFill>
                <a:srgbClr val="000000"/>
              </a:solidFill>
              <a:latin typeface="Pretendard Regular"/>
              <a:ea typeface="Pretendard Regular"/>
              <a:cs typeface="Pretendard Regular"/>
            </a:endParaRPr>
          </a:p>
          <a:p>
            <a:pPr marL="284734" lvl="1" indent="-284734" algn="l">
              <a:lnSpc>
                <a:spcPct val="124499"/>
              </a:lnSpc>
              <a:buClr>
                <a:srgbClr val="000000"/>
              </a:buClr>
              <a:buFont typeface="Arial"/>
              <a:buChar char="●"/>
            </a:pPr>
            <a:r>
              <a:rPr lang="en-US" sz="2242" b="0" i="0" u="none" strike="noStrike">
                <a:solidFill>
                  <a:srgbClr val="000000"/>
                </a:solidFill>
                <a:latin typeface="Pretendard SemiBold"/>
                <a:ea typeface="Pretendard SemiBold"/>
                <a:cs typeface="Pretendard SemiBold"/>
              </a:rPr>
              <a:t>다양성과 대표성은 같은 개념이 아님</a:t>
            </a:r>
          </a:p>
          <a:p>
            <a:pPr marL="284734" lvl="1" indent="-284734" algn="l">
              <a:lnSpc>
                <a:spcPct val="124499"/>
              </a:lnSpc>
              <a:buClr>
                <a:srgbClr val="000000"/>
              </a:buClr>
              <a:buFont typeface="Arial"/>
              <a:buChar char="●"/>
            </a:pPr>
            <a:r>
              <a:rPr lang="en-US" sz="2242" b="0" i="0" u="none" strike="noStrike">
                <a:solidFill>
                  <a:srgbClr val="000000"/>
                </a:solidFill>
                <a:latin typeface="Pretendard SemiBold"/>
                <a:ea typeface="Pretendard SemiBold"/>
                <a:cs typeface="Pretendard SemiBold"/>
              </a:rPr>
              <a:t>방법론적으로 여전히 진행 중인 과제</a:t>
            </a:r>
          </a:p>
        </p:txBody>
      </p:sp>
      <p:pic>
        <p:nvPicPr>
          <p:cNvPr id="12" name="Picture 12"/>
          <p:cNvPicPr>
            <a:picLocks noChangeAspect="1"/>
          </p:cNvPicPr>
          <p:nvPr/>
        </p:nvPicPr>
        <p:blipFill>
          <a:blip r:embed="rId7"/>
          <a:stretch>
            <a:fillRect/>
          </a:stretch>
        </p:blipFill>
        <p:spPr>
          <a:xfrm>
            <a:off x="8623300" y="4216400"/>
            <a:ext cx="4140200" cy="1168400"/>
          </a:xfrm>
          <a:prstGeom prst="rect">
            <a:avLst/>
          </a:prstGeom>
        </p:spPr>
      </p:pic>
      <p:pic>
        <p:nvPicPr>
          <p:cNvPr id="13" name="Picture 13"/>
          <p:cNvPicPr>
            <a:picLocks noChangeAspect="1"/>
          </p:cNvPicPr>
          <p:nvPr/>
        </p:nvPicPr>
        <p:blipFill>
          <a:blip r:embed="rId8"/>
          <a:stretch>
            <a:fillRect/>
          </a:stretch>
        </p:blipFill>
        <p:spPr>
          <a:xfrm>
            <a:off x="14020800" y="3759200"/>
            <a:ext cx="1612900" cy="1612900"/>
          </a:xfrm>
          <a:prstGeom prst="rect">
            <a:avLst/>
          </a:prstGeom>
        </p:spPr>
      </p:pic>
      <p:pic>
        <p:nvPicPr>
          <p:cNvPr id="14" name="Picture 14"/>
          <p:cNvPicPr>
            <a:picLocks noChangeAspect="1"/>
          </p:cNvPicPr>
          <p:nvPr/>
        </p:nvPicPr>
        <p:blipFill>
          <a:blip r:embed="rId9"/>
          <a:stretch>
            <a:fillRect/>
          </a:stretch>
        </p:blipFill>
        <p:spPr>
          <a:xfrm>
            <a:off x="16243300" y="3581400"/>
            <a:ext cx="1193800" cy="1193800"/>
          </a:xfrm>
          <a:prstGeom prst="rect">
            <a:avLst/>
          </a:prstGeom>
        </p:spPr>
      </p:pic>
      <p:pic>
        <p:nvPicPr>
          <p:cNvPr id="15" name="Picture 15"/>
          <p:cNvPicPr>
            <a:picLocks noChangeAspect="1"/>
          </p:cNvPicPr>
          <p:nvPr/>
        </p:nvPicPr>
        <p:blipFill>
          <a:blip r:embed="rId10"/>
          <a:stretch>
            <a:fillRect/>
          </a:stretch>
        </p:blipFill>
        <p:spPr>
          <a:xfrm>
            <a:off x="12814300" y="2451100"/>
            <a:ext cx="2451100" cy="698500"/>
          </a:xfrm>
          <a:prstGeom prst="rect">
            <a:avLst/>
          </a:prstGeom>
        </p:spPr>
      </p:pic>
      <p:pic>
        <p:nvPicPr>
          <p:cNvPr id="16" name="Picture 16"/>
          <p:cNvPicPr>
            <a:picLocks noChangeAspect="1"/>
          </p:cNvPicPr>
          <p:nvPr/>
        </p:nvPicPr>
        <p:blipFill>
          <a:blip r:embed="rId11"/>
          <a:stretch>
            <a:fillRect/>
          </a:stretch>
        </p:blipFill>
        <p:spPr>
          <a:xfrm>
            <a:off x="15303500" y="2489200"/>
            <a:ext cx="2463800" cy="1054100"/>
          </a:xfrm>
          <a:prstGeom prst="rect">
            <a:avLst/>
          </a:prstGeom>
        </p:spPr>
      </p:pic>
      <p:pic>
        <p:nvPicPr>
          <p:cNvPr id="17" name="Picture 17"/>
          <p:cNvPicPr>
            <a:picLocks noChangeAspect="1"/>
          </p:cNvPicPr>
          <p:nvPr/>
        </p:nvPicPr>
        <p:blipFill>
          <a:blip r:embed="rId12"/>
          <a:stretch>
            <a:fillRect/>
          </a:stretch>
        </p:blipFill>
        <p:spPr>
          <a:xfrm>
            <a:off x="8775700" y="254000"/>
            <a:ext cx="4140200" cy="1803400"/>
          </a:xfrm>
          <a:prstGeom prst="rect">
            <a:avLst/>
          </a:prstGeom>
        </p:spPr>
      </p:pic>
      <p:pic>
        <p:nvPicPr>
          <p:cNvPr id="18" name="Picture 18"/>
          <p:cNvPicPr>
            <a:picLocks noChangeAspect="1"/>
          </p:cNvPicPr>
          <p:nvPr/>
        </p:nvPicPr>
        <p:blipFill>
          <a:blip r:embed="rId13"/>
          <a:stretch>
            <a:fillRect/>
          </a:stretch>
        </p:blipFill>
        <p:spPr>
          <a:xfrm>
            <a:off x="13512800" y="596900"/>
            <a:ext cx="4140200" cy="1676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2407900" cy="1181100"/>
          </a:xfrm>
          <a:prstGeom prst="rect">
            <a:avLst/>
          </a:prstGeom>
        </p:spPr>
        <p:txBody>
          <a:bodyPr lIns="0" tIns="44450" rIns="0" bIns="0" rtlCol="0" anchor="t"/>
          <a:lstStyle/>
          <a:p>
            <a:pPr lvl="0" algn="l">
              <a:lnSpc>
                <a:spcPct val="99600"/>
              </a:lnSpc>
            </a:pPr>
            <a:r>
              <a:rPr lang="en-US" sz="3500" b="0" i="0" u="none" strike="noStrike">
                <a:solidFill>
                  <a:srgbClr val="0063BA"/>
                </a:solidFill>
                <a:latin typeface="Pretendard Bold"/>
                <a:ea typeface="Pretendard Bold"/>
                <a:cs typeface="Pretendard Bold"/>
              </a:rPr>
              <a:t>Discussion 2.</a:t>
            </a:r>
          </a:p>
          <a:p>
            <a:pPr lvl="0" algn="l">
              <a:lnSpc>
                <a:spcPct val="99600"/>
              </a:lnSpc>
            </a:pPr>
            <a:r>
              <a:rPr lang="en-US" sz="3500" b="0" i="0" u="none" strike="noStrike">
                <a:solidFill>
                  <a:srgbClr val="0063BA"/>
                </a:solidFill>
                <a:latin typeface="Pretendard Bold"/>
                <a:ea typeface="Pretendard Bold"/>
                <a:cs typeface="Pretendard Bold"/>
              </a:rPr>
              <a:t>어떻게 인터넷 자료의 타당성을 주장할 수 있을까?</a:t>
            </a:r>
          </a:p>
        </p:txBody>
      </p:sp>
      <p:sp>
        <p:nvSpPr>
          <p:cNvPr id="3" name="TextBox 3"/>
          <p:cNvSpPr txBox="1"/>
          <p:nvPr/>
        </p:nvSpPr>
        <p:spPr>
          <a:xfrm>
            <a:off x="685800" y="2578100"/>
            <a:ext cx="16256000" cy="1435100"/>
          </a:xfrm>
          <a:prstGeom prst="rect">
            <a:avLst/>
          </a:prstGeom>
        </p:spPr>
        <p:txBody>
          <a:bodyPr lIns="0" tIns="0" rIns="0" bIns="0" rtlCol="0" anchor="ctr"/>
          <a:lstStyle/>
          <a:p>
            <a:pPr marL="321818" lvl="1" indent="-321818" algn="l">
              <a:lnSpc>
                <a:spcPct val="124499"/>
              </a:lnSpc>
              <a:buClr>
                <a:srgbClr val="000000"/>
              </a:buClr>
              <a:buFont typeface="Arial"/>
              <a:buChar char="●"/>
            </a:pPr>
            <a:r>
              <a:rPr lang="en-US" sz="2534" b="0" i="0" u="none" strike="noStrike">
                <a:solidFill>
                  <a:srgbClr val="000000"/>
                </a:solidFill>
                <a:latin typeface="Pretendard SemiBold"/>
                <a:ea typeface="Pretendard SemiBold"/>
                <a:cs typeface="Pretendard SemiBold"/>
              </a:rPr>
              <a:t>한 대학원생 A의 사례</a:t>
            </a:r>
          </a:p>
          <a:p>
            <a:pPr marL="643636" lvl="2" indent="-321818" algn="l">
              <a:lnSpc>
                <a:spcPct val="124499"/>
              </a:lnSpc>
              <a:buClr>
                <a:srgbClr val="000000"/>
              </a:buClr>
              <a:buFont typeface="Arial"/>
              <a:buChar char="○"/>
            </a:pPr>
            <a:r>
              <a:rPr lang="en-US" sz="2534" b="0" i="0" u="none" strike="noStrike">
                <a:solidFill>
                  <a:srgbClr val="000000"/>
                </a:solidFill>
                <a:latin typeface="Pretendard Regular"/>
                <a:ea typeface="Pretendard Regular"/>
                <a:cs typeface="Pretendard Regular"/>
              </a:rPr>
              <a:t>연구자가 2018–2025년 온라인 커뮤니티 게시글 120만 건을 수집함</a:t>
            </a:r>
          </a:p>
          <a:p>
            <a:pPr marL="643636" lvl="2" indent="-321818" algn="l">
              <a:lnSpc>
                <a:spcPct val="124499"/>
              </a:lnSpc>
              <a:buClr>
                <a:srgbClr val="000000"/>
              </a:buClr>
              <a:buFont typeface="Arial"/>
              <a:buChar char="○"/>
            </a:pPr>
            <a:r>
              <a:rPr lang="en-US" sz="2534" b="0" i="0" u="none" strike="noStrike">
                <a:solidFill>
                  <a:srgbClr val="000000"/>
                </a:solidFill>
                <a:latin typeface="Pretendard Regular"/>
                <a:ea typeface="Pretendard Regular"/>
                <a:cs typeface="Pretendard Regular"/>
              </a:rPr>
              <a:t>AI 기반 적대성 분류기 점수가 40% 증가했다. 연구자는 다음과 같이 결론 내린다. "한국 청년 남성들의 적대감이 증가했다."</a:t>
            </a:r>
          </a:p>
        </p:txBody>
      </p:sp>
      <p:sp>
        <p:nvSpPr>
          <p:cNvPr id="4" name="TextBox 4"/>
          <p:cNvSpPr txBox="1"/>
          <p:nvPr/>
        </p:nvSpPr>
        <p:spPr>
          <a:xfrm>
            <a:off x="673100" y="4546600"/>
            <a:ext cx="14516100" cy="1435100"/>
          </a:xfrm>
          <a:prstGeom prst="rect">
            <a:avLst/>
          </a:prstGeom>
        </p:spPr>
        <p:txBody>
          <a:bodyPr lIns="0" tIns="0" rIns="0" bIns="0" rtlCol="0" anchor="ctr"/>
          <a:lstStyle/>
          <a:p>
            <a:pPr marL="321818" lvl="1" indent="-321818" algn="l">
              <a:lnSpc>
                <a:spcPct val="124499"/>
              </a:lnSpc>
              <a:buClr>
                <a:srgbClr val="000000"/>
              </a:buClr>
              <a:buFont typeface="Arial"/>
              <a:buChar char="●"/>
            </a:pPr>
            <a:r>
              <a:rPr lang="en-US" sz="2534" b="0" i="0" u="none" strike="noStrike">
                <a:solidFill>
                  <a:srgbClr val="000000"/>
                </a:solidFill>
                <a:latin typeface="Pretendard SemiBold"/>
                <a:ea typeface="Pretendard SemiBold"/>
                <a:cs typeface="Pretendard SemiBold"/>
              </a:rPr>
              <a:t>한국의 Reis들에게 받는 많은 비판</a:t>
            </a:r>
          </a:p>
          <a:p>
            <a:pPr marL="643636" lvl="2" indent="-321818" algn="l">
              <a:lnSpc>
                <a:spcPct val="124499"/>
              </a:lnSpc>
              <a:buClr>
                <a:srgbClr val="000000"/>
              </a:buClr>
              <a:buFont typeface="Arial"/>
              <a:buChar char="○"/>
            </a:pPr>
            <a:r>
              <a:rPr lang="en-US" sz="2534" b="0" i="0" u="none" strike="noStrike">
                <a:solidFill>
                  <a:srgbClr val="000000"/>
                </a:solidFill>
                <a:latin typeface="Pretendard Regular"/>
                <a:ea typeface="Pretendard Regular"/>
                <a:cs typeface="Pretendard Regular"/>
              </a:rPr>
              <a:t>"다양성은 곧 대표성을 의미하지 않는다!"</a:t>
            </a:r>
          </a:p>
          <a:p>
            <a:pPr marL="643636" lvl="2" indent="-321818" algn="l">
              <a:lnSpc>
                <a:spcPct val="124499"/>
              </a:lnSpc>
              <a:buClr>
                <a:srgbClr val="000000"/>
              </a:buClr>
              <a:buFont typeface="Arial"/>
              <a:buChar char="○"/>
            </a:pPr>
            <a:r>
              <a:rPr lang="en-US" sz="2534" b="0" i="0" u="none" strike="noStrike">
                <a:solidFill>
                  <a:srgbClr val="000000"/>
                </a:solidFill>
                <a:latin typeface="Pretendard Regular"/>
                <a:ea typeface="Pretendard Regular"/>
                <a:cs typeface="Pretendard Regular"/>
              </a:rPr>
              <a:t>무조건 디시인사이드가 어떻게 국내 2030 남성들의 인식을 대표한다고 볼 수 없다. 편향된 집단인 거 아니냐!</a:t>
            </a:r>
          </a:p>
        </p:txBody>
      </p:sp>
      <p:sp>
        <p:nvSpPr>
          <p:cNvPr id="5" name="TextBox 5"/>
          <p:cNvSpPr txBox="1"/>
          <p:nvPr/>
        </p:nvSpPr>
        <p:spPr>
          <a:xfrm>
            <a:off x="673100" y="6680200"/>
            <a:ext cx="16776700" cy="1435100"/>
          </a:xfrm>
          <a:prstGeom prst="rect">
            <a:avLst/>
          </a:prstGeom>
        </p:spPr>
        <p:txBody>
          <a:bodyPr lIns="0" tIns="0" rIns="0" bIns="0" rtlCol="0" anchor="ctr"/>
          <a:lstStyle/>
          <a:p>
            <a:pPr marL="321818" lvl="1" indent="-321818" algn="l">
              <a:lnSpc>
                <a:spcPct val="124499"/>
              </a:lnSpc>
              <a:buClr>
                <a:srgbClr val="000000"/>
              </a:buClr>
              <a:buFont typeface="Arial"/>
              <a:buChar char="●"/>
            </a:pPr>
            <a:r>
              <a:rPr lang="en-US" sz="2534" b="0" i="0" u="none" strike="noStrike">
                <a:solidFill>
                  <a:srgbClr val="000000"/>
                </a:solidFill>
                <a:latin typeface="Pretendard SemiBold"/>
                <a:ea typeface="Pretendard SemiBold"/>
                <a:cs typeface="Pretendard SemiBold"/>
              </a:rPr>
              <a:t>한 가지의 연구만 더 해서 타당성을 강화할 수 있다면? 아니면 다른 접근이 있을까?</a:t>
            </a:r>
          </a:p>
          <a:p>
            <a:pPr marL="643636" lvl="2" indent="-321818" algn="l">
              <a:lnSpc>
                <a:spcPct val="124499"/>
              </a:lnSpc>
              <a:buClr>
                <a:srgbClr val="000000"/>
              </a:buClr>
              <a:buFont typeface="Arial"/>
              <a:buChar char="○"/>
            </a:pPr>
            <a:r>
              <a:rPr lang="en-US" sz="2534" b="0" i="0" u="none" strike="noStrike">
                <a:solidFill>
                  <a:srgbClr val="000000"/>
                </a:solidFill>
                <a:latin typeface="Pretendard Regular"/>
                <a:ea typeface="Pretendard Regular"/>
                <a:cs typeface="Pretendard Regular"/>
              </a:rPr>
              <a:t>어떤 추가 근거가 주장을 강화하는가?</a:t>
            </a:r>
          </a:p>
          <a:p>
            <a:pPr marL="643636" lvl="2" indent="-321818" algn="l">
              <a:lnSpc>
                <a:spcPct val="124499"/>
              </a:lnSpc>
              <a:buClr>
                <a:srgbClr val="000000"/>
              </a:buClr>
              <a:buFont typeface="Arial"/>
              <a:buChar char="○"/>
            </a:pPr>
            <a:r>
              <a:rPr lang="en-US" sz="2534" b="0" i="0" u="none" strike="noStrike">
                <a:solidFill>
                  <a:srgbClr val="000000"/>
                </a:solidFill>
                <a:latin typeface="Pretendard Regular"/>
                <a:ea typeface="Pretendard Regular"/>
                <a:cs typeface="Pretendard Regular"/>
              </a:rPr>
              <a:t>대표성 있는 설문(or 공공데이터), 오프라인 행동지표, 복수 플랫폼 비교, 동일 이용자 종단자료, 실험 중 무엇이 가장 결정적인가?</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8140700" cy="685800"/>
          </a:xfrm>
          <a:prstGeom prst="rect">
            <a:avLst/>
          </a:prstGeom>
        </p:spPr>
        <p:txBody>
          <a:bodyPr lIns="0" tIns="46990" rIns="0" bIns="0" rtlCol="0" anchor="t"/>
          <a:lstStyle/>
          <a:p>
            <a:pPr lvl="0" algn="l">
              <a:lnSpc>
                <a:spcPct val="99600"/>
              </a:lnSpc>
            </a:pPr>
            <a:r>
              <a:rPr lang="en-US" sz="3700" b="0" i="0" u="none" strike="noStrike">
                <a:solidFill>
                  <a:srgbClr val="0063BA"/>
                </a:solidFill>
                <a:latin typeface="Pretendard Bold"/>
                <a:ea typeface="Pretendard Bold"/>
                <a:cs typeface="Pretendard Bold"/>
              </a:rPr>
              <a:t>Trouble in Paradise?: 재현성 위기</a:t>
            </a:r>
          </a:p>
        </p:txBody>
      </p:sp>
      <p:sp>
        <p:nvSpPr>
          <p:cNvPr id="3" name="TextBox 3"/>
          <p:cNvSpPr txBox="1"/>
          <p:nvPr/>
        </p:nvSpPr>
        <p:spPr>
          <a:xfrm>
            <a:off x="4330700" y="8559800"/>
            <a:ext cx="8267700" cy="12065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Gilbert: OSC의 성공률 계산, 표본오차 해석, 해석 비판</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Baumeister: 자아고갈 복제 연구의 프로토콜 비판</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결론: 개선 필요성에는 합의하지만, 위기의 규모/원인/해결은 논쟁 중</a:t>
            </a:r>
          </a:p>
        </p:txBody>
      </p:sp>
      <p:graphicFrame>
        <p:nvGraphicFramePr>
          <p:cNvPr id="4" name="Table 4"/>
          <p:cNvGraphicFramePr>
            <a:graphicFrameLocks noGrp="1"/>
          </p:cNvGraphicFramePr>
          <p:nvPr/>
        </p:nvGraphicFramePr>
        <p:xfrm>
          <a:off x="8661400" y="2768600"/>
          <a:ext cx="9280585" cy="3914742"/>
        </p:xfrm>
        <a:graphic>
          <a:graphicData uri="http://schemas.openxmlformats.org/drawingml/2006/table">
            <a:tbl>
              <a:tblPr/>
              <a:tblGrid>
                <a:gridCol w="1665470">
                  <a:extLst>
                    <a:ext uri="{9D8B030D-6E8A-4147-A177-3AD203B41FA5}">
                      <a16:colId xmlns:a16="http://schemas.microsoft.com/office/drawing/2014/main" val="20000"/>
                    </a:ext>
                  </a:extLst>
                </a:gridCol>
                <a:gridCol w="7615115">
                  <a:extLst>
                    <a:ext uri="{9D8B030D-6E8A-4147-A177-3AD203B41FA5}">
                      <a16:colId xmlns:a16="http://schemas.microsoft.com/office/drawing/2014/main" val="20001"/>
                    </a:ext>
                  </a:extLst>
                </a:gridCol>
              </a:tblGrid>
              <a:tr h="893433">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연구질문</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독립 연구에서 효과가 다시 관찰되는가?</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8130">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OSC (2015)</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100개 연구; p &lt; .05: 36% / 원효과 CI 내 47%</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11993">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Many Labs</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13개 효과; 11개만 지지</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4873">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Ego-depletion</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23개 랩, N=2,141; d=0.04, 95% CI [-0.07, 0.15]</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6313">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해석</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lnSpc>
                          <a:spcPct val="116199"/>
                        </a:lnSpc>
                        <a:defRPr/>
                      </a:pPr>
                      <a:r>
                        <a:rPr lang="en-US" sz="1800" b="0" i="0" u="none" strike="noStrike">
                          <a:solidFill>
                            <a:srgbClr val="000000"/>
                          </a:solidFill>
                          <a:latin typeface="Pretendard Regular"/>
                          <a:ea typeface="Pretendard Regular"/>
                          <a:cs typeface="Pretendard Regular"/>
                        </a:rPr>
                        <a:t>성공 기준, 감장력, 표본, 포로토콜에 따라 결론이 달라짐</a:t>
                      </a:r>
                      <a:endParaRPr lang="en-US" sz="11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Box 5"/>
          <p:cNvSpPr txBox="1"/>
          <p:nvPr/>
        </p:nvSpPr>
        <p:spPr>
          <a:xfrm>
            <a:off x="8661400" y="2298700"/>
            <a:ext cx="4089400" cy="406400"/>
          </a:xfrm>
          <a:prstGeom prst="rect">
            <a:avLst/>
          </a:prstGeom>
        </p:spPr>
        <p:txBody>
          <a:bodyPr lIns="0" tIns="0" rIns="0" bIns="0" rtlCol="0" anchor="ctr"/>
          <a:lstStyle/>
          <a:p>
            <a:pPr lvl="0" algn="l">
              <a:lnSpc>
                <a:spcPct val="124499"/>
              </a:lnSpc>
            </a:pPr>
            <a:r>
              <a:rPr lang="en-US" sz="2100" b="0" i="0" u="none" strike="noStrike">
                <a:solidFill>
                  <a:srgbClr val="000000"/>
                </a:solidFill>
                <a:latin typeface="Pretendard Regular"/>
                <a:ea typeface="Pretendard Regular"/>
                <a:cs typeface="Pretendard Regular"/>
              </a:rPr>
              <a:t>대규모 재현 프로젝트의 결과</a:t>
            </a: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8026400" y="7467600"/>
            <a:ext cx="863600" cy="457200"/>
          </a:xfrm>
          <a:prstGeom prst="rect">
            <a:avLst/>
          </a:prstGeom>
        </p:spPr>
      </p:pic>
      <p:sp>
        <p:nvSpPr>
          <p:cNvPr id="7" name="TextBox 7"/>
          <p:cNvSpPr txBox="1"/>
          <p:nvPr/>
        </p:nvSpPr>
        <p:spPr>
          <a:xfrm>
            <a:off x="1282700" y="5676900"/>
            <a:ext cx="5600700" cy="431800"/>
          </a:xfrm>
          <a:prstGeom prst="rect">
            <a:avLst/>
          </a:prstGeom>
        </p:spPr>
        <p:txBody>
          <a:bodyPr lIns="0" tIns="0" rIns="0" bIns="0" rtlCol="0" anchor="ctr"/>
          <a:lstStyle/>
          <a:p>
            <a:pPr marL="291973" lvl="1" indent="-291973" algn="ctr">
              <a:lnSpc>
                <a:spcPct val="124499"/>
              </a:lnSpc>
              <a:buClr>
                <a:srgbClr val="000000"/>
              </a:buClr>
              <a:buFont typeface="Arial"/>
              <a:buChar char="●"/>
            </a:pPr>
            <a:r>
              <a:rPr lang="en-US" sz="2299" b="0" i="0" u="none" strike="noStrike">
                <a:solidFill>
                  <a:srgbClr val="000000"/>
                </a:solidFill>
                <a:latin typeface="Pretendard Regular"/>
                <a:ea typeface="Pretendard Regular"/>
                <a:cs typeface="Pretendard Regular"/>
              </a:rPr>
              <a:t>강한 비판과 함께 대규모 자기검증을 촉발</a:t>
            </a: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27300" y="2806700"/>
            <a:ext cx="3098800" cy="1054100"/>
          </a:xfrm>
          <a:prstGeom prst="rect">
            <a:avLst/>
          </a:prstGeom>
        </p:spPr>
      </p:pic>
      <p:sp>
        <p:nvSpPr>
          <p:cNvPr id="9" name="TextBox 9"/>
          <p:cNvSpPr txBox="1"/>
          <p:nvPr/>
        </p:nvSpPr>
        <p:spPr>
          <a:xfrm>
            <a:off x="2489200" y="3124200"/>
            <a:ext cx="3175000" cy="419100"/>
          </a:xfrm>
          <a:prstGeom prst="rect">
            <a:avLst/>
          </a:prstGeom>
        </p:spPr>
        <p:txBody>
          <a:bodyPr lIns="0" tIns="0" rIns="0" bIns="0" rtlCol="0" anchor="ctr"/>
          <a:lstStyle/>
          <a:p>
            <a:pPr lvl="0" algn="ctr">
              <a:lnSpc>
                <a:spcPct val="124499"/>
              </a:lnSpc>
            </a:pPr>
            <a:r>
              <a:rPr lang="en-US" sz="2199" b="0" i="0" u="none" strike="noStrike">
                <a:solidFill>
                  <a:srgbClr val="000000"/>
                </a:solidFill>
                <a:latin typeface="Pretendard SemiBold"/>
                <a:ea typeface="Pretendard SemiBold"/>
                <a:cs typeface="Pretendard SemiBold"/>
              </a:rPr>
              <a:t>문제제기</a:t>
            </a:r>
          </a:p>
        </p:txBody>
      </p:sp>
      <p:sp>
        <p:nvSpPr>
          <p:cNvPr id="10" name="TextBox 10"/>
          <p:cNvSpPr txBox="1"/>
          <p:nvPr/>
        </p:nvSpPr>
        <p:spPr>
          <a:xfrm>
            <a:off x="63500" y="4216400"/>
            <a:ext cx="8267700" cy="800100"/>
          </a:xfrm>
          <a:prstGeom prst="rect">
            <a:avLst/>
          </a:prstGeom>
        </p:spPr>
        <p:txBody>
          <a:bodyPr lIns="0" tIns="0" rIns="0" bIns="0" rtlCol="0" anchor="ctr"/>
          <a:lstStyle/>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Simmons et al. (2011): 연구자 자유도가 거짓양성을 높임</a:t>
            </a:r>
          </a:p>
          <a:p>
            <a:pPr marL="266700" lvl="1" indent="-266700" algn="ctr">
              <a:lnSpc>
                <a:spcPct val="124499"/>
              </a:lnSpc>
              <a:buClr>
                <a:srgbClr val="000000"/>
              </a:buClr>
              <a:buFont typeface="Arial"/>
              <a:buChar char="●"/>
            </a:pPr>
            <a:r>
              <a:rPr lang="en-US" sz="2100" b="0" i="0" u="none" strike="noStrike">
                <a:solidFill>
                  <a:srgbClr val="000000"/>
                </a:solidFill>
                <a:latin typeface="Pretendard Regular"/>
                <a:ea typeface="Pretendard Regular"/>
                <a:cs typeface="Pretendard Regular"/>
              </a:rPr>
              <a:t>John et al. (2012): 의심스러운 연구 관행을 조사</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685800" y="558800"/>
            <a:ext cx="11531600" cy="749300"/>
          </a:xfrm>
          <a:prstGeom prst="rect">
            <a:avLst/>
          </a:prstGeom>
        </p:spPr>
        <p:txBody>
          <a:bodyPr lIns="0" tIns="52070" rIns="0" bIns="0" rtlCol="0" anchor="t"/>
          <a:lstStyle/>
          <a:p>
            <a:pPr lvl="0" algn="l">
              <a:lnSpc>
                <a:spcPct val="99600"/>
              </a:lnSpc>
            </a:pPr>
            <a:r>
              <a:rPr lang="en-US" sz="4100" b="0" i="0" u="none" strike="noStrike">
                <a:solidFill>
                  <a:srgbClr val="0063BA"/>
                </a:solidFill>
                <a:latin typeface="Pretendard Bold"/>
                <a:ea typeface="Pretendard Bold"/>
                <a:cs typeface="Pretendard Bold"/>
              </a:rPr>
              <a:t>전후 사회심리학의 동향</a:t>
            </a:r>
          </a:p>
        </p:txBody>
      </p:sp>
      <p:sp>
        <p:nvSpPr>
          <p:cNvPr id="3" name="TextBox 3"/>
          <p:cNvSpPr txBox="1"/>
          <p:nvPr/>
        </p:nvSpPr>
        <p:spPr>
          <a:xfrm>
            <a:off x="673100" y="7035800"/>
            <a:ext cx="17119600" cy="977900"/>
          </a:xfrm>
          <a:prstGeom prst="rect">
            <a:avLst/>
          </a:prstGeom>
        </p:spPr>
        <p:txBody>
          <a:bodyPr lIns="0" tIns="0" rIns="0" bIns="0" rtlCol="0" anchor="ctr"/>
          <a:lstStyle/>
          <a:p>
            <a:pPr lvl="0" algn="l">
              <a:lnSpc>
                <a:spcPct val="124499"/>
              </a:lnSpc>
            </a:pPr>
            <a:r>
              <a:rPr lang="en-US" sz="2600" b="0" i="0" u="none" strike="noStrike">
                <a:solidFill>
                  <a:srgbClr val="000000"/>
                </a:solidFill>
                <a:latin typeface="Pretendard Regular"/>
                <a:ea typeface="Pretendard Regular"/>
                <a:cs typeface="Pretendard Regular"/>
              </a:rPr>
              <a:t>Core phenomena (핵심 현상)</a:t>
            </a:r>
          </a:p>
          <a:p>
            <a:pPr marL="660400" lvl="2"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사회적 맥락과 개인의 행동 간 관계</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442871">
            <a:off x="3632200" y="4102100"/>
            <a:ext cx="863600" cy="457200"/>
          </a:xfrm>
          <a:prstGeom prst="rect">
            <a:avLst/>
          </a:prstGeom>
        </p:spPr>
      </p:pic>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 y="2959100"/>
            <a:ext cx="3175000" cy="952500"/>
          </a:xfrm>
          <a:prstGeom prst="rect">
            <a:avLst/>
          </a:prstGeom>
        </p:spPr>
      </p:pic>
      <p:sp>
        <p:nvSpPr>
          <p:cNvPr id="6" name="TextBox 6"/>
          <p:cNvSpPr txBox="1"/>
          <p:nvPr/>
        </p:nvSpPr>
        <p:spPr>
          <a:xfrm>
            <a:off x="571500" y="3213100"/>
            <a:ext cx="2959100" cy="431800"/>
          </a:xfrm>
          <a:prstGeom prst="rect">
            <a:avLst/>
          </a:prstGeom>
        </p:spPr>
        <p:txBody>
          <a:bodyPr lIns="0" tIns="0" rIns="0" bIns="0" rtlCol="0" anchor="ctr"/>
          <a:lstStyle/>
          <a:p>
            <a:pPr lvl="0" algn="ctr">
              <a:lnSpc>
                <a:spcPct val="124499"/>
              </a:lnSpc>
            </a:pPr>
            <a:r>
              <a:rPr lang="en-US" sz="2286" b="0" i="0" u="none" strike="noStrike">
                <a:solidFill>
                  <a:srgbClr val="000000"/>
                </a:solidFill>
                <a:latin typeface="Pretendard Regular"/>
                <a:ea typeface="Pretendard Regular"/>
                <a:cs typeface="Pretendard Regular"/>
              </a:rPr>
              <a:t>집단역학과 사회적 영향</a:t>
            </a:r>
          </a:p>
        </p:txBody>
      </p:sp>
      <p:sp>
        <p:nvSpPr>
          <p:cNvPr id="7" name="TextBox 7"/>
          <p:cNvSpPr txBox="1"/>
          <p:nvPr/>
        </p:nvSpPr>
        <p:spPr>
          <a:xfrm>
            <a:off x="711200" y="1778000"/>
            <a:ext cx="2692400" cy="990600"/>
          </a:xfrm>
          <a:prstGeom prst="rect">
            <a:avLst/>
          </a:prstGeom>
        </p:spPr>
        <p:txBody>
          <a:bodyPr lIns="0" tIns="0" rIns="0" bIns="0"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1946–1969</a:t>
            </a:r>
          </a:p>
          <a:p>
            <a:pPr lvl="0" algn="ctr">
              <a:lnSpc>
                <a:spcPct val="124499"/>
              </a:lnSpc>
            </a:pPr>
            <a:r>
              <a:rPr lang="en-US" sz="2386" b="0" i="0" u="none" strike="noStrike">
                <a:solidFill>
                  <a:srgbClr val="000000"/>
                </a:solidFill>
                <a:latin typeface="Pretendard Regular"/>
                <a:ea typeface="Pretendard Regular"/>
                <a:cs typeface="Pretendard Regular"/>
              </a:rPr>
              <a:t>Full Steam Ahead!</a:t>
            </a: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14900" y="5270500"/>
            <a:ext cx="3175000" cy="914400"/>
          </a:xfrm>
          <a:prstGeom prst="rect">
            <a:avLst/>
          </a:prstGeom>
        </p:spPr>
      </p:pic>
      <p:sp>
        <p:nvSpPr>
          <p:cNvPr id="9" name="TextBox 9"/>
          <p:cNvSpPr txBox="1"/>
          <p:nvPr/>
        </p:nvSpPr>
        <p:spPr>
          <a:xfrm>
            <a:off x="5168900" y="5511800"/>
            <a:ext cx="2667000" cy="444500"/>
          </a:xfrm>
          <a:prstGeom prst="rect">
            <a:avLst/>
          </a:prstGeom>
        </p:spPr>
        <p:txBody>
          <a:bodyPr lIns="0" tIns="0" rIns="0" bIns="0" rtlCol="0" anchor="ctr"/>
          <a:lstStyle/>
          <a:p>
            <a:pPr lvl="0" algn="ctr">
              <a:lnSpc>
                <a:spcPct val="124499"/>
              </a:lnSpc>
            </a:pPr>
            <a:r>
              <a:rPr lang="en-US" sz="2386" b="0" i="0" u="none" strike="noStrike">
                <a:solidFill>
                  <a:srgbClr val="000000"/>
                </a:solidFill>
                <a:latin typeface="Pretendard Regular"/>
                <a:ea typeface="Pretendard Regular"/>
                <a:cs typeface="Pretendard Regular"/>
              </a:rPr>
              <a:t>사회인지의 부상</a:t>
            </a:r>
          </a:p>
        </p:txBody>
      </p:sp>
      <p:sp>
        <p:nvSpPr>
          <p:cNvPr id="10" name="TextBox 10"/>
          <p:cNvSpPr txBox="1"/>
          <p:nvPr/>
        </p:nvSpPr>
        <p:spPr>
          <a:xfrm>
            <a:off x="4165600" y="4152900"/>
            <a:ext cx="4800600" cy="990600"/>
          </a:xfrm>
          <a:prstGeom prst="rect">
            <a:avLst/>
          </a:prstGeom>
        </p:spPr>
        <p:txBody>
          <a:bodyPr lIns="0" tIns="0" rIns="0" bIns="0"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1970–1990</a:t>
            </a:r>
          </a:p>
          <a:p>
            <a:pPr lvl="0" algn="ctr">
              <a:lnSpc>
                <a:spcPct val="124499"/>
              </a:lnSpc>
            </a:pPr>
            <a:r>
              <a:rPr lang="en-US" sz="2386" b="0" i="0" u="none" strike="noStrike">
                <a:solidFill>
                  <a:srgbClr val="000000"/>
                </a:solidFill>
                <a:latin typeface="Pretendard Regular"/>
                <a:ea typeface="Pretendard Regular"/>
                <a:cs typeface="Pretendard Regular"/>
              </a:rPr>
              <a:t>The Ascent of Social Cognition</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63100" y="3060700"/>
            <a:ext cx="3175000" cy="1054100"/>
          </a:xfrm>
          <a:prstGeom prst="rect">
            <a:avLst/>
          </a:prstGeom>
        </p:spPr>
      </p:pic>
      <p:sp>
        <p:nvSpPr>
          <p:cNvPr id="12" name="TextBox 12"/>
          <p:cNvSpPr txBox="1"/>
          <p:nvPr/>
        </p:nvSpPr>
        <p:spPr>
          <a:xfrm>
            <a:off x="9829800" y="3390900"/>
            <a:ext cx="2667000" cy="406400"/>
          </a:xfrm>
          <a:prstGeom prst="rect">
            <a:avLst/>
          </a:prstGeom>
        </p:spPr>
        <p:txBody>
          <a:bodyPr lIns="0" tIns="0" rIns="0" bIns="0" rtlCol="0" anchor="ctr"/>
          <a:lstStyle/>
          <a:p>
            <a:pPr lvl="0" algn="ctr">
              <a:lnSpc>
                <a:spcPct val="124499"/>
              </a:lnSpc>
            </a:pPr>
            <a:r>
              <a:rPr lang="en-US" sz="2100" b="0" i="0" u="none" strike="noStrike">
                <a:solidFill>
                  <a:srgbClr val="000000"/>
                </a:solidFill>
                <a:latin typeface="Pretendard Regular"/>
                <a:ea typeface="Pretendard Regular"/>
                <a:cs typeface="Pretendard Regular"/>
              </a:rPr>
              <a:t>응용·생물학·문화로 확장</a:t>
            </a:r>
          </a:p>
        </p:txBody>
      </p:sp>
      <p:sp>
        <p:nvSpPr>
          <p:cNvPr id="13" name="TextBox 13"/>
          <p:cNvSpPr txBox="1"/>
          <p:nvPr/>
        </p:nvSpPr>
        <p:spPr>
          <a:xfrm>
            <a:off x="8572500" y="1638300"/>
            <a:ext cx="5168900" cy="1333500"/>
          </a:xfrm>
          <a:prstGeom prst="rect">
            <a:avLst/>
          </a:prstGeom>
        </p:spPr>
        <p:txBody>
          <a:bodyPr lIns="0" tIns="0" rIns="0" bIns="21218"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1990–2010</a:t>
            </a:r>
          </a:p>
          <a:p>
            <a:pPr lvl="0" algn="ctr">
              <a:lnSpc>
                <a:spcPct val="104580"/>
              </a:lnSpc>
            </a:pPr>
            <a:r>
              <a:rPr lang="en-US" sz="2386" b="0" i="0" u="none" strike="noStrike">
                <a:solidFill>
                  <a:srgbClr val="000000"/>
                </a:solidFill>
                <a:latin typeface="Pretendard Regular"/>
                <a:ea typeface="Pretendard Regular"/>
                <a:cs typeface="Pretendard Regular"/>
              </a:rPr>
              <a:t>Spreading Tentacles, Deeper Roots, and a Move toward Biology</a:t>
            </a: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36700" y="5270500"/>
            <a:ext cx="3175000" cy="1054100"/>
          </a:xfrm>
          <a:prstGeom prst="rect">
            <a:avLst/>
          </a:prstGeom>
        </p:spPr>
      </p:pic>
      <p:sp>
        <p:nvSpPr>
          <p:cNvPr id="15" name="TextBox 15"/>
          <p:cNvSpPr txBox="1"/>
          <p:nvPr/>
        </p:nvSpPr>
        <p:spPr>
          <a:xfrm>
            <a:off x="14490700" y="5588000"/>
            <a:ext cx="2667000" cy="406400"/>
          </a:xfrm>
          <a:prstGeom prst="rect">
            <a:avLst/>
          </a:prstGeom>
        </p:spPr>
        <p:txBody>
          <a:bodyPr lIns="0" tIns="0" rIns="0" bIns="0" rtlCol="0" anchor="ctr"/>
          <a:lstStyle/>
          <a:p>
            <a:pPr lvl="0" algn="ctr">
              <a:lnSpc>
                <a:spcPct val="124499"/>
              </a:lnSpc>
            </a:pPr>
            <a:r>
              <a:rPr lang="en-US" sz="2195" b="0" i="0" u="none" strike="noStrike">
                <a:solidFill>
                  <a:srgbClr val="000000"/>
                </a:solidFill>
                <a:latin typeface="Pretendard Regular"/>
                <a:ea typeface="Pretendard Regular"/>
                <a:cs typeface="Pretendard Regular"/>
              </a:rPr>
              <a:t>빅데이터와 재현성 위기</a:t>
            </a:r>
          </a:p>
        </p:txBody>
      </p:sp>
      <p:sp>
        <p:nvSpPr>
          <p:cNvPr id="16" name="TextBox 16"/>
          <p:cNvSpPr txBox="1"/>
          <p:nvPr/>
        </p:nvSpPr>
        <p:spPr>
          <a:xfrm>
            <a:off x="12852400" y="3886200"/>
            <a:ext cx="5791200" cy="1308100"/>
          </a:xfrm>
          <a:prstGeom prst="rect">
            <a:avLst/>
          </a:prstGeom>
        </p:spPr>
        <p:txBody>
          <a:bodyPr lIns="0" tIns="0" rIns="0" bIns="31826" rtlCol="0" anchor="ctr"/>
          <a:lstStyle/>
          <a:p>
            <a:pPr lvl="0" algn="ctr">
              <a:lnSpc>
                <a:spcPct val="124499"/>
              </a:lnSpc>
            </a:pPr>
            <a:r>
              <a:rPr lang="en-US" sz="2864" b="0" i="0" u="none" strike="noStrike">
                <a:solidFill>
                  <a:srgbClr val="000000"/>
                </a:solidFill>
                <a:latin typeface="Pretendard SemiBold"/>
                <a:ea typeface="Pretendard SemiBold"/>
                <a:cs typeface="Pretendard SemiBold"/>
              </a:rPr>
              <a:t>2010–현재</a:t>
            </a:r>
          </a:p>
          <a:p>
            <a:pPr lvl="0" algn="ctr">
              <a:lnSpc>
                <a:spcPct val="98770"/>
              </a:lnSpc>
            </a:pPr>
            <a:r>
              <a:rPr lang="en-US" sz="2386" b="0" i="0" u="none" strike="noStrike">
                <a:solidFill>
                  <a:srgbClr val="000000"/>
                </a:solidFill>
                <a:latin typeface="Pretendard Regular"/>
                <a:ea typeface="Pretendard Regular"/>
                <a:cs typeface="Pretendard Regular"/>
              </a:rPr>
              <a:t>The Rise of Big Data</a:t>
            </a:r>
          </a:p>
          <a:p>
            <a:pPr lvl="0" algn="ctr">
              <a:lnSpc>
                <a:spcPct val="98770"/>
              </a:lnSpc>
            </a:pPr>
            <a:r>
              <a:rPr lang="en-US" sz="2386" b="0" i="0" u="none" strike="noStrike">
                <a:solidFill>
                  <a:srgbClr val="000000"/>
                </a:solidFill>
                <a:latin typeface="Pretendard Regular"/>
                <a:ea typeface="Pretendard Regular"/>
                <a:cs typeface="Pretendard Regular"/>
              </a:rPr>
              <a:t>and the Reproducibility Crisis</a:t>
            </a: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468002">
            <a:off x="8623300" y="4191000"/>
            <a:ext cx="863600" cy="457200"/>
          </a:xfrm>
          <a:prstGeom prst="rect">
            <a:avLst/>
          </a:prstGeom>
        </p:spPr>
      </p:pic>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44377">
            <a:off x="12839700" y="4127500"/>
            <a:ext cx="863600" cy="457200"/>
          </a:xfrm>
          <a:prstGeom prst="rect">
            <a:avLst/>
          </a:prstGeom>
        </p:spPr>
      </p:pic>
      <p:sp>
        <p:nvSpPr>
          <p:cNvPr id="19" name="TextBox 19"/>
          <p:cNvSpPr txBox="1"/>
          <p:nvPr/>
        </p:nvSpPr>
        <p:spPr>
          <a:xfrm>
            <a:off x="622300" y="8483600"/>
            <a:ext cx="17119600" cy="977900"/>
          </a:xfrm>
          <a:prstGeom prst="rect">
            <a:avLst/>
          </a:prstGeom>
        </p:spPr>
        <p:txBody>
          <a:bodyPr lIns="0" tIns="0" rIns="0" bIns="0" rtlCol="0" anchor="ctr"/>
          <a:lstStyle/>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지적/사회/정치적 맥락은 질문과 도구를 바꾸지만,</a:t>
            </a:r>
          </a:p>
          <a:p>
            <a:pPr marL="330200" lvl="1" indent="-330200" algn="l">
              <a:lnSpc>
                <a:spcPct val="124499"/>
              </a:lnSpc>
              <a:buClr>
                <a:srgbClr val="000000"/>
              </a:buClr>
              <a:buFont typeface="Arial"/>
              <a:buChar char="●"/>
            </a:pPr>
            <a:r>
              <a:rPr lang="en-US" sz="2600" b="0" i="0" u="none" strike="noStrike">
                <a:solidFill>
                  <a:srgbClr val="000000"/>
                </a:solidFill>
                <a:latin typeface="Pretendard Regular"/>
                <a:ea typeface="Pretendard Regular"/>
                <a:cs typeface="Pretendard Regular"/>
              </a:rPr>
              <a:t>좋은 이론은 대면, 전화, SNS, Robot처럼 표면적으로 달라져도 작동하는 원리를 제시해야 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7162</Words>
  <Application>Microsoft Office PowerPoint</Application>
  <PresentationFormat>사용자 지정</PresentationFormat>
  <Paragraphs>632</Paragraphs>
  <Slides>27</Slides>
  <Notes>27</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27</vt:i4>
      </vt:variant>
    </vt:vector>
  </HeadingPairs>
  <TitlesOfParts>
    <vt:vector size="35" baseType="lpstr">
      <vt:lpstr>맑은 고딕</vt:lpstr>
      <vt:lpstr>Arial</vt:lpstr>
      <vt:lpstr>Pretendard Medium</vt:lpstr>
      <vt:lpstr>Calibri</vt:lpstr>
      <vt:lpstr>Pretendard SemiBold</vt:lpstr>
      <vt:lpstr>Pretendard Bold</vt:lpstr>
      <vt:lpstr>Pretendard Regular</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김유빈</cp:lastModifiedBy>
  <cp:revision>2</cp:revision>
  <dcterms:created xsi:type="dcterms:W3CDTF">2006-08-16T00:00:00Z</dcterms:created>
  <dcterms:modified xsi:type="dcterms:W3CDTF">2026-09-07T22:53:23Z</dcterms:modified>
</cp:coreProperties>
</file>